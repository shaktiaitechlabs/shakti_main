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2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tm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424">
              <a:alpha val="7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310896"/>
            <a:ext cx="53094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spc="150">
                <a:solidFill>
                  <a:srgbClr val="9AA09E"/>
                </a:solidFill>
                <a:latin typeface="IBM Plex Mono"/>
              </a:rPr>
              <a:t>SHAKTI AI TECHLABS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7" y="310896"/>
            <a:ext cx="53094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 spc="150">
                <a:solidFill>
                  <a:srgbClr val="9AA09E"/>
                </a:solidFill>
                <a:latin typeface="IBM Plex Mono"/>
              </a:rPr>
              <a:t>01 / 11</a:t>
            </a:r>
          </a:p>
        </p:txBody>
      </p:sp>
      <p:sp>
        <p:nvSpPr>
          <p:cNvPr id="6" name="Diamond 5"/>
          <p:cNvSpPr/>
          <p:nvPr/>
        </p:nvSpPr>
        <p:spPr>
          <a:xfrm>
            <a:off x="786384" y="1371600"/>
            <a:ext cx="457200" cy="457200"/>
          </a:xfrm>
          <a:prstGeom prst="diamond">
            <a:avLst/>
          </a:prstGeom>
          <a:noFill/>
          <a:ln w="33020">
            <a:solidFill>
              <a:srgbClr val="00CE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Diamond 6"/>
          <p:cNvSpPr/>
          <p:nvPr/>
        </p:nvSpPr>
        <p:spPr>
          <a:xfrm>
            <a:off x="937260" y="1522476"/>
            <a:ext cx="155448" cy="155448"/>
          </a:xfrm>
          <a:prstGeom prst="diamond">
            <a:avLst/>
          </a:prstGeom>
          <a:noFill/>
          <a:ln w="27940">
            <a:solidFill>
              <a:srgbClr val="FCF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389888" y="139903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CFCFA"/>
                </a:solidFill>
                <a:latin typeface="Neue Montreal"/>
              </a:rPr>
              <a:t>Shakti AI TechLabs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1618488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 spc="200">
                <a:solidFill>
                  <a:srgbClr val="00CE9F"/>
                </a:solidFill>
                <a:latin typeface="IBM Plex Mono"/>
              </a:rPr>
              <a:t>BUILDING GLOBAL VENTURES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331720"/>
            <a:ext cx="76809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5400" b="0">
                <a:solidFill>
                  <a:srgbClr val="FCFCFA"/>
                </a:solidFill>
                <a:latin typeface="Neue Montreal"/>
              </a:rPr>
              <a:t>Empowering founders. </a:t>
            </a:r>
            <a:r>
              <a:rPr sz="5400" b="0">
                <a:solidFill>
                  <a:srgbClr val="9AA09E"/>
                </a:solidFill>
                <a:latin typeface="Neue Montreal"/>
              </a:rPr>
              <a:t>Building the future.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5394960"/>
            <a:ext cx="10618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spc="140">
                <a:solidFill>
                  <a:srgbClr val="9AA09E"/>
                </a:solidFill>
                <a:latin typeface="IBM Plex Mono"/>
              </a:rPr>
              <a:t>VADODARA, INDIA   ·   THE INNOVATION ENGINE OF THE SHAKTI ECOSYSTEM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2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ou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108960"/>
            <a:ext cx="12191695" cy="3749040"/>
          </a:xfrm>
          <a:prstGeom prst="rect">
            <a:avLst/>
          </a:prstGeom>
          <a:solidFill>
            <a:srgbClr val="242424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310896"/>
            <a:ext cx="53094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spc="150">
                <a:solidFill>
                  <a:srgbClr val="9AA09E"/>
                </a:solidFill>
                <a:latin typeface="IBM Plex Mono"/>
              </a:rPr>
              <a:t>SHAKTI AI TECHLABS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7" y="310896"/>
            <a:ext cx="53094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 spc="150">
                <a:solidFill>
                  <a:srgbClr val="9AA09E"/>
                </a:solidFill>
                <a:latin typeface="IBM Plex Mono"/>
              </a:rPr>
              <a:t>02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3566160"/>
            <a:ext cx="84124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800" b="0">
                <a:solidFill>
                  <a:srgbClr val="FCFCFA"/>
                </a:solidFill>
                <a:latin typeface="Neue Montreal"/>
              </a:rPr>
              <a:t>Every great company begins with an idea. </a:t>
            </a:r>
            <a:r>
              <a:rPr sz="3800" b="0">
                <a:solidFill>
                  <a:srgbClr val="9AA09E"/>
                </a:solidFill>
                <a:latin typeface="Neue Montreal"/>
              </a:rPr>
              <a:t>Very few survive what comes next.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5486400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AA09E"/>
                </a:solidFill>
                <a:latin typeface="Inter"/>
              </a:rPr>
              <a:t>Ambition is not enough. Shakti AI TechLabs exists to close that gap.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67951" y="6263640"/>
            <a:ext cx="1737360" cy="237744"/>
          </a:xfrm>
          <a:prstGeom prst="roundRect">
            <a:avLst>
              <a:gd name="adj" fmla="val 50000"/>
            </a:avLst>
          </a:prstGeom>
          <a:solidFill>
            <a:srgbClr val="00C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650" b="1">
                <a:solidFill>
                  <a:srgbClr val="0B2C24"/>
                </a:solidFill>
                <a:latin typeface="IBM Plex Mono"/>
              </a:rPr>
              <a:t>PHOTO · FOUNDER FOCUS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310896"/>
            <a:ext cx="53094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spc="150">
                <a:solidFill>
                  <a:srgbClr val="616161"/>
                </a:solidFill>
                <a:latin typeface="IBM Plex Mono"/>
              </a:rPr>
              <a:t>SHAKTI AI TECHLABS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7" y="310896"/>
            <a:ext cx="53094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 spc="150">
                <a:solidFill>
                  <a:srgbClr val="616161"/>
                </a:solidFill>
                <a:latin typeface="IBM Plex Mono"/>
              </a:rPr>
              <a:t>03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566928"/>
            <a:ext cx="1061892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spc="170">
                <a:solidFill>
                  <a:srgbClr val="616161"/>
                </a:solidFill>
                <a:latin typeface="IBM Plex Mono"/>
              </a:rPr>
              <a:t>THE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0120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600" b="0">
                <a:solidFill>
                  <a:srgbClr val="111111"/>
                </a:solidFill>
                <a:latin typeface="Neue Montreal"/>
              </a:rPr>
              <a:t>Where ideas stall </a:t>
            </a:r>
            <a:r>
              <a:rPr sz="3600" b="0">
                <a:solidFill>
                  <a:srgbClr val="616161"/>
                </a:solidFill>
                <a:latin typeface="Neue Montreal"/>
              </a:rPr>
              <a:t>without an ecosystem.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4160520"/>
            <a:ext cx="10618927" cy="9525"/>
          </a:xfrm>
          <a:prstGeom prst="rect">
            <a:avLst/>
          </a:prstGeom>
          <a:solidFill>
            <a:srgbClr val="DD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3972062" y="4014216"/>
            <a:ext cx="2973299" cy="292608"/>
          </a:xfrm>
          <a:prstGeom prst="roundRect">
            <a:avLst>
              <a:gd name="adj" fmla="val 50000"/>
            </a:avLst>
          </a:prstGeom>
          <a:solidFill>
            <a:srgbClr val="F4F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972062" y="4434840"/>
            <a:ext cx="297329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spc="130">
                <a:solidFill>
                  <a:srgbClr val="8C8D86"/>
                </a:solidFill>
                <a:latin typeface="IBM Plex Mono"/>
              </a:rPr>
              <a:t>THE GAP MOST FOUNDERS FALL INTO</a:t>
            </a:r>
          </a:p>
        </p:txBody>
      </p:sp>
      <p:sp>
        <p:nvSpPr>
          <p:cNvPr id="9" name="Freeform 8"/>
          <p:cNvSpPr/>
          <p:nvPr/>
        </p:nvSpPr>
        <p:spPr>
          <a:xfrm>
            <a:off x="1104951" y="1828800"/>
            <a:ext cx="9769413" cy="2331720"/>
          </a:xfrm>
          <a:custGeom>
            <a:avLst/>
            <a:gdLst/>
            <a:ahLst/>
            <a:cxnLst/>
            <a:rect l="l" t="t" r="r" b="b"/>
            <a:pathLst>
              <a:path w="9769413" h="2331720">
                <a:moveTo>
                  <a:pt x="0" y="2331720"/>
                </a:moveTo>
                <a:lnTo>
                  <a:pt x="149168" y="2329140"/>
                </a:lnTo>
                <a:lnTo>
                  <a:pt x="294184" y="2321577"/>
                </a:lnTo>
                <a:lnTo>
                  <a:pt x="435278" y="2309291"/>
                </a:lnTo>
                <a:lnTo>
                  <a:pt x="572679" y="2292547"/>
                </a:lnTo>
                <a:lnTo>
                  <a:pt x="706615" y="2271605"/>
                </a:lnTo>
                <a:lnTo>
                  <a:pt x="837316" y="2246728"/>
                </a:lnTo>
                <a:lnTo>
                  <a:pt x="965010" y="2218179"/>
                </a:lnTo>
                <a:lnTo>
                  <a:pt x="1089927" y="2186220"/>
                </a:lnTo>
                <a:lnTo>
                  <a:pt x="1212295" y="2151113"/>
                </a:lnTo>
                <a:lnTo>
                  <a:pt x="1332344" y="2113121"/>
                </a:lnTo>
                <a:lnTo>
                  <a:pt x="1450302" y="2072505"/>
                </a:lnTo>
                <a:lnTo>
                  <a:pt x="1566398" y="2029529"/>
                </a:lnTo>
                <a:lnTo>
                  <a:pt x="1680862" y="1984454"/>
                </a:lnTo>
                <a:lnTo>
                  <a:pt x="1793922" y="1937542"/>
                </a:lnTo>
                <a:lnTo>
                  <a:pt x="1905807" y="1889057"/>
                </a:lnTo>
                <a:lnTo>
                  <a:pt x="2016747" y="1839260"/>
                </a:lnTo>
                <a:lnTo>
                  <a:pt x="2126970" y="1788414"/>
                </a:lnTo>
                <a:lnTo>
                  <a:pt x="2236705" y="1736781"/>
                </a:lnTo>
                <a:lnTo>
                  <a:pt x="2346181" y="1684623"/>
                </a:lnTo>
                <a:lnTo>
                  <a:pt x="2455627" y="1632204"/>
                </a:lnTo>
                <a:lnTo>
                  <a:pt x="2565273" y="1579784"/>
                </a:lnTo>
                <a:lnTo>
                  <a:pt x="2675346" y="1527626"/>
                </a:lnTo>
                <a:lnTo>
                  <a:pt x="2786077" y="1475993"/>
                </a:lnTo>
                <a:lnTo>
                  <a:pt x="2897693" y="1425147"/>
                </a:lnTo>
                <a:lnTo>
                  <a:pt x="3010425" y="1375350"/>
                </a:lnTo>
                <a:lnTo>
                  <a:pt x="3124500" y="1326865"/>
                </a:lnTo>
                <a:lnTo>
                  <a:pt x="3240149" y="1279953"/>
                </a:lnTo>
                <a:lnTo>
                  <a:pt x="3357599" y="1234878"/>
                </a:lnTo>
                <a:lnTo>
                  <a:pt x="3477080" y="1191902"/>
                </a:lnTo>
                <a:lnTo>
                  <a:pt x="3598821" y="1151286"/>
                </a:lnTo>
                <a:lnTo>
                  <a:pt x="3723051" y="1113294"/>
                </a:lnTo>
                <a:lnTo>
                  <a:pt x="3849998" y="1078187"/>
                </a:lnTo>
                <a:lnTo>
                  <a:pt x="3979893" y="1046228"/>
                </a:lnTo>
                <a:lnTo>
                  <a:pt x="4112963" y="1017679"/>
                </a:lnTo>
                <a:lnTo>
                  <a:pt x="4249438" y="992802"/>
                </a:lnTo>
                <a:lnTo>
                  <a:pt x="4389546" y="971860"/>
                </a:lnTo>
                <a:lnTo>
                  <a:pt x="4533517" y="955116"/>
                </a:lnTo>
                <a:lnTo>
                  <a:pt x="4681580" y="942830"/>
                </a:lnTo>
                <a:lnTo>
                  <a:pt x="4833963" y="935267"/>
                </a:lnTo>
                <a:lnTo>
                  <a:pt x="4990896" y="932688"/>
                </a:lnTo>
                <a:lnTo>
                  <a:pt x="5117542" y="930968"/>
                </a:lnTo>
                <a:lnTo>
                  <a:pt x="5242684" y="925926"/>
                </a:lnTo>
                <a:lnTo>
                  <a:pt x="5366413" y="917735"/>
                </a:lnTo>
                <a:lnTo>
                  <a:pt x="5488817" y="906572"/>
                </a:lnTo>
                <a:lnTo>
                  <a:pt x="5609988" y="892611"/>
                </a:lnTo>
                <a:lnTo>
                  <a:pt x="5730013" y="876027"/>
                </a:lnTo>
                <a:lnTo>
                  <a:pt x="5848983" y="856994"/>
                </a:lnTo>
                <a:lnTo>
                  <a:pt x="5966988" y="835688"/>
                </a:lnTo>
                <a:lnTo>
                  <a:pt x="6084116" y="812283"/>
                </a:lnTo>
                <a:lnTo>
                  <a:pt x="6200458" y="786955"/>
                </a:lnTo>
                <a:lnTo>
                  <a:pt x="6316103" y="759878"/>
                </a:lnTo>
                <a:lnTo>
                  <a:pt x="6431141" y="731227"/>
                </a:lnTo>
                <a:lnTo>
                  <a:pt x="6545661" y="701177"/>
                </a:lnTo>
                <a:lnTo>
                  <a:pt x="6659753" y="669903"/>
                </a:lnTo>
                <a:lnTo>
                  <a:pt x="6773507" y="637579"/>
                </a:lnTo>
                <a:lnTo>
                  <a:pt x="6887012" y="604381"/>
                </a:lnTo>
                <a:lnTo>
                  <a:pt x="7000357" y="570484"/>
                </a:lnTo>
                <a:lnTo>
                  <a:pt x="7113633" y="536062"/>
                </a:lnTo>
                <a:lnTo>
                  <a:pt x="7226928" y="501290"/>
                </a:lnTo>
                <a:lnTo>
                  <a:pt x="7340334" y="466344"/>
                </a:lnTo>
                <a:lnTo>
                  <a:pt x="7453938" y="431397"/>
                </a:lnTo>
                <a:lnTo>
                  <a:pt x="7567831" y="396625"/>
                </a:lnTo>
                <a:lnTo>
                  <a:pt x="7682102" y="362203"/>
                </a:lnTo>
                <a:lnTo>
                  <a:pt x="7796841" y="328306"/>
                </a:lnTo>
                <a:lnTo>
                  <a:pt x="7912138" y="295108"/>
                </a:lnTo>
                <a:lnTo>
                  <a:pt x="8028082" y="262784"/>
                </a:lnTo>
                <a:lnTo>
                  <a:pt x="8144762" y="231510"/>
                </a:lnTo>
                <a:lnTo>
                  <a:pt x="8262269" y="201460"/>
                </a:lnTo>
                <a:lnTo>
                  <a:pt x="8380691" y="172809"/>
                </a:lnTo>
                <a:lnTo>
                  <a:pt x="8500120" y="145732"/>
                </a:lnTo>
                <a:lnTo>
                  <a:pt x="8620643" y="120404"/>
                </a:lnTo>
                <a:lnTo>
                  <a:pt x="8742351" y="96999"/>
                </a:lnTo>
                <a:lnTo>
                  <a:pt x="8865333" y="75693"/>
                </a:lnTo>
                <a:lnTo>
                  <a:pt x="8989679" y="56660"/>
                </a:lnTo>
                <a:lnTo>
                  <a:pt x="9115478" y="40076"/>
                </a:lnTo>
                <a:lnTo>
                  <a:pt x="9242821" y="26115"/>
                </a:lnTo>
                <a:lnTo>
                  <a:pt x="9371796" y="14952"/>
                </a:lnTo>
                <a:lnTo>
                  <a:pt x="9502493" y="6761"/>
                </a:lnTo>
                <a:lnTo>
                  <a:pt x="9635002" y="1719"/>
                </a:lnTo>
                <a:lnTo>
                  <a:pt x="9769413" y="0"/>
                </a:lnTo>
              </a:path>
            </a:pathLst>
          </a:custGeom>
          <a:noFill/>
          <a:ln w="69850">
            <a:solidFill>
              <a:srgbClr val="00CE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104951" y="4160520"/>
            <a:ext cx="3929003" cy="566928"/>
          </a:xfrm>
          <a:custGeom>
            <a:avLst/>
            <a:gdLst/>
            <a:ahLst/>
            <a:cxnLst/>
            <a:rect l="l" t="t" r="r" b="b"/>
            <a:pathLst>
              <a:path w="3929003" h="566928">
                <a:moveTo>
                  <a:pt x="0" y="0"/>
                </a:moveTo>
                <a:lnTo>
                  <a:pt x="118091" y="142"/>
                </a:lnTo>
                <a:lnTo>
                  <a:pt x="233524" y="592"/>
                </a:lnTo>
                <a:lnTo>
                  <a:pt x="346428" y="1381"/>
                </a:lnTo>
                <a:lnTo>
                  <a:pt x="456933" y="2542"/>
                </a:lnTo>
                <a:lnTo>
                  <a:pt x="565168" y="4107"/>
                </a:lnTo>
                <a:lnTo>
                  <a:pt x="671263" y="6110"/>
                </a:lnTo>
                <a:lnTo>
                  <a:pt x="775346" y="8583"/>
                </a:lnTo>
                <a:lnTo>
                  <a:pt x="877548" y="11558"/>
                </a:lnTo>
                <a:lnTo>
                  <a:pt x="977999" y="15067"/>
                </a:lnTo>
                <a:lnTo>
                  <a:pt x="1076826" y="19145"/>
                </a:lnTo>
                <a:lnTo>
                  <a:pt x="1174160" y="23822"/>
                </a:lnTo>
                <a:lnTo>
                  <a:pt x="1270130" y="29132"/>
                </a:lnTo>
                <a:lnTo>
                  <a:pt x="1364866" y="35108"/>
                </a:lnTo>
                <a:lnTo>
                  <a:pt x="1458497" y="41781"/>
                </a:lnTo>
                <a:lnTo>
                  <a:pt x="1551152" y="49184"/>
                </a:lnTo>
                <a:lnTo>
                  <a:pt x="1642961" y="57351"/>
                </a:lnTo>
                <a:lnTo>
                  <a:pt x="1734053" y="66313"/>
                </a:lnTo>
                <a:lnTo>
                  <a:pt x="1824558" y="76103"/>
                </a:lnTo>
                <a:lnTo>
                  <a:pt x="1914604" y="86753"/>
                </a:lnTo>
                <a:lnTo>
                  <a:pt x="2004323" y="98298"/>
                </a:lnTo>
                <a:lnTo>
                  <a:pt x="2093842" y="110767"/>
                </a:lnTo>
                <a:lnTo>
                  <a:pt x="2183292" y="124196"/>
                </a:lnTo>
                <a:lnTo>
                  <a:pt x="2272801" y="138615"/>
                </a:lnTo>
                <a:lnTo>
                  <a:pt x="2362499" y="154058"/>
                </a:lnTo>
                <a:lnTo>
                  <a:pt x="2452516" y="170557"/>
                </a:lnTo>
                <a:lnTo>
                  <a:pt x="2542981" y="188144"/>
                </a:lnTo>
                <a:lnTo>
                  <a:pt x="2634023" y="206853"/>
                </a:lnTo>
                <a:lnTo>
                  <a:pt x="2725773" y="226716"/>
                </a:lnTo>
                <a:lnTo>
                  <a:pt x="2818358" y="247765"/>
                </a:lnTo>
                <a:lnTo>
                  <a:pt x="2911909" y="270033"/>
                </a:lnTo>
                <a:lnTo>
                  <a:pt x="3006555" y="293553"/>
                </a:lnTo>
                <a:lnTo>
                  <a:pt x="3102426" y="318357"/>
                </a:lnTo>
                <a:lnTo>
                  <a:pt x="3199651" y="344478"/>
                </a:lnTo>
                <a:lnTo>
                  <a:pt x="3298358" y="371948"/>
                </a:lnTo>
                <a:lnTo>
                  <a:pt x="3398679" y="400800"/>
                </a:lnTo>
                <a:lnTo>
                  <a:pt x="3500742" y="431066"/>
                </a:lnTo>
                <a:lnTo>
                  <a:pt x="3604676" y="462779"/>
                </a:lnTo>
                <a:lnTo>
                  <a:pt x="3710612" y="495972"/>
                </a:lnTo>
                <a:lnTo>
                  <a:pt x="3818678" y="530678"/>
                </a:lnTo>
                <a:lnTo>
                  <a:pt x="3929003" y="566928"/>
                </a:lnTo>
              </a:path>
            </a:pathLst>
          </a:custGeom>
          <a:noFill/>
          <a:ln w="27940">
            <a:solidFill>
              <a:srgbClr val="8C8D86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40144" y="4764024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30">
                <a:solidFill>
                  <a:srgbClr val="8C8D86"/>
                </a:solidFill>
                <a:latin typeface="IBM Plex Mono"/>
              </a:rPr>
              <a:t>STALLED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4398264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30">
                <a:solidFill>
                  <a:srgbClr val="616161"/>
                </a:solidFill>
                <a:latin typeface="IBM Plex Mono"/>
              </a:rPr>
              <a:t>IDEA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2604" y="1408176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spc="130">
                <a:solidFill>
                  <a:srgbClr val="111111"/>
                </a:solidFill>
                <a:latin typeface="IBM Plex Mono"/>
              </a:rPr>
              <a:t>GLOBALLY SCALABLE VENTURE</a:t>
            </a:r>
          </a:p>
        </p:txBody>
      </p:sp>
      <p:sp>
        <p:nvSpPr>
          <p:cNvPr id="14" name="Oval 13"/>
          <p:cNvSpPr/>
          <p:nvPr/>
        </p:nvSpPr>
        <p:spPr>
          <a:xfrm>
            <a:off x="10789020" y="1743456"/>
            <a:ext cx="168981" cy="168981"/>
          </a:xfrm>
          <a:prstGeom prst="ellipse">
            <a:avLst/>
          </a:prstGeom>
          <a:solidFill>
            <a:srgbClr val="00CE9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5967831" y="2633472"/>
            <a:ext cx="256032" cy="256032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6044641" y="2710281"/>
            <a:ext cx="102412" cy="102412"/>
          </a:xfrm>
          <a:prstGeom prst="ellipse">
            <a:avLst/>
          </a:prstGeom>
          <a:solidFill>
            <a:srgbClr val="00C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632807" y="221284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111111"/>
                </a:solidFill>
                <a:latin typeface="Neue Montreal"/>
              </a:rPr>
              <a:t>Shakti AI TechLabs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2807" y="1993392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750" b="0" spc="120">
                <a:solidFill>
                  <a:srgbClr val="616161"/>
                </a:solidFill>
                <a:latin typeface="IBM Plex Mono"/>
              </a:rPr>
              <a:t>ECOSYSTEM · GUIDANCE · EXECUTION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310896"/>
            <a:ext cx="53094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spc="150">
                <a:solidFill>
                  <a:srgbClr val="616161"/>
                </a:solidFill>
                <a:latin typeface="IBM Plex Mono"/>
              </a:rPr>
              <a:t>SHAKTI AI TECHLABS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7" y="310896"/>
            <a:ext cx="53094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 spc="150">
                <a:solidFill>
                  <a:srgbClr val="616161"/>
                </a:solidFill>
                <a:latin typeface="IBM Plex Mono"/>
              </a:rPr>
              <a:t>04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566928"/>
            <a:ext cx="1061892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spc="170">
                <a:solidFill>
                  <a:srgbClr val="616161"/>
                </a:solidFill>
                <a:latin typeface="IBM Plex Mono"/>
              </a:rPr>
              <a:t>THE DIFFERENCE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0120"/>
            <a:ext cx="7680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600" b="0">
                <a:solidFill>
                  <a:srgbClr val="111111"/>
                </a:solidFill>
                <a:latin typeface="Neue Montreal"/>
              </a:rPr>
              <a:t>What changes </a:t>
            </a:r>
            <a:r>
              <a:rPr sz="3600" b="0">
                <a:solidFill>
                  <a:srgbClr val="616161"/>
                </a:solidFill>
                <a:latin typeface="Neue Montreal"/>
              </a:rPr>
              <a:t>when you build with 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2148840"/>
            <a:ext cx="5208879" cy="3977639"/>
          </a:xfrm>
          <a:prstGeom prst="roundRect">
            <a:avLst>
              <a:gd name="adj" fmla="val 9000"/>
            </a:avLst>
          </a:prstGeom>
          <a:solidFill>
            <a:srgbClr val="F4F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170432" y="2478024"/>
            <a:ext cx="444078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50">
                <a:solidFill>
                  <a:srgbClr val="8C8D86"/>
                </a:solidFill>
                <a:latin typeface="IBM Plex Mono"/>
              </a:rPr>
              <a:t>BUILDING ALONE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2807208"/>
            <a:ext cx="444078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0">
                <a:solidFill>
                  <a:srgbClr val="8C8D86"/>
                </a:solidFill>
                <a:latin typeface="Neue Montreal"/>
              </a:rPr>
              <a:t>Every lesson learned the expensive way.</a:t>
            </a:r>
          </a:p>
        </p:txBody>
      </p:sp>
      <p:sp>
        <p:nvSpPr>
          <p:cNvPr id="9" name="Oval 8"/>
          <p:cNvSpPr/>
          <p:nvPr/>
        </p:nvSpPr>
        <p:spPr>
          <a:xfrm>
            <a:off x="1170432" y="4055363"/>
            <a:ext cx="173736" cy="173736"/>
          </a:xfrm>
          <a:prstGeom prst="ellipse">
            <a:avLst/>
          </a:prstGeom>
          <a:solidFill>
            <a:srgbClr val="8C8D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170432" y="4041647"/>
            <a:ext cx="173736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F4F7E9"/>
                </a:solidFill>
                <a:latin typeface="Inter"/>
              </a:rPr>
              <a:t>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4023359"/>
            <a:ext cx="41298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16161"/>
                </a:solidFill>
                <a:latin typeface="Inter"/>
              </a:rPr>
              <a:t>Advice that stops at the slide deck.</a:t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4539995"/>
            <a:ext cx="173736" cy="173736"/>
          </a:xfrm>
          <a:prstGeom prst="ellipse">
            <a:avLst/>
          </a:prstGeom>
          <a:solidFill>
            <a:srgbClr val="8C8D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170432" y="4526279"/>
            <a:ext cx="173736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F4F7E9"/>
                </a:solidFill>
                <a:latin typeface="Inter"/>
              </a:rPr>
              <a:t>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4507991"/>
            <a:ext cx="41298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16161"/>
                </a:solidFill>
                <a:latin typeface="Inter"/>
              </a:rPr>
              <a:t>Mentors, capital and infrastructure in three places.</a:t>
            </a:r>
          </a:p>
        </p:txBody>
      </p:sp>
      <p:sp>
        <p:nvSpPr>
          <p:cNvPr id="15" name="Oval 14"/>
          <p:cNvSpPr/>
          <p:nvPr/>
        </p:nvSpPr>
        <p:spPr>
          <a:xfrm>
            <a:off x="1170432" y="5024627"/>
            <a:ext cx="173736" cy="173736"/>
          </a:xfrm>
          <a:prstGeom prst="ellipse">
            <a:avLst/>
          </a:prstGeom>
          <a:solidFill>
            <a:srgbClr val="8C8D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70432" y="5010911"/>
            <a:ext cx="173736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F4F7E9"/>
                </a:solidFill>
                <a:latin typeface="Inter"/>
              </a:rPr>
              <a:t>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4992623"/>
            <a:ext cx="41298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16161"/>
                </a:solidFill>
                <a:latin typeface="Inter"/>
              </a:rPr>
              <a:t>A generic playbook on a specific company.</a:t>
            </a:r>
          </a:p>
        </p:txBody>
      </p:sp>
      <p:sp>
        <p:nvSpPr>
          <p:cNvPr id="18" name="Oval 17"/>
          <p:cNvSpPr/>
          <p:nvPr/>
        </p:nvSpPr>
        <p:spPr>
          <a:xfrm>
            <a:off x="1170432" y="5509259"/>
            <a:ext cx="173736" cy="173736"/>
          </a:xfrm>
          <a:prstGeom prst="ellipse">
            <a:avLst/>
          </a:prstGeom>
          <a:solidFill>
            <a:srgbClr val="8C8D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70432" y="5495543"/>
            <a:ext cx="173736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F4F7E9"/>
                </a:solidFill>
                <a:latin typeface="Inter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5477255"/>
            <a:ext cx="41298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16161"/>
                </a:solidFill>
                <a:latin typeface="Inter"/>
              </a:rPr>
              <a:t>Every introduction starts from zero.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6431" y="2148840"/>
            <a:ext cx="5208879" cy="3977639"/>
          </a:xfrm>
          <a:prstGeom prst="roundRect">
            <a:avLst>
              <a:gd name="adj" fmla="val 9000"/>
            </a:avLst>
          </a:prstGeom>
          <a:solidFill>
            <a:srgbClr val="00C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580479" y="2478024"/>
            <a:ext cx="444078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50">
                <a:solidFill>
                  <a:srgbClr val="0B2C24"/>
                </a:solidFill>
                <a:latin typeface="IBM Plex Mono"/>
              </a:rPr>
              <a:t>BUILDING WITH 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0479" y="2807208"/>
            <a:ext cx="444078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0">
                <a:solidFill>
                  <a:srgbClr val="111111"/>
                </a:solidFill>
                <a:latin typeface="Neue Montreal"/>
              </a:rPr>
              <a:t>An ecosystem that has already done it.</a:t>
            </a:r>
          </a:p>
        </p:txBody>
      </p:sp>
      <p:sp>
        <p:nvSpPr>
          <p:cNvPr id="24" name="Oval 23"/>
          <p:cNvSpPr/>
          <p:nvPr/>
        </p:nvSpPr>
        <p:spPr>
          <a:xfrm>
            <a:off x="6580479" y="4055363"/>
            <a:ext cx="173736" cy="173736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580479" y="4041647"/>
            <a:ext cx="173736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00CE9F"/>
                </a:solidFill>
                <a:latin typeface="Inter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1375" y="4023359"/>
            <a:ext cx="41298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0B2C24"/>
                </a:solidFill>
                <a:latin typeface="Inter"/>
              </a:rPr>
              <a:t>Operators who build alongside you.</a:t>
            </a:r>
          </a:p>
        </p:txBody>
      </p:sp>
      <p:sp>
        <p:nvSpPr>
          <p:cNvPr id="27" name="Oval 26"/>
          <p:cNvSpPr/>
          <p:nvPr/>
        </p:nvSpPr>
        <p:spPr>
          <a:xfrm>
            <a:off x="6580479" y="4539995"/>
            <a:ext cx="173736" cy="173736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0479" y="4526279"/>
            <a:ext cx="173736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00CE9F"/>
                </a:solidFill>
                <a:latin typeface="Inter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1375" y="4507991"/>
            <a:ext cx="41298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0B2C24"/>
                </a:solidFill>
                <a:latin typeface="Inter"/>
              </a:rPr>
              <a:t>Guidance, resources and network under one roof.</a:t>
            </a:r>
          </a:p>
        </p:txBody>
      </p:sp>
      <p:sp>
        <p:nvSpPr>
          <p:cNvPr id="30" name="Oval 29"/>
          <p:cNvSpPr/>
          <p:nvPr/>
        </p:nvSpPr>
        <p:spPr>
          <a:xfrm>
            <a:off x="6580479" y="5024627"/>
            <a:ext cx="173736" cy="173736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580479" y="5010911"/>
            <a:ext cx="173736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00CE9F"/>
                </a:solidFill>
                <a:latin typeface="Inter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1375" y="4992623"/>
            <a:ext cx="41298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0B2C24"/>
                </a:solidFill>
                <a:latin typeface="Inter"/>
              </a:rPr>
              <a:t>An approach that adapts to your stage.</a:t>
            </a:r>
          </a:p>
        </p:txBody>
      </p:sp>
      <p:sp>
        <p:nvSpPr>
          <p:cNvPr id="33" name="Oval 32"/>
          <p:cNvSpPr/>
          <p:nvPr/>
        </p:nvSpPr>
        <p:spPr>
          <a:xfrm>
            <a:off x="6580479" y="5509259"/>
            <a:ext cx="173736" cy="173736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580479" y="5495543"/>
            <a:ext cx="173736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00CE9F"/>
                </a:solidFill>
                <a:latin typeface="Inter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91375" y="5477255"/>
            <a:ext cx="41298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0B2C24"/>
                </a:solidFill>
                <a:latin typeface="Inter"/>
              </a:rPr>
              <a:t>Seven industries of experience on call.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310896"/>
            <a:ext cx="53094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spc="150">
                <a:solidFill>
                  <a:srgbClr val="616161"/>
                </a:solidFill>
                <a:latin typeface="IBM Plex Mono"/>
              </a:rPr>
              <a:t>SHAKTI AI TECHLABS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7" y="310896"/>
            <a:ext cx="53094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 spc="150">
                <a:solidFill>
                  <a:srgbClr val="616161"/>
                </a:solidFill>
                <a:latin typeface="IBM Plex Mono"/>
              </a:rPr>
              <a:t>05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566928"/>
            <a:ext cx="1061892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spc="170">
                <a:solidFill>
                  <a:srgbClr val="616161"/>
                </a:solidFill>
                <a:latin typeface="IBM Plex Mono"/>
              </a:rPr>
              <a:t>WHAT WE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01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400" b="0">
                <a:solidFill>
                  <a:srgbClr val="111111"/>
                </a:solidFill>
                <a:latin typeface="Neue Montreal"/>
              </a:rPr>
              <a:t>Six capabilities. </a:t>
            </a:r>
            <a:r>
              <a:rPr sz="3400" b="0">
                <a:solidFill>
                  <a:srgbClr val="616161"/>
                </a:solidFill>
                <a:latin typeface="Neue Montreal"/>
              </a:rPr>
              <a:t>One continuous journey.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240280"/>
            <a:ext cx="1061892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40">
                <a:solidFill>
                  <a:srgbClr val="616161"/>
                </a:solidFill>
                <a:latin typeface="IBM Plex Mono"/>
              </a:rPr>
              <a:t>STAGE-LED — THE PATH A VENTURE TRAVELS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1335024" y="3136392"/>
            <a:ext cx="9521647" cy="9525"/>
          </a:xfrm>
          <a:prstGeom prst="rect">
            <a:avLst/>
          </a:prstGeom>
          <a:solidFill>
            <a:srgbClr val="D6D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989569" y="2880360"/>
            <a:ext cx="566928" cy="566928"/>
          </a:xfrm>
          <a:prstGeom prst="ellipse">
            <a:avLst/>
          </a:prstGeom>
          <a:solidFill>
            <a:srgbClr val="00C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989569" y="3017520"/>
            <a:ext cx="5669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>
                <a:solidFill>
                  <a:srgbClr val="111111"/>
                </a:solidFill>
                <a:latin typeface="Neue Montre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433" y="36301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>
                <a:solidFill>
                  <a:srgbClr val="111111"/>
                </a:solidFill>
                <a:latin typeface="Neue Montreal"/>
              </a:rPr>
              <a:t>Startup Incubation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1433" y="390448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750" b="0" spc="120">
                <a:solidFill>
                  <a:srgbClr val="616161"/>
                </a:solidFill>
                <a:latin typeface="IBM Plex Mono"/>
              </a:rPr>
              <a:t>VALIDATE · MENTOR · STRUCTURE</a:t>
            </a:r>
          </a:p>
        </p:txBody>
      </p:sp>
      <p:sp>
        <p:nvSpPr>
          <p:cNvPr id="12" name="Oval 11"/>
          <p:cNvSpPr/>
          <p:nvPr/>
        </p:nvSpPr>
        <p:spPr>
          <a:xfrm>
            <a:off x="5812383" y="2880360"/>
            <a:ext cx="566928" cy="566928"/>
          </a:xfrm>
          <a:prstGeom prst="ellipse">
            <a:avLst/>
          </a:prstGeom>
          <a:solidFill>
            <a:srgbClr val="00C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812383" y="3017520"/>
            <a:ext cx="5669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>
                <a:solidFill>
                  <a:srgbClr val="111111"/>
                </a:solidFill>
                <a:latin typeface="Neue Montre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4247" y="36301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>
                <a:solidFill>
                  <a:srgbClr val="111111"/>
                </a:solidFill>
                <a:latin typeface="Neue Montreal"/>
              </a:rPr>
              <a:t>Startup Acceleration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4247" y="390448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750" b="0" spc="120">
                <a:solidFill>
                  <a:srgbClr val="616161"/>
                </a:solidFill>
                <a:latin typeface="IBM Plex Mono"/>
              </a:rPr>
              <a:t>MARKET · OPERATIONS · GROWTH</a:t>
            </a:r>
          </a:p>
        </p:txBody>
      </p:sp>
      <p:sp>
        <p:nvSpPr>
          <p:cNvPr id="16" name="Oval 15"/>
          <p:cNvSpPr/>
          <p:nvPr/>
        </p:nvSpPr>
        <p:spPr>
          <a:xfrm>
            <a:off x="9635197" y="2880360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35197" y="3017520"/>
            <a:ext cx="5669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>
                <a:solidFill>
                  <a:srgbClr val="00CE9F"/>
                </a:solidFill>
                <a:latin typeface="Neue Montre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7061" y="36301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>
                <a:solidFill>
                  <a:srgbClr val="111111"/>
                </a:solidFill>
                <a:latin typeface="Neue Montreal"/>
              </a:rPr>
              <a:t>Venture Building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7061" y="390448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750" b="0" spc="120">
                <a:solidFill>
                  <a:srgbClr val="616161"/>
                </a:solidFill>
                <a:latin typeface="IBM Plex Mono"/>
              </a:rPr>
              <a:t>SCALE · STRUCTURE · EXIT-READY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" y="4709160"/>
            <a:ext cx="10618927" cy="1371600"/>
          </a:xfrm>
          <a:prstGeom prst="roundRect">
            <a:avLst>
              <a:gd name="adj" fmla="val 14000"/>
            </a:avLst>
          </a:prstGeom>
          <a:solidFill>
            <a:srgbClr val="FEF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152144" y="4928616"/>
            <a:ext cx="1061892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40">
                <a:solidFill>
                  <a:srgbClr val="616161"/>
                </a:solidFill>
                <a:latin typeface="IBM Plex Mono"/>
              </a:rPr>
              <a:t>ALWAYS ON — AVAILABLE AT EVERY STAGE</a:t>
            </a:r>
          </a:p>
        </p:txBody>
      </p:sp>
      <p:sp>
        <p:nvSpPr>
          <p:cNvPr id="22" name="Oval 21"/>
          <p:cNvSpPr/>
          <p:nvPr/>
        </p:nvSpPr>
        <p:spPr>
          <a:xfrm>
            <a:off x="1152144" y="5367528"/>
            <a:ext cx="118872" cy="118872"/>
          </a:xfrm>
          <a:prstGeom prst="ellipse">
            <a:avLst/>
          </a:prstGeom>
          <a:solidFill>
            <a:srgbClr val="00C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389888" y="5303520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11111"/>
                </a:solidFill>
                <a:latin typeface="Neue Montreal"/>
              </a:rPr>
              <a:t>Founder Mentorship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5568696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spc="120">
                <a:solidFill>
                  <a:srgbClr val="616161"/>
                </a:solidFill>
                <a:latin typeface="IBM Plex Mono"/>
              </a:rPr>
              <a:t>BUILDERS WHO HAVE DONE IT</a:t>
            </a:r>
          </a:p>
        </p:txBody>
      </p:sp>
      <p:sp>
        <p:nvSpPr>
          <p:cNvPr id="25" name="Oval 24"/>
          <p:cNvSpPr/>
          <p:nvPr/>
        </p:nvSpPr>
        <p:spPr>
          <a:xfrm>
            <a:off x="4447946" y="5367528"/>
            <a:ext cx="118872" cy="118872"/>
          </a:xfrm>
          <a:prstGeom prst="ellipse">
            <a:avLst/>
          </a:prstGeom>
          <a:solidFill>
            <a:srgbClr val="00C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685690" y="5303520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11111"/>
                </a:solidFill>
                <a:latin typeface="Neue Montreal"/>
              </a:rPr>
              <a:t>Technology &amp; Innovation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5690" y="5568696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spc="120">
                <a:solidFill>
                  <a:srgbClr val="616161"/>
                </a:solidFill>
                <a:latin typeface="IBM Plex Mono"/>
              </a:rPr>
              <a:t>AI, ENGINEERING, PRODUCT</a:t>
            </a:r>
          </a:p>
        </p:txBody>
      </p:sp>
      <p:sp>
        <p:nvSpPr>
          <p:cNvPr id="28" name="Oval 27"/>
          <p:cNvSpPr/>
          <p:nvPr/>
        </p:nvSpPr>
        <p:spPr>
          <a:xfrm>
            <a:off x="7743748" y="5367528"/>
            <a:ext cx="118872" cy="118872"/>
          </a:xfrm>
          <a:prstGeom prst="ellipse">
            <a:avLst/>
          </a:prstGeom>
          <a:solidFill>
            <a:srgbClr val="00C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981492" y="5303520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11111"/>
                </a:solidFill>
                <a:latin typeface="Neue Montreal"/>
              </a:rPr>
              <a:t>Strategic Partnerships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81492" y="5568696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spc="120">
                <a:solidFill>
                  <a:srgbClr val="616161"/>
                </a:solidFill>
                <a:latin typeface="IBM Plex Mono"/>
              </a:rPr>
              <a:t>DOORS ALREADY OPEN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310896"/>
            <a:ext cx="53094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spc="150">
                <a:solidFill>
                  <a:srgbClr val="616161"/>
                </a:solidFill>
                <a:latin typeface="IBM Plex Mono"/>
              </a:rPr>
              <a:t>SHAKTI AI TECHLABS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7" y="310896"/>
            <a:ext cx="53094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 spc="150">
                <a:solidFill>
                  <a:srgbClr val="616161"/>
                </a:solidFill>
                <a:latin typeface="IBM Plex Mono"/>
              </a:rPr>
              <a:t>06 / 11</a:t>
            </a:r>
          </a:p>
        </p:txBody>
      </p:sp>
      <p:pic>
        <p:nvPicPr>
          <p:cNvPr id="4" name="Picture 3" descr="col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7" y="960120"/>
            <a:ext cx="5126583" cy="49377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15887" y="5623560"/>
            <a:ext cx="1737360" cy="237744"/>
          </a:xfrm>
          <a:prstGeom prst="roundRect">
            <a:avLst>
              <a:gd name="adj" fmla="val 50000"/>
            </a:avLst>
          </a:prstGeom>
          <a:solidFill>
            <a:srgbClr val="00C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650" b="1">
                <a:solidFill>
                  <a:srgbClr val="0B2C24"/>
                </a:solidFill>
                <a:latin typeface="IBM Plex Mono"/>
              </a:rPr>
              <a:t>PHOTO · COLLABORATION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566928"/>
            <a:ext cx="1061892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spc="170">
                <a:solidFill>
                  <a:srgbClr val="616161"/>
                </a:solidFill>
                <a:latin typeface="IBM Plex Mono"/>
              </a:rPr>
              <a:t>OUR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234440"/>
            <a:ext cx="5126583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400" b="0">
                <a:solidFill>
                  <a:srgbClr val="111111"/>
                </a:solidFill>
                <a:latin typeface="Neue Montreal"/>
              </a:rPr>
              <a:t>Every founder's journey is different. </a:t>
            </a:r>
            <a:r>
              <a:rPr sz="3400" b="0">
                <a:solidFill>
                  <a:srgbClr val="616161"/>
                </a:solidFill>
                <a:latin typeface="Neue Montreal"/>
              </a:rPr>
              <a:t>So is ours.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3246120"/>
            <a:ext cx="485226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616161"/>
                </a:solidFill>
                <a:latin typeface="Inter"/>
              </a:rPr>
              <a:t>Our approach adapts to every stage — from validating an idea to scaling internationally.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4297680"/>
            <a:ext cx="128164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0">
                <a:solidFill>
                  <a:srgbClr val="111111"/>
                </a:solidFill>
                <a:latin typeface="Neue Montreal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4956048"/>
            <a:ext cx="128164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16161"/>
                </a:solidFill>
                <a:latin typeface="Inter"/>
              </a:rPr>
              <a:t>Capabilities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68029" y="4297680"/>
            <a:ext cx="128164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0">
                <a:solidFill>
                  <a:srgbClr val="111111"/>
                </a:solidFill>
                <a:latin typeface="Neue Montreal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68029" y="4956048"/>
            <a:ext cx="128164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16161"/>
                </a:solidFill>
                <a:latin typeface="Inter"/>
              </a:rPr>
              <a:t>Industries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49675" y="4297680"/>
            <a:ext cx="128164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0">
                <a:solidFill>
                  <a:srgbClr val="111111"/>
                </a:solidFill>
                <a:latin typeface="Neue Montreal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9675" y="4956048"/>
            <a:ext cx="128164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16161"/>
                </a:solidFill>
                <a:latin typeface="Inter"/>
              </a:rPr>
              <a:t>Partner types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1321" y="4297680"/>
            <a:ext cx="128164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0">
                <a:solidFill>
                  <a:srgbClr val="111111"/>
                </a:solidFill>
                <a:latin typeface="Neue Montre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1321" y="4956048"/>
            <a:ext cx="128164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16161"/>
                </a:solidFill>
                <a:latin typeface="Inter"/>
              </a:rPr>
              <a:t>Ecosystem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5715000"/>
            <a:ext cx="51265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spc="130">
                <a:solidFill>
                  <a:srgbClr val="616161"/>
                </a:solidFill>
                <a:latin typeface="IBM Plex Mono"/>
              </a:rPr>
              <a:t>STRUCTURAL FIGURES. TRACTION METRICS TO BE INSERTED ONCE VERIFIED.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CE9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310896"/>
            <a:ext cx="53094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spc="150">
                <a:solidFill>
                  <a:srgbClr val="0B2C24"/>
                </a:solidFill>
                <a:latin typeface="IBM Plex Mono"/>
              </a:rPr>
              <a:t>SHAKTI AI TECHLABS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7" y="310896"/>
            <a:ext cx="53094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 spc="150">
                <a:solidFill>
                  <a:srgbClr val="0B2C24"/>
                </a:solidFill>
                <a:latin typeface="IBM Plex Mono"/>
              </a:rPr>
              <a:t>07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566928"/>
            <a:ext cx="1061892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spc="170">
                <a:solidFill>
                  <a:srgbClr val="0B2C24"/>
                </a:solidFill>
                <a:latin typeface="IBM Plex Mono"/>
              </a:rPr>
              <a:t>THE SHAKTI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234440"/>
            <a:ext cx="49377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400" b="0">
                <a:solidFill>
                  <a:srgbClr val="111111"/>
                </a:solidFill>
                <a:latin typeface="Neue Montreal"/>
              </a:rPr>
              <a:t>Founders don't get a partner. </a:t>
            </a:r>
            <a:r>
              <a:rPr sz="3400" b="0">
                <a:solidFill>
                  <a:srgbClr val="0B2C24"/>
                </a:solidFill>
                <a:latin typeface="Neue Montreal"/>
              </a:rPr>
              <a:t>They get an ecosystem.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3566160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0B2C24"/>
                </a:solidFill>
                <a:latin typeface="Inter"/>
              </a:rPr>
              <a:t>Seven industries of real operating experience, on call for every venture we build.</a:t>
            </a:r>
          </a:p>
        </p:txBody>
      </p:sp>
      <p:sp>
        <p:nvSpPr>
          <p:cNvPr id="7" name="Oval 6"/>
          <p:cNvSpPr/>
          <p:nvPr/>
        </p:nvSpPr>
        <p:spPr>
          <a:xfrm>
            <a:off x="6732727" y="1719072"/>
            <a:ext cx="3694176" cy="3694176"/>
          </a:xfrm>
          <a:prstGeom prst="ellipse">
            <a:avLst/>
          </a:prstGeom>
          <a:noFill/>
          <a:ln w="12700">
            <a:solidFill>
              <a:srgbClr val="0B2C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506663" y="1645920"/>
            <a:ext cx="146304" cy="146304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02575" y="1289304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750" b="0" spc="120">
                <a:solidFill>
                  <a:srgbClr val="0B2C24"/>
                </a:solidFill>
                <a:latin typeface="IBM Plex Mono"/>
              </a:rPr>
              <a:t>TECHNOLOGY</a:t>
            </a:r>
          </a:p>
        </p:txBody>
      </p:sp>
      <p:sp>
        <p:nvSpPr>
          <p:cNvPr id="10" name="Oval 9"/>
          <p:cNvSpPr/>
          <p:nvPr/>
        </p:nvSpPr>
        <p:spPr>
          <a:xfrm>
            <a:off x="9950774" y="2341367"/>
            <a:ext cx="146304" cy="146304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47295" y="2108692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750" b="0" spc="120">
                <a:solidFill>
                  <a:srgbClr val="0B2C24"/>
                </a:solidFill>
                <a:latin typeface="IBM Plex Mono"/>
              </a:rPr>
              <a:t>SPORTS</a:t>
            </a:r>
          </a:p>
        </p:txBody>
      </p:sp>
      <p:sp>
        <p:nvSpPr>
          <p:cNvPr id="12" name="Oval 11"/>
          <p:cNvSpPr/>
          <p:nvPr/>
        </p:nvSpPr>
        <p:spPr>
          <a:xfrm>
            <a:off x="10307440" y="3904023"/>
            <a:ext cx="146304" cy="146304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476997" y="3949842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750" b="0" spc="120">
                <a:solidFill>
                  <a:srgbClr val="0B2C24"/>
                </a:solidFill>
                <a:latin typeface="IBM Plex Mono"/>
              </a:rPr>
              <a:t>SUSTAINABILITY</a:t>
            </a:r>
          </a:p>
        </p:txBody>
      </p:sp>
      <p:sp>
        <p:nvSpPr>
          <p:cNvPr id="14" name="Oval 13"/>
          <p:cNvSpPr/>
          <p:nvPr/>
        </p:nvSpPr>
        <p:spPr>
          <a:xfrm>
            <a:off x="9308084" y="5157176"/>
            <a:ext cx="146304" cy="146304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992804" y="5426329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750" b="0" spc="120">
                <a:solidFill>
                  <a:srgbClr val="0B2C24"/>
                </a:solidFill>
                <a:latin typeface="IBM Plex Mono"/>
              </a:rPr>
              <a:t>HOSPITALITY</a:t>
            </a:r>
          </a:p>
        </p:txBody>
      </p:sp>
      <p:sp>
        <p:nvSpPr>
          <p:cNvPr id="16" name="Oval 15"/>
          <p:cNvSpPr/>
          <p:nvPr/>
        </p:nvSpPr>
        <p:spPr>
          <a:xfrm>
            <a:off x="7705241" y="5157176"/>
            <a:ext cx="146304" cy="146304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612345" y="5426329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750" b="0" spc="120">
                <a:solidFill>
                  <a:srgbClr val="0B2C24"/>
                </a:solidFill>
                <a:latin typeface="IBM Plex Mono"/>
              </a:rPr>
              <a:t>ENGINEERING</a:t>
            </a:r>
          </a:p>
        </p:txBody>
      </p:sp>
      <p:sp>
        <p:nvSpPr>
          <p:cNvPr id="18" name="Oval 17"/>
          <p:cNvSpPr/>
          <p:nvPr/>
        </p:nvSpPr>
        <p:spPr>
          <a:xfrm>
            <a:off x="6705885" y="3904023"/>
            <a:ext cx="146304" cy="146304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128152" y="3949842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750" b="0" spc="120">
                <a:solidFill>
                  <a:srgbClr val="0B2C24"/>
                </a:solidFill>
                <a:latin typeface="IBM Plex Mono"/>
              </a:rPr>
              <a:t>MANUFACTURING</a:t>
            </a:r>
          </a:p>
        </p:txBody>
      </p:sp>
      <p:sp>
        <p:nvSpPr>
          <p:cNvPr id="20" name="Oval 19"/>
          <p:cNvSpPr/>
          <p:nvPr/>
        </p:nvSpPr>
        <p:spPr>
          <a:xfrm>
            <a:off x="7062551" y="2341367"/>
            <a:ext cx="146304" cy="146304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657854" y="2108692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750" b="0" spc="120">
                <a:solidFill>
                  <a:srgbClr val="0B2C24"/>
                </a:solidFill>
                <a:latin typeface="IBM Plex Mono"/>
              </a:rPr>
              <a:t>BUSINESS</a:t>
            </a:r>
          </a:p>
        </p:txBody>
      </p:sp>
      <p:sp>
        <p:nvSpPr>
          <p:cNvPr id="22" name="Oval 21"/>
          <p:cNvSpPr/>
          <p:nvPr/>
        </p:nvSpPr>
        <p:spPr>
          <a:xfrm>
            <a:off x="7894015" y="2880360"/>
            <a:ext cx="1371600" cy="1371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Diamond 22"/>
          <p:cNvSpPr/>
          <p:nvPr/>
        </p:nvSpPr>
        <p:spPr>
          <a:xfrm>
            <a:off x="8296351" y="3282696"/>
            <a:ext cx="566928" cy="566928"/>
          </a:xfrm>
          <a:prstGeom prst="diamond">
            <a:avLst/>
          </a:prstGeom>
          <a:noFill/>
          <a:ln w="30480">
            <a:solidFill>
              <a:srgbClr val="00CE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310896"/>
            <a:ext cx="53094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spc="150">
                <a:solidFill>
                  <a:srgbClr val="9AA09E"/>
                </a:solidFill>
                <a:latin typeface="IBM Plex Mono"/>
              </a:rPr>
              <a:t>SHAKTI AI TECHLABS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7" y="310896"/>
            <a:ext cx="53094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 spc="150">
                <a:solidFill>
                  <a:srgbClr val="9AA09E"/>
                </a:solidFill>
                <a:latin typeface="IBM Plex Mono"/>
              </a:rPr>
              <a:t>08 / 11</a:t>
            </a:r>
          </a:p>
        </p:txBody>
      </p:sp>
      <p:pic>
        <p:nvPicPr>
          <p:cNvPr id="4" name="Picture 3" descr="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7" y="960120"/>
            <a:ext cx="5126583" cy="49377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15887" y="5623560"/>
            <a:ext cx="1737360" cy="237744"/>
          </a:xfrm>
          <a:prstGeom prst="roundRect">
            <a:avLst>
              <a:gd name="adj" fmla="val 50000"/>
            </a:avLst>
          </a:prstGeom>
          <a:solidFill>
            <a:srgbClr val="00C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650" b="1">
                <a:solidFill>
                  <a:srgbClr val="0B2C24"/>
                </a:solidFill>
                <a:latin typeface="IBM Plex Mono"/>
              </a:rPr>
              <a:t>PHOTO · INNOVATION SPACES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566928"/>
            <a:ext cx="1061892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spc="170">
                <a:solidFill>
                  <a:srgbClr val="00CE9F"/>
                </a:solidFill>
                <a:latin typeface="IBM Plex Mono"/>
              </a:rPr>
              <a:t>WHO WE WORK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234440"/>
            <a:ext cx="5126583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600" b="0">
                <a:solidFill>
                  <a:srgbClr val="FCFCFA"/>
                </a:solidFill>
                <a:latin typeface="Neue Montreal"/>
              </a:rPr>
              <a:t>Partnerships, </a:t>
            </a:r>
            <a:r>
              <a:rPr sz="3600" b="0">
                <a:solidFill>
                  <a:srgbClr val="9AA09E"/>
                </a:solidFill>
                <a:latin typeface="Neue Montreal"/>
              </a:rPr>
              <a:t>not transactions.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3063240"/>
            <a:ext cx="1599834" cy="365760"/>
          </a:xfrm>
          <a:prstGeom prst="roundRect">
            <a:avLst>
              <a:gd name="adj" fmla="val 50000"/>
            </a:avLst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6384" y="3154680"/>
            <a:ext cx="159983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FCFCFA"/>
                </a:solidFill>
                <a:latin typeface="Inter"/>
              </a:rPr>
              <a:t>Entrepreneurs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95946" y="3063240"/>
            <a:ext cx="2234793" cy="365760"/>
          </a:xfrm>
          <a:prstGeom prst="roundRect">
            <a:avLst>
              <a:gd name="adj" fmla="val 50000"/>
            </a:avLst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495946" y="3154680"/>
            <a:ext cx="223479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FCFCFA"/>
                </a:solidFill>
                <a:latin typeface="Inter"/>
              </a:rPr>
              <a:t>Early-stage Startups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3538728"/>
            <a:ext cx="2416210" cy="365760"/>
          </a:xfrm>
          <a:prstGeom prst="roundRect">
            <a:avLst>
              <a:gd name="adj" fmla="val 50000"/>
            </a:avLst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86384" y="3630168"/>
            <a:ext cx="241621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FCFCFA"/>
                </a:solidFill>
                <a:latin typeface="Inter"/>
              </a:rPr>
              <a:t>Growth-stage Companies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2322" y="3538728"/>
            <a:ext cx="1327708" cy="365760"/>
          </a:xfrm>
          <a:prstGeom prst="roundRect">
            <a:avLst>
              <a:gd name="adj" fmla="val 50000"/>
            </a:avLst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312322" y="3630168"/>
            <a:ext cx="13277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FCFCFA"/>
                </a:solidFill>
                <a:latin typeface="Inter"/>
              </a:rPr>
              <a:t>Innovators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" y="4014216"/>
            <a:ext cx="1418417" cy="365760"/>
          </a:xfrm>
          <a:prstGeom prst="roundRect">
            <a:avLst>
              <a:gd name="adj" fmla="val 50000"/>
            </a:avLst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86384" y="4105656"/>
            <a:ext cx="141841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FCFCFA"/>
                </a:solidFill>
                <a:latin typeface="Inter"/>
              </a:rPr>
              <a:t>Researchers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14529" y="4014216"/>
            <a:ext cx="1871959" cy="365760"/>
          </a:xfrm>
          <a:prstGeom prst="roundRect">
            <a:avLst>
              <a:gd name="adj" fmla="val 50000"/>
            </a:avLst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2314529" y="4105656"/>
            <a:ext cx="1871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FCFCFA"/>
                </a:solidFill>
                <a:latin typeface="Inter"/>
              </a:rPr>
              <a:t>Student Founders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6216" y="4014216"/>
            <a:ext cx="1418417" cy="365760"/>
          </a:xfrm>
          <a:prstGeom prst="roundRect">
            <a:avLst>
              <a:gd name="adj" fmla="val 50000"/>
            </a:avLst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6216" y="4105656"/>
            <a:ext cx="141841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FCFCFA"/>
                </a:solidFill>
                <a:latin typeface="Inter"/>
              </a:rPr>
              <a:t>Enterprises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" y="4489704"/>
            <a:ext cx="1871959" cy="365760"/>
          </a:xfrm>
          <a:prstGeom prst="roundRect">
            <a:avLst>
              <a:gd name="adj" fmla="val 50000"/>
            </a:avLst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86384" y="4581144"/>
            <a:ext cx="1871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FCFCFA"/>
                </a:solidFill>
                <a:latin typeface="Inter"/>
              </a:rPr>
              <a:t>Industry Leaders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68071" y="4489704"/>
            <a:ext cx="2325502" cy="365760"/>
          </a:xfrm>
          <a:prstGeom prst="roundRect">
            <a:avLst>
              <a:gd name="adj" fmla="val 50000"/>
            </a:avLst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768071" y="4581144"/>
            <a:ext cx="232550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FCFCFA"/>
                </a:solidFill>
                <a:latin typeface="Inter"/>
              </a:rPr>
              <a:t>Academic Institutions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" y="4965192"/>
            <a:ext cx="2144085" cy="365760"/>
          </a:xfrm>
          <a:prstGeom prst="roundRect">
            <a:avLst>
              <a:gd name="adj" fmla="val 50000"/>
            </a:avLst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86384" y="5056632"/>
            <a:ext cx="214408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FCFCFA"/>
                </a:solidFill>
                <a:latin typeface="Inter"/>
              </a:rPr>
              <a:t>Technology Partners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310896"/>
            <a:ext cx="53094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spc="150">
                <a:solidFill>
                  <a:srgbClr val="616161"/>
                </a:solidFill>
                <a:latin typeface="IBM Plex Mono"/>
              </a:rPr>
              <a:t>SHAKTI AI TECHLABS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7" y="310896"/>
            <a:ext cx="53094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 spc="150">
                <a:solidFill>
                  <a:srgbClr val="616161"/>
                </a:solidFill>
                <a:latin typeface="IBM Plex Mono"/>
              </a:rPr>
              <a:t>09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566928"/>
            <a:ext cx="1061892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spc="170">
                <a:solidFill>
                  <a:srgbClr val="616161"/>
                </a:solidFill>
                <a:latin typeface="IBM Plex Mono"/>
              </a:rPr>
              <a:t>CORE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0120"/>
            <a:ext cx="7315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600" b="0">
                <a:solidFill>
                  <a:srgbClr val="111111"/>
                </a:solidFill>
                <a:latin typeface="Neue Montreal"/>
              </a:rPr>
              <a:t>Six commitments </a:t>
            </a:r>
            <a:r>
              <a:rPr sz="3600" b="0">
                <a:solidFill>
                  <a:srgbClr val="616161"/>
                </a:solidFill>
                <a:latin typeface="Neue Montreal"/>
              </a:rPr>
              <a:t>we are held 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432304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spc="120">
                <a:solidFill>
                  <a:srgbClr val="00CE9F"/>
                </a:solidFill>
                <a:latin typeface="IBM Plex Mon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43584" y="2377440"/>
            <a:ext cx="453222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111111"/>
                </a:solidFill>
                <a:latin typeface="Neue Montreal"/>
              </a:rPr>
              <a:t>Founder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3584" y="2706624"/>
            <a:ext cx="45322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16161"/>
                </a:solidFill>
                <a:latin typeface="Inter"/>
              </a:rPr>
              <a:t>Every decision begins with empowering entrepreneurs.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" y="3218688"/>
            <a:ext cx="4989423" cy="9525"/>
          </a:xfrm>
          <a:prstGeom prst="rect">
            <a:avLst/>
          </a:prstGeom>
          <a:solidFill>
            <a:srgbClr val="DD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15887" y="2432304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spc="120">
                <a:solidFill>
                  <a:srgbClr val="00CE9F"/>
                </a:solidFill>
                <a:latin typeface="IBM Plex Mon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73087" y="2377440"/>
            <a:ext cx="453222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111111"/>
                </a:solidFill>
                <a:latin typeface="Neue Montreal"/>
              </a:rPr>
              <a:t>Innovation with 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73087" y="2706624"/>
            <a:ext cx="45322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16161"/>
                </a:solidFill>
                <a:latin typeface="Inter"/>
              </a:rPr>
              <a:t>Technology should create meaningful impact.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15887" y="3218688"/>
            <a:ext cx="4989423" cy="9525"/>
          </a:xfrm>
          <a:prstGeom prst="rect">
            <a:avLst/>
          </a:prstGeom>
          <a:solidFill>
            <a:srgbClr val="DD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86384" y="3666744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spc="120">
                <a:solidFill>
                  <a:srgbClr val="00CE9F"/>
                </a:solidFill>
                <a:latin typeface="IBM Plex Mono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3584" y="3611880"/>
            <a:ext cx="453222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111111"/>
                </a:solidFill>
                <a:latin typeface="Neue Montreal"/>
              </a:rPr>
              <a:t>Collaboration Over Competition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3584" y="3941064"/>
            <a:ext cx="45322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16161"/>
                </a:solidFill>
                <a:latin typeface="Inter"/>
              </a:rPr>
              <a:t>Great companies are built together.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" y="4453128"/>
            <a:ext cx="4989423" cy="9525"/>
          </a:xfrm>
          <a:prstGeom prst="rect">
            <a:avLst/>
          </a:prstGeom>
          <a:solidFill>
            <a:srgbClr val="DD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15887" y="3666744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spc="120">
                <a:solidFill>
                  <a:srgbClr val="00CE9F"/>
                </a:solidFill>
                <a:latin typeface="IBM Plex Mono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3087" y="3611880"/>
            <a:ext cx="453222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111111"/>
                </a:solidFill>
                <a:latin typeface="Neue Montreal"/>
              </a:rPr>
              <a:t>Execution Excellence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3087" y="3941064"/>
            <a:ext cx="45322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16161"/>
                </a:solidFill>
                <a:latin typeface="Inter"/>
              </a:rPr>
              <a:t>Ideas succeed only through disciplined execution.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15887" y="4453128"/>
            <a:ext cx="4989423" cy="9525"/>
          </a:xfrm>
          <a:prstGeom prst="rect">
            <a:avLst/>
          </a:prstGeom>
          <a:solidFill>
            <a:srgbClr val="DD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86384" y="4901184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spc="120">
                <a:solidFill>
                  <a:srgbClr val="00CE9F"/>
                </a:solidFill>
                <a:latin typeface="IBM Plex Mono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43584" y="4846320"/>
            <a:ext cx="453222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111111"/>
                </a:solidFill>
                <a:latin typeface="Neue Montreal"/>
              </a:rPr>
              <a:t>Integrity Always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43584" y="5175504"/>
            <a:ext cx="45322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16161"/>
                </a:solidFill>
                <a:latin typeface="Inter"/>
              </a:rPr>
              <a:t>Trust is the foundation of lasting partnerships.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" y="5687568"/>
            <a:ext cx="4989423" cy="9525"/>
          </a:xfrm>
          <a:prstGeom prst="rect">
            <a:avLst/>
          </a:prstGeom>
          <a:solidFill>
            <a:srgbClr val="DD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15887" y="4901184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spc="120">
                <a:solidFill>
                  <a:srgbClr val="00CE9F"/>
                </a:solidFill>
                <a:latin typeface="IBM Plex Mono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73087" y="4846320"/>
            <a:ext cx="453222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111111"/>
                </a:solidFill>
                <a:latin typeface="Neue Montreal"/>
              </a:rPr>
              <a:t>Global Perspective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3087" y="5175504"/>
            <a:ext cx="45322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16161"/>
                </a:solidFill>
                <a:latin typeface="Inter"/>
              </a:rPr>
              <a:t>We build ventures prepared for the world.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15887" y="5687568"/>
            <a:ext cx="4989423" cy="9525"/>
          </a:xfrm>
          <a:prstGeom prst="rect">
            <a:avLst/>
          </a:prstGeom>
          <a:solidFill>
            <a:srgbClr val="DD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2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lob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424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310896"/>
            <a:ext cx="53094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spc="150">
                <a:solidFill>
                  <a:srgbClr val="9AA09E"/>
                </a:solidFill>
                <a:latin typeface="IBM Plex Mono"/>
              </a:rPr>
              <a:t>SHAKTI AI TECHLABS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7" y="310896"/>
            <a:ext cx="53094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 spc="150">
                <a:solidFill>
                  <a:srgbClr val="9AA09E"/>
                </a:solidFill>
                <a:latin typeface="IBM Plex Mono"/>
              </a:rPr>
              <a:t>10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566928"/>
            <a:ext cx="1061892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spc="170">
                <a:solidFill>
                  <a:srgbClr val="00CE9F"/>
                </a:solidFill>
                <a:latin typeface="IBM Plex Mono"/>
              </a:rPr>
              <a:t>PHILOSOPHY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1508760"/>
            <a:ext cx="10618927" cy="9525"/>
          </a:xfrm>
          <a:prstGeom prst="rect">
            <a:avLst/>
          </a:prstGeom>
          <a:solidFill>
            <a:srgbClr val="3A3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1892808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spc="150">
                <a:solidFill>
                  <a:srgbClr val="00CE9F"/>
                </a:solidFill>
                <a:latin typeface="IBM Plex Mon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9344" y="1746504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4000" b="0">
                <a:solidFill>
                  <a:srgbClr val="FCFCFA"/>
                </a:solidFill>
                <a:latin typeface="Neue Montreal"/>
              </a:rPr>
              <a:t>Ideas </a:t>
            </a:r>
            <a:r>
              <a:rPr sz="4000" b="0">
                <a:solidFill>
                  <a:srgbClr val="9AA09E"/>
                </a:solidFill>
                <a:latin typeface="Neue Montreal"/>
              </a:rPr>
              <a:t>inspire.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2715768"/>
            <a:ext cx="10618927" cy="9525"/>
          </a:xfrm>
          <a:prstGeom prst="rect">
            <a:avLst/>
          </a:prstGeom>
          <a:solidFill>
            <a:srgbClr val="3A3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86384" y="3099816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spc="150">
                <a:solidFill>
                  <a:srgbClr val="00CE9F"/>
                </a:solidFill>
                <a:latin typeface="IBM Plex Mon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9344" y="2953512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4000" b="0">
                <a:solidFill>
                  <a:srgbClr val="FCFCFA"/>
                </a:solidFill>
                <a:latin typeface="Neue Montreal"/>
              </a:rPr>
              <a:t>Execution </a:t>
            </a:r>
            <a:r>
              <a:rPr sz="4000" b="0">
                <a:solidFill>
                  <a:srgbClr val="9AA09E"/>
                </a:solidFill>
                <a:latin typeface="Neue Montreal"/>
              </a:rPr>
              <a:t>transforms.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" y="3922776"/>
            <a:ext cx="10618927" cy="9525"/>
          </a:xfrm>
          <a:prstGeom prst="rect">
            <a:avLst/>
          </a:prstGeom>
          <a:solidFill>
            <a:srgbClr val="3A3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86384" y="4306824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spc="150">
                <a:solidFill>
                  <a:srgbClr val="00CE9F"/>
                </a:solidFill>
                <a:latin typeface="IBM Plex Mono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9344" y="416052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4000" b="0">
                <a:solidFill>
                  <a:srgbClr val="FCFCFA"/>
                </a:solidFill>
                <a:latin typeface="Neue Montreal"/>
              </a:rPr>
              <a:t>Collaboration </a:t>
            </a:r>
            <a:r>
              <a:rPr sz="4000" b="0">
                <a:solidFill>
                  <a:srgbClr val="9AA09E"/>
                </a:solidFill>
                <a:latin typeface="Neue Montreal"/>
              </a:rPr>
              <a:t>accelerates.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" y="5129784"/>
            <a:ext cx="10618927" cy="9525"/>
          </a:xfrm>
          <a:prstGeom prst="rect">
            <a:avLst/>
          </a:prstGeom>
          <a:solidFill>
            <a:srgbClr val="3A3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86384" y="5513832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spc="150">
                <a:solidFill>
                  <a:srgbClr val="00CE9F"/>
                </a:solidFill>
                <a:latin typeface="IBM Plex Mono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9344" y="5367528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4000" b="0">
                <a:solidFill>
                  <a:srgbClr val="FCFCFA"/>
                </a:solidFill>
                <a:latin typeface="Neue Montreal"/>
              </a:rPr>
              <a:t>Impact </a:t>
            </a:r>
            <a:r>
              <a:rPr sz="4000" b="0">
                <a:solidFill>
                  <a:srgbClr val="9AA09E"/>
                </a:solidFill>
                <a:latin typeface="Neue Montreal"/>
              </a:rPr>
              <a:t>defines success.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" y="6336792"/>
            <a:ext cx="10618927" cy="9525"/>
          </a:xfrm>
          <a:prstGeom prst="rect">
            <a:avLst/>
          </a:prstGeom>
          <a:solidFill>
            <a:srgbClr val="3A3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CE9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310896"/>
            <a:ext cx="53094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spc="150">
                <a:solidFill>
                  <a:srgbClr val="0B2C24"/>
                </a:solidFill>
                <a:latin typeface="IBM Plex Mono"/>
              </a:rPr>
              <a:t>SHAKTI AI TECHLABS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7" y="310896"/>
            <a:ext cx="53094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50" b="0" spc="150">
                <a:solidFill>
                  <a:srgbClr val="0B2C24"/>
                </a:solidFill>
                <a:latin typeface="IBM Plex Mono"/>
              </a:rPr>
              <a:t>11 / 11</a:t>
            </a:r>
          </a:p>
        </p:txBody>
      </p:sp>
      <p:sp>
        <p:nvSpPr>
          <p:cNvPr id="4" name="Diamond 3"/>
          <p:cNvSpPr/>
          <p:nvPr/>
        </p:nvSpPr>
        <p:spPr>
          <a:xfrm>
            <a:off x="786384" y="1371600"/>
            <a:ext cx="457200" cy="457200"/>
          </a:xfrm>
          <a:prstGeom prst="diamond">
            <a:avLst/>
          </a:prstGeom>
          <a:noFill/>
          <a:ln w="3302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Diamond 4"/>
          <p:cNvSpPr/>
          <p:nvPr/>
        </p:nvSpPr>
        <p:spPr>
          <a:xfrm>
            <a:off x="937260" y="1522476"/>
            <a:ext cx="155448" cy="155448"/>
          </a:xfrm>
          <a:prstGeom prst="diamond">
            <a:avLst/>
          </a:prstGeom>
          <a:noFill/>
          <a:ln w="279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389888" y="139903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11111"/>
                </a:solidFill>
                <a:latin typeface="Neue Montreal"/>
              </a:rPr>
              <a:t>Shakti AI TechLabs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9888" y="1618488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 spc="200">
                <a:solidFill>
                  <a:srgbClr val="0B2C24"/>
                </a:solidFill>
                <a:latin typeface="IBM Plex Mono"/>
              </a:rPr>
              <a:t>BUILDING GLOBAL VENTURES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86000"/>
            <a:ext cx="8229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4400" b="0">
                <a:solidFill>
                  <a:srgbClr val="111111"/>
                </a:solidFill>
                <a:latin typeface="Neue Montreal"/>
              </a:rPr>
              <a:t>Bring us the idea. </a:t>
            </a:r>
            <a:r>
              <a:rPr sz="4400" b="0">
                <a:solidFill>
                  <a:srgbClr val="0B2C24"/>
                </a:solidFill>
                <a:latin typeface="Neue Montreal"/>
              </a:rPr>
              <a:t>We'll help you build the company.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4434840"/>
            <a:ext cx="2834640" cy="566928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86384" y="459028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00CE9F"/>
                </a:solidFill>
                <a:latin typeface="Inter"/>
              </a:rPr>
              <a:t>Start a conversation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557784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spc="150">
                <a:solidFill>
                  <a:srgbClr val="0B2C24"/>
                </a:solidFill>
                <a:latin typeface="IBM Plex Mono"/>
              </a:rPr>
              <a:t>HEADQUARTERS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581558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11111"/>
                </a:solidFill>
                <a:latin typeface="Inter"/>
              </a:rPr>
              <a:t>Vadodara, India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86784" y="557784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spc="150">
                <a:solidFill>
                  <a:srgbClr val="0B2C24"/>
                </a:solidFill>
                <a:latin typeface="IBM Plex Mono"/>
              </a:rPr>
              <a:t>WEB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86784" y="581558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11111"/>
                </a:solidFill>
                <a:latin typeface="Inter"/>
              </a:rPr>
              <a:t>shaktiaitechlabs.com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87184" y="557784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spc="150">
                <a:solidFill>
                  <a:srgbClr val="0B2C24"/>
                </a:solidFill>
                <a:latin typeface="IBM Plex Mono"/>
              </a:rPr>
              <a:t>PART OF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87184" y="581558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11111"/>
                </a:solidFill>
                <a:latin typeface="Inter"/>
              </a:rPr>
              <a:t>The Shakti Ecosystem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