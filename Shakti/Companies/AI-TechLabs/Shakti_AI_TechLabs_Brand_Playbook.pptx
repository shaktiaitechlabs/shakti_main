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tm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42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Diamond 3"/>
          <p:cNvSpPr/>
          <p:nvPr/>
        </p:nvSpPr>
        <p:spPr>
          <a:xfrm>
            <a:off x="786384" y="1280160"/>
            <a:ext cx="512064" cy="512064"/>
          </a:xfrm>
          <a:prstGeom prst="diamond">
            <a:avLst/>
          </a:prstGeom>
          <a:noFill/>
          <a:ln w="33020">
            <a:solidFill>
              <a:srgbClr val="00CE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Diamond 4"/>
          <p:cNvSpPr/>
          <p:nvPr/>
        </p:nvSpPr>
        <p:spPr>
          <a:xfrm>
            <a:off x="955365" y="1449141"/>
            <a:ext cx="174101" cy="174101"/>
          </a:xfrm>
          <a:prstGeom prst="diamond">
            <a:avLst/>
          </a:prstGeom>
          <a:noFill/>
          <a:ln w="27940">
            <a:solidFill>
              <a:srgbClr val="FCF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481328" y="13350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CFCFA"/>
                </a:solidFill>
                <a:latin typeface="Neue Montreal"/>
              </a:rPr>
              <a:t>Shakti AI TechLabs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9105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spc="200">
                <a:solidFill>
                  <a:srgbClr val="00CE9F"/>
                </a:solidFill>
                <a:latin typeface="IBM Plex Mono"/>
              </a:rPr>
              <a:t>BUILDING GLOBAL VENTURES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77440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5800">
                <a:solidFill>
                  <a:srgbClr val="FCFCFA"/>
                </a:solidFill>
                <a:latin typeface="Neue Montreal"/>
              </a:rPr>
              <a:t>Brand playbook </a:t>
            </a:r>
            <a:r>
              <a:rPr sz="5800">
                <a:solidFill>
                  <a:srgbClr val="9AA09E"/>
                </a:solidFill>
                <a:latin typeface="Neue Montreal"/>
              </a:rPr>
              <a:t>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12064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spc="160">
                <a:solidFill>
                  <a:srgbClr val="00CE9F"/>
                </a:solidFill>
                <a:latin typeface="IBM Plex Mono"/>
              </a:rPr>
              <a:t>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535838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CFCFA"/>
                </a:solidFill>
                <a:latin typeface="Inter"/>
              </a:rPr>
              <a:t>Shakti AI TechLabs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8224" y="512064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spc="160">
                <a:solidFill>
                  <a:srgbClr val="00CE9F"/>
                </a:solidFill>
                <a:latin typeface="IBM Plex Mono"/>
              </a:rPr>
              <a:t>PARENT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4" y="535838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CFCFA"/>
                </a:solidFill>
                <a:latin typeface="Inter"/>
              </a:rPr>
              <a:t>The Shakti Ecosystem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0064" y="512064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spc="160">
                <a:solidFill>
                  <a:srgbClr val="00CE9F"/>
                </a:solidFill>
                <a:latin typeface="IBM Plex Mono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0064" y="535838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CFCFA"/>
                </a:solidFill>
                <a:latin typeface="Inter"/>
              </a:rPr>
              <a:t>Working 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6035040"/>
            <a:ext cx="10618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130">
                <a:solidFill>
                  <a:srgbClr val="9AA09E"/>
                </a:solidFill>
                <a:latin typeface="IBM Plex Mono"/>
              </a:rPr>
              <a:t>THE SHAKTI GROUP IDENTITY IS A SEPARATE SYSTEM AND IS UNCHANGED BY THIS DOCUMENT.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SHAKTI AI TECHLABS — BRAND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7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02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03504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70">
                <a:solidFill>
                  <a:srgbClr val="616161"/>
                </a:solidFill>
                <a:latin typeface="IBM Plex Mono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012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>
                <a:solidFill>
                  <a:srgbClr val="111111"/>
                </a:solidFill>
                <a:latin typeface="Neue Montreal"/>
              </a:rPr>
              <a:t>Where this playbook applies </a:t>
            </a:r>
            <a:r>
              <a:rPr sz="3400">
                <a:solidFill>
                  <a:srgbClr val="616161"/>
                </a:solidFill>
                <a:latin typeface="Neue Montreal"/>
              </a:rPr>
              <a:t>— and where it does not.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2286000"/>
            <a:ext cx="10618927" cy="3200400"/>
          </a:xfrm>
          <a:prstGeom prst="roundRect">
            <a:avLst>
              <a:gd name="adj" fmla="val 6000"/>
            </a:avLst>
          </a:prstGeom>
          <a:solidFill>
            <a:srgbClr val="F4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52144" y="257860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spc="140">
                <a:solidFill>
                  <a:srgbClr val="616161"/>
                </a:solidFill>
                <a:latin typeface="IBM Plex Mono"/>
              </a:rPr>
              <a:t>THE SHAKTI ECOSYSTEM — NORDIC BLUE IDENTITY, UNCHANGED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52144" y="3063240"/>
            <a:ext cx="1271407" cy="658368"/>
          </a:xfrm>
          <a:prstGeom prst="roundRect">
            <a:avLst>
              <a:gd name="adj" fmla="val 14000"/>
            </a:avLst>
          </a:prstGeom>
          <a:solidFill>
            <a:srgbClr val="FEF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52144" y="3291840"/>
            <a:ext cx="127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16161"/>
                </a:solidFill>
                <a:latin typeface="Inter"/>
              </a:rPr>
              <a:t>Sports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88143" y="3063240"/>
            <a:ext cx="1271407" cy="658368"/>
          </a:xfrm>
          <a:prstGeom prst="roundRect">
            <a:avLst>
              <a:gd name="adj" fmla="val 14000"/>
            </a:avLst>
          </a:prstGeom>
          <a:solidFill>
            <a:srgbClr val="FEF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588143" y="3291840"/>
            <a:ext cx="127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16161"/>
                </a:solidFill>
                <a:latin typeface="Inter"/>
              </a:rPr>
              <a:t>Sustainability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4143" y="3063240"/>
            <a:ext cx="1271407" cy="658368"/>
          </a:xfrm>
          <a:prstGeom prst="roundRect">
            <a:avLst>
              <a:gd name="adj" fmla="val 14000"/>
            </a:avLst>
          </a:prstGeom>
          <a:solidFill>
            <a:srgbClr val="FEF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024143" y="3291840"/>
            <a:ext cx="127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16161"/>
                </a:solidFill>
                <a:latin typeface="Inter"/>
              </a:rPr>
              <a:t>Hospitality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60143" y="3063240"/>
            <a:ext cx="1271407" cy="658368"/>
          </a:xfrm>
          <a:prstGeom prst="roundRect">
            <a:avLst>
              <a:gd name="adj" fmla="val 14000"/>
            </a:avLst>
          </a:prstGeom>
          <a:solidFill>
            <a:srgbClr val="FEF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60143" y="3291840"/>
            <a:ext cx="127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16161"/>
                </a:solidFill>
                <a:latin typeface="Inter"/>
              </a:rPr>
              <a:t>Engineering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96143" y="3063240"/>
            <a:ext cx="1271407" cy="658368"/>
          </a:xfrm>
          <a:prstGeom prst="roundRect">
            <a:avLst>
              <a:gd name="adj" fmla="val 14000"/>
            </a:avLst>
          </a:prstGeom>
          <a:solidFill>
            <a:srgbClr val="FEF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96143" y="3291840"/>
            <a:ext cx="127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16161"/>
                </a:solidFill>
                <a:latin typeface="Inter"/>
              </a:rPr>
              <a:t>Manufacturing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32143" y="3063240"/>
            <a:ext cx="1271407" cy="658368"/>
          </a:xfrm>
          <a:prstGeom prst="roundRect">
            <a:avLst>
              <a:gd name="adj" fmla="val 14000"/>
            </a:avLst>
          </a:prstGeom>
          <a:solidFill>
            <a:srgbClr val="FEF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32143" y="3291840"/>
            <a:ext cx="127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16161"/>
                </a:solidFill>
                <a:latin typeface="Inter"/>
              </a:rPr>
              <a:t>Business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68143" y="3063240"/>
            <a:ext cx="1271407" cy="658368"/>
          </a:xfrm>
          <a:prstGeom prst="roundRect">
            <a:avLst>
              <a:gd name="adj" fmla="val 14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768143" y="3291840"/>
            <a:ext cx="127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1">
                <a:solidFill>
                  <a:srgbClr val="00CE9F"/>
                </a:solidFill>
                <a:latin typeface="Inter"/>
              </a:rPr>
              <a:t>AI TechLabs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97497" y="3721608"/>
            <a:ext cx="12700" cy="457200"/>
          </a:xfrm>
          <a:prstGeom prst="rect">
            <a:avLst/>
          </a:prstGeom>
          <a:solidFill>
            <a:srgbClr val="00C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1152144" y="4178807"/>
            <a:ext cx="9887407" cy="960120"/>
          </a:xfrm>
          <a:prstGeom prst="roundRect">
            <a:avLst>
              <a:gd name="adj" fmla="val 12000"/>
            </a:avLst>
          </a:prstGeom>
          <a:solidFill>
            <a:srgbClr val="00C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517904" y="4425696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11111"/>
                </a:solidFill>
                <a:latin typeface="Neue Montreal"/>
              </a:rPr>
              <a:t>This playbook governs the highlighted venture only.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7904" y="477316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0B2C24"/>
                </a:solidFill>
                <a:latin typeface="Inter"/>
              </a:rPr>
              <a:t>Palette, type, components and imagery below apply to Shakti AI TechLabs. Do not apply them to group materials.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SHAKTI AI TECHLABS — BRAND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7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03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03504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70">
                <a:solidFill>
                  <a:srgbClr val="616161"/>
                </a:solidFill>
                <a:latin typeface="IBM Plex Mono"/>
              </a:rPr>
              <a:t>COLOUR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012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>
                <a:solidFill>
                  <a:srgbClr val="111111"/>
                </a:solidFill>
                <a:latin typeface="Neue Montreal"/>
              </a:rPr>
              <a:t>One accent. Three grounds. </a:t>
            </a:r>
            <a:r>
              <a:rPr sz="3400">
                <a:solidFill>
                  <a:srgbClr val="616161"/>
                </a:solidFill>
                <a:latin typeface="Neue Montreal"/>
              </a:rPr>
              <a:t>No fourth hue.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2286000"/>
            <a:ext cx="1992111" cy="1051560"/>
          </a:xfrm>
          <a:prstGeom prst="rect">
            <a:avLst/>
          </a:prstGeom>
          <a:solidFill>
            <a:srgbClr val="00C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86384" y="3456432"/>
            <a:ext cx="19921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111"/>
                </a:solidFill>
                <a:latin typeface="Neue Montreal"/>
              </a:rPr>
              <a:t>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694176"/>
            <a:ext cx="19921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111"/>
                </a:solidFill>
                <a:latin typeface="IBM Plex Mono"/>
              </a:rPr>
              <a:t>#00CE9F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931920"/>
            <a:ext cx="1992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750" b="0" spc="110">
                <a:solidFill>
                  <a:srgbClr val="616161"/>
                </a:solidFill>
                <a:latin typeface="IBM Plex Mono"/>
              </a:rPr>
              <a:t>ACCENT — CTAS, OWNED SECTIONS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3087" y="2286000"/>
            <a:ext cx="1992111" cy="1051560"/>
          </a:xfrm>
          <a:prstGeom prst="rect">
            <a:avLst/>
          </a:prstGeom>
          <a:solidFill>
            <a:srgbClr val="BFF3E7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943087" y="3456432"/>
            <a:ext cx="19921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111"/>
                </a:solidFill>
                <a:latin typeface="Neue Montreal"/>
              </a:rPr>
              <a:t>Signal 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3087" y="3694176"/>
            <a:ext cx="19921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111"/>
                </a:solidFill>
                <a:latin typeface="IBM Plex Mono"/>
              </a:rPr>
              <a:t>#BFF3E7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3087" y="3931920"/>
            <a:ext cx="1992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750" b="0" spc="110">
                <a:solidFill>
                  <a:srgbClr val="616161"/>
                </a:solidFill>
                <a:latin typeface="IBM Plex Mono"/>
              </a:rPr>
              <a:t>DECORATIVE ONLY, NEVER 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99791" y="2286000"/>
            <a:ext cx="1992111" cy="1051560"/>
          </a:xfrm>
          <a:prstGeom prst="rect">
            <a:avLst/>
          </a:prstGeom>
          <a:solidFill>
            <a:srgbClr val="F4F7E9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99791" y="3456432"/>
            <a:ext cx="19921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111"/>
                </a:solidFill>
                <a:latin typeface="Neue Montreal"/>
              </a:rPr>
              <a:t>Paper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9791" y="3694176"/>
            <a:ext cx="19921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111"/>
                </a:solidFill>
                <a:latin typeface="IBM Plex Mono"/>
              </a:rPr>
              <a:t>#F4F7E9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9791" y="3931920"/>
            <a:ext cx="1992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750" b="0" spc="110">
                <a:solidFill>
                  <a:srgbClr val="616161"/>
                </a:solidFill>
                <a:latin typeface="IBM Plex Mono"/>
              </a:rPr>
              <a:t>CREAM GROUND — CARDS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56495" y="2286000"/>
            <a:ext cx="1992111" cy="1051560"/>
          </a:xfrm>
          <a:prstGeom prst="rect">
            <a:avLst/>
          </a:prstGeom>
          <a:solidFill>
            <a:srgbClr val="FCFCFA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56495" y="3456432"/>
            <a:ext cx="19921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111"/>
                </a:solidFill>
                <a:latin typeface="Neue Montreal"/>
              </a:rPr>
              <a:t>Canvas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6495" y="3694176"/>
            <a:ext cx="19921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111"/>
                </a:solidFill>
                <a:latin typeface="IBM Plex Mono"/>
              </a:rPr>
              <a:t>#FCFCFA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6495" y="3931920"/>
            <a:ext cx="1992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750" b="0" spc="110">
                <a:solidFill>
                  <a:srgbClr val="616161"/>
                </a:solidFill>
                <a:latin typeface="IBM Plex Mono"/>
              </a:rPr>
              <a:t>DEFAULT PAGE GROUND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3199" y="2286000"/>
            <a:ext cx="1992111" cy="1051560"/>
          </a:xfrm>
          <a:prstGeom prst="rect">
            <a:avLst/>
          </a:prstGeom>
          <a:solidFill>
            <a:srgbClr val="FEFFFA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413199" y="3456432"/>
            <a:ext cx="19921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111"/>
                </a:solidFill>
                <a:latin typeface="Neue Montreal"/>
              </a:rPr>
              <a:t>Riser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3199" y="3694176"/>
            <a:ext cx="19921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111"/>
                </a:solidFill>
                <a:latin typeface="IBM Plex Mono"/>
              </a:rPr>
              <a:t>#FEFFFA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3199" y="3931920"/>
            <a:ext cx="1992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750" b="0" spc="110">
                <a:solidFill>
                  <a:srgbClr val="616161"/>
                </a:solidFill>
                <a:latin typeface="IBM Plex Mono"/>
              </a:rPr>
              <a:t>RAISED CARD ON CREAM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" y="4434840"/>
            <a:ext cx="1992111" cy="105156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86384" y="5605272"/>
            <a:ext cx="19921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111"/>
                </a:solidFill>
                <a:latin typeface="Neue Montreal"/>
              </a:rPr>
              <a:t>Slate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5843016"/>
            <a:ext cx="19921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111"/>
                </a:solidFill>
                <a:latin typeface="IBM Plex Mono"/>
              </a:rPr>
              <a:t>#242424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6080760"/>
            <a:ext cx="1992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750" b="0" spc="110">
                <a:solidFill>
                  <a:srgbClr val="616161"/>
                </a:solidFill>
                <a:latin typeface="IBM Plex Mono"/>
              </a:rPr>
              <a:t>DARK GROUND — AUTHORITY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43087" y="4434840"/>
            <a:ext cx="1992111" cy="1051560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943087" y="5605272"/>
            <a:ext cx="19921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111"/>
                </a:solidFill>
                <a:latin typeface="Neue Montreal"/>
              </a:rPr>
              <a:t>Slate Riser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3087" y="5843016"/>
            <a:ext cx="19921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111"/>
                </a:solidFill>
                <a:latin typeface="IBM Plex Mono"/>
              </a:rPr>
              <a:t>#3D3D3D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43087" y="6080760"/>
            <a:ext cx="1992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750" b="0" spc="110">
                <a:solidFill>
                  <a:srgbClr val="616161"/>
                </a:solidFill>
                <a:latin typeface="IBM Plex Mono"/>
              </a:rPr>
              <a:t>RAISED CARD ON DARK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99791" y="4434840"/>
            <a:ext cx="1992111" cy="10515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099791" y="5605272"/>
            <a:ext cx="19921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111"/>
                </a:solidFill>
                <a:latin typeface="Neue Montreal"/>
              </a:rPr>
              <a:t>Ink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99791" y="5843016"/>
            <a:ext cx="19921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111"/>
                </a:solidFill>
                <a:latin typeface="IBM Plex Mono"/>
              </a:rPr>
              <a:t>#111111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99791" y="6080760"/>
            <a:ext cx="1992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750" b="0" spc="110">
                <a:solidFill>
                  <a:srgbClr val="616161"/>
                </a:solidFill>
                <a:latin typeface="IBM Plex Mono"/>
              </a:rPr>
              <a:t>PRIMARY TYPE, DARK BUTTONS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56495" y="4434840"/>
            <a:ext cx="1992111" cy="1051560"/>
          </a:xfrm>
          <a:prstGeom prst="rect">
            <a:avLst/>
          </a:prstGeom>
          <a:solidFill>
            <a:srgbClr val="6161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256495" y="5605272"/>
            <a:ext cx="19921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111"/>
                </a:solidFill>
                <a:latin typeface="Neue Montreal"/>
              </a:rPr>
              <a:t>Ink Muted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56495" y="5843016"/>
            <a:ext cx="19921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111"/>
                </a:solidFill>
                <a:latin typeface="IBM Plex Mono"/>
              </a:rPr>
              <a:t>#616161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6495" y="6080760"/>
            <a:ext cx="1992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750" b="0" spc="110">
                <a:solidFill>
                  <a:srgbClr val="616161"/>
                </a:solidFill>
                <a:latin typeface="IBM Plex Mono"/>
              </a:rPr>
              <a:t>BODY COPY, SECOND CLAUSE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13199" y="4434840"/>
            <a:ext cx="1992111" cy="1051560"/>
          </a:xfrm>
          <a:prstGeom prst="rect">
            <a:avLst/>
          </a:prstGeom>
          <a:solidFill>
            <a:srgbClr val="9AA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413199" y="5605272"/>
            <a:ext cx="19921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111"/>
                </a:solidFill>
                <a:latin typeface="Neue Montreal"/>
              </a:rPr>
              <a:t>Ink Muted Dk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3199" y="5843016"/>
            <a:ext cx="19921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111"/>
                </a:solidFill>
                <a:latin typeface="IBM Plex Mono"/>
              </a:rPr>
              <a:t>#9AA09E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3199" y="6080760"/>
            <a:ext cx="1992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750" b="0" spc="110">
                <a:solidFill>
                  <a:srgbClr val="616161"/>
                </a:solidFill>
                <a:latin typeface="IBM Plex Mono"/>
              </a:rPr>
              <a:t>BODY COPY ON SLATE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SHAKTI AI TECHLABS — BRAND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7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04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03504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70">
                <a:solidFill>
                  <a:srgbClr val="616161"/>
                </a:solidFill>
                <a:latin typeface="IBM Plex Mono"/>
              </a:rPr>
              <a:t>COLOUR · THE ONE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012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>
                <a:solidFill>
                  <a:srgbClr val="111111"/>
                </a:solidFill>
                <a:latin typeface="Neue Montreal"/>
              </a:rPr>
              <a:t>Ink on the accent. </a:t>
            </a:r>
            <a:r>
              <a:rPr sz="3400">
                <a:solidFill>
                  <a:srgbClr val="616161"/>
                </a:solidFill>
                <a:latin typeface="Neue Montreal"/>
              </a:rPr>
              <a:t>Never white.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5740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16161"/>
                </a:solidFill>
                <a:latin typeface="Inter"/>
              </a:rPr>
              <a:t>Signal is a light green. White type on it fails at 2.03:1. Ink on the same green reaches 9.29:1 — the surface is identical, only the label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926080"/>
            <a:ext cx="5126583" cy="2286000"/>
          </a:xfrm>
          <a:prstGeom prst="roundRect">
            <a:avLst>
              <a:gd name="adj" fmla="val 7000"/>
            </a:avLst>
          </a:prstGeom>
          <a:solidFill>
            <a:srgbClr val="00C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43584" y="3310128"/>
            <a:ext cx="42121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FFFFFF"/>
                </a:solidFill>
                <a:latin typeface="Neue Montreal"/>
              </a:rPr>
              <a:t>Get started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4041648"/>
            <a:ext cx="42121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Inter"/>
              </a:rPr>
              <a:t>Every dollar of spend tied to revenue.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4526280"/>
            <a:ext cx="42121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FFFFF"/>
                </a:solidFill>
                <a:latin typeface="IBM Plex Mono"/>
              </a:rPr>
              <a:t>2.03 :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5349240"/>
            <a:ext cx="51265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130">
                <a:solidFill>
                  <a:srgbClr val="616161"/>
                </a:solidFill>
                <a:latin typeface="IBM Plex Mono"/>
              </a:rPr>
              <a:t>AS SHIPPED BY THE REFERENCE SITE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565099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A93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6384" y="571500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spc="120">
                <a:solidFill>
                  <a:srgbClr val="FCFCFA"/>
                </a:solidFill>
                <a:latin typeface="IBM Plex Mono"/>
              </a:rPr>
              <a:t>BANNED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926080"/>
            <a:ext cx="5126583" cy="2286000"/>
          </a:xfrm>
          <a:prstGeom prst="roundRect">
            <a:avLst>
              <a:gd name="adj" fmla="val 7000"/>
            </a:avLst>
          </a:prstGeom>
          <a:solidFill>
            <a:srgbClr val="00C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735927" y="3310128"/>
            <a:ext cx="42121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111111"/>
                </a:solidFill>
                <a:latin typeface="Neue Montreal"/>
              </a:rPr>
              <a:t>Get started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5927" y="4041648"/>
            <a:ext cx="42121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111"/>
                </a:solidFill>
                <a:latin typeface="Inter"/>
              </a:rPr>
              <a:t>Every dollar of spend tied to revenue.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4526280"/>
            <a:ext cx="42121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11111"/>
                </a:solidFill>
                <a:latin typeface="IBM Plex Mono"/>
              </a:rPr>
              <a:t>9.29 :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5349240"/>
            <a:ext cx="51265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130">
                <a:solidFill>
                  <a:srgbClr val="616161"/>
                </a:solidFill>
                <a:latin typeface="IBM Plex Mono"/>
              </a:rPr>
              <a:t>SHAKTI AI TECHLABS STANDARD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565099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77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78727" y="571500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 spc="120">
                <a:solidFill>
                  <a:srgbClr val="FCFCFA"/>
                </a:solidFill>
                <a:latin typeface="IBM Plex Mono"/>
              </a:rPr>
              <a:t>PASS AA / AAA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6263640"/>
            <a:ext cx="10618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130">
                <a:solidFill>
                  <a:srgbClr val="616161"/>
                </a:solidFill>
                <a:latin typeface="IBM Plex Mono"/>
              </a:rPr>
              <a:t>SIGNAL IS A SURFACE ON LIGHT GROUNDS, AND A COLOUR OF TYPE ONLY ON SLATE. GREEN WORDS ON CANVAS MEASURE 1.98:1.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SHAKTI AI TECHLABS — BRAND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7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05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03504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70">
                <a:solidFill>
                  <a:srgbClr val="616161"/>
                </a:solidFill>
                <a:latin typeface="IBM Plex Mono"/>
              </a:rPr>
              <a:t>COLOUR · ZONING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012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>
                <a:solidFill>
                  <a:srgbClr val="111111"/>
                </a:solidFill>
                <a:latin typeface="Neue Montreal"/>
              </a:rPr>
              <a:t>A section owns a ground, </a:t>
            </a:r>
            <a:r>
              <a:rPr sz="3400">
                <a:solidFill>
                  <a:srgbClr val="616161"/>
                </a:solidFill>
                <a:latin typeface="Neue Montreal"/>
              </a:rPr>
              <a:t>or does not touch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574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616161"/>
                </a:solidFill>
                <a:latin typeface="Inter"/>
              </a:rPr>
              <a:t>Accent as garnish — a green underline here, a green icon there — is the failure this system prevents. Measured across the company deck, no two adjacent sections share a ground.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3108960"/>
            <a:ext cx="965357" cy="13716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4553712"/>
            <a:ext cx="96535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650" b="0" spc="100">
                <a:solidFill>
                  <a:srgbClr val="616161"/>
                </a:solidFill>
                <a:latin typeface="IBM Plex Mono"/>
              </a:rPr>
              <a:t>SLATE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310128"/>
            <a:ext cx="96535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9AA09E"/>
                </a:solidFill>
                <a:latin typeface="IBM Plex Mono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51741" y="3108960"/>
            <a:ext cx="965357" cy="13716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751741" y="4553712"/>
            <a:ext cx="96535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650" b="0" spc="100">
                <a:solidFill>
                  <a:srgbClr val="616161"/>
                </a:solidFill>
                <a:latin typeface="IBM Plex Mono"/>
              </a:rPr>
              <a:t>SLATE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1741" y="3310128"/>
            <a:ext cx="96535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9AA09E"/>
                </a:solidFill>
                <a:latin typeface="IBM Plex Mono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17098" y="3108960"/>
            <a:ext cx="965357" cy="1371600"/>
          </a:xfrm>
          <a:prstGeom prst="rect">
            <a:avLst/>
          </a:prstGeom>
          <a:solidFill>
            <a:srgbClr val="FCFCFA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717098" y="4553712"/>
            <a:ext cx="96535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650" b="0" spc="100">
                <a:solidFill>
                  <a:srgbClr val="616161"/>
                </a:solidFill>
                <a:latin typeface="IBM Plex Mono"/>
              </a:rPr>
              <a:t>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7098" y="3310128"/>
            <a:ext cx="96535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616161"/>
                </a:solidFill>
                <a:latin typeface="IBM Plex Mono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2455" y="3108960"/>
            <a:ext cx="965357" cy="1371600"/>
          </a:xfrm>
          <a:prstGeom prst="rect">
            <a:avLst/>
          </a:prstGeom>
          <a:solidFill>
            <a:srgbClr val="FCFCFA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82455" y="4553712"/>
            <a:ext cx="96535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650" b="0" spc="100">
                <a:solidFill>
                  <a:srgbClr val="616161"/>
                </a:solidFill>
                <a:latin typeface="IBM Plex Mono"/>
              </a:rPr>
              <a:t>CANVAS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2455" y="3310128"/>
            <a:ext cx="96535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616161"/>
                </a:solidFill>
                <a:latin typeface="IBM Plex Mono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47812" y="3108960"/>
            <a:ext cx="965357" cy="1371600"/>
          </a:xfrm>
          <a:prstGeom prst="rect">
            <a:avLst/>
          </a:prstGeom>
          <a:solidFill>
            <a:srgbClr val="F4F7E9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47812" y="4553712"/>
            <a:ext cx="96535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650" b="0" spc="100">
                <a:solidFill>
                  <a:srgbClr val="616161"/>
                </a:solidFill>
                <a:latin typeface="IBM Plex Mono"/>
              </a:rPr>
              <a:t>CREAM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7812" y="3310128"/>
            <a:ext cx="96535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616161"/>
                </a:solidFill>
                <a:latin typeface="IBM Plex Mono"/>
              </a:rP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13169" y="3108960"/>
            <a:ext cx="965357" cy="1371600"/>
          </a:xfrm>
          <a:prstGeom prst="rect">
            <a:avLst/>
          </a:prstGeom>
          <a:solidFill>
            <a:srgbClr val="FCFCFA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613169" y="4553712"/>
            <a:ext cx="96535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650" b="0" spc="100">
                <a:solidFill>
                  <a:srgbClr val="616161"/>
                </a:solidFill>
                <a:latin typeface="IBM Plex Mono"/>
              </a:rPr>
              <a:t>CANVAS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13169" y="3310128"/>
            <a:ext cx="96535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616161"/>
                </a:solidFill>
                <a:latin typeface="IBM Plex Mono"/>
              </a:rPr>
              <a:t>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78526" y="3108960"/>
            <a:ext cx="965357" cy="1371600"/>
          </a:xfrm>
          <a:prstGeom prst="rect">
            <a:avLst/>
          </a:prstGeom>
          <a:solidFill>
            <a:srgbClr val="00C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78526" y="4553712"/>
            <a:ext cx="96535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650" b="0" spc="100">
                <a:solidFill>
                  <a:srgbClr val="616161"/>
                </a:solidFill>
                <a:latin typeface="IBM Plex Mono"/>
              </a:rPr>
              <a:t>SIGNAL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8526" y="3310128"/>
            <a:ext cx="96535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0B2C24"/>
                </a:solidFill>
                <a:latin typeface="IBM Plex Mono"/>
              </a:rPr>
              <a:t>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83" y="3108960"/>
            <a:ext cx="965357" cy="13716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43883" y="4553712"/>
            <a:ext cx="96535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650" b="0" spc="100">
                <a:solidFill>
                  <a:srgbClr val="616161"/>
                </a:solidFill>
                <a:latin typeface="IBM Plex Mono"/>
              </a:rPr>
              <a:t>SLATE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83" y="3310128"/>
            <a:ext cx="96535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9AA09E"/>
                </a:solidFill>
                <a:latin typeface="IBM Plex Mono"/>
              </a:rPr>
              <a:t>08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9240" y="3108960"/>
            <a:ext cx="965357" cy="1371600"/>
          </a:xfrm>
          <a:prstGeom prst="rect">
            <a:avLst/>
          </a:prstGeom>
          <a:solidFill>
            <a:srgbClr val="F4F7E9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509240" y="4553712"/>
            <a:ext cx="96535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650" b="0" spc="100">
                <a:solidFill>
                  <a:srgbClr val="616161"/>
                </a:solidFill>
                <a:latin typeface="IBM Plex Mono"/>
              </a:rPr>
              <a:t>CREAM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9240" y="3310128"/>
            <a:ext cx="96535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616161"/>
                </a:solidFill>
                <a:latin typeface="IBM Plex Mono"/>
              </a:rPr>
              <a:t>09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74597" y="3108960"/>
            <a:ext cx="965357" cy="13716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474597" y="4553712"/>
            <a:ext cx="96535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650" b="0" spc="100">
                <a:solidFill>
                  <a:srgbClr val="616161"/>
                </a:solidFill>
                <a:latin typeface="IBM Plex Mono"/>
              </a:rPr>
              <a:t>SLATE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4597" y="3310128"/>
            <a:ext cx="96535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9AA09E"/>
                </a:solidFill>
                <a:latin typeface="IBM Plex Mono"/>
              </a:rPr>
              <a:t>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439954" y="3108960"/>
            <a:ext cx="965357" cy="1371600"/>
          </a:xfrm>
          <a:prstGeom prst="rect">
            <a:avLst/>
          </a:prstGeom>
          <a:solidFill>
            <a:srgbClr val="00C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439954" y="4553712"/>
            <a:ext cx="96535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650" b="0" spc="100">
                <a:solidFill>
                  <a:srgbClr val="616161"/>
                </a:solidFill>
                <a:latin typeface="IBM Plex Mono"/>
              </a:rPr>
              <a:t>SIGNAL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39954" y="3310128"/>
            <a:ext cx="96535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0B2C24"/>
                </a:solidFill>
                <a:latin typeface="IBM Plex Mono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" y="493776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spc="140">
                <a:solidFill>
                  <a:srgbClr val="616161"/>
                </a:solidFill>
                <a:latin typeface="IBM Plex Mono"/>
              </a:rPr>
              <a:t>GROUND RHYTHM ACROSS THE ELEVEN-SLIDE COMPANY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SHAKTI AI TECHLABS — BRAND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7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06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03504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70">
                <a:solidFill>
                  <a:srgbClr val="616161"/>
                </a:solidFill>
                <a:latin typeface="IBM Plex Mono"/>
              </a:rPr>
              <a:t>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012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>
                <a:solidFill>
                  <a:srgbClr val="111111"/>
                </a:solidFill>
                <a:latin typeface="Neue Montreal"/>
              </a:rPr>
              <a:t>One mark, </a:t>
            </a:r>
            <a:r>
              <a:rPr sz="3400">
                <a:solidFill>
                  <a:srgbClr val="616161"/>
                </a:solidFill>
                <a:latin typeface="Neue Montreal"/>
              </a:rPr>
              <a:t>four grounds.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2194560"/>
            <a:ext cx="2531287" cy="1828800"/>
          </a:xfrm>
          <a:prstGeom prst="rect">
            <a:avLst/>
          </a:prstGeom>
          <a:solidFill>
            <a:srgbClr val="FCFCFA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iamond 6"/>
          <p:cNvSpPr/>
          <p:nvPr/>
        </p:nvSpPr>
        <p:spPr>
          <a:xfrm>
            <a:off x="1722843" y="2606040"/>
            <a:ext cx="658368" cy="658368"/>
          </a:xfrm>
          <a:prstGeom prst="diamond">
            <a:avLst/>
          </a:prstGeom>
          <a:noFill/>
          <a:ln w="33020">
            <a:solidFill>
              <a:srgbClr val="00CE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iamond 7"/>
          <p:cNvSpPr/>
          <p:nvPr/>
        </p:nvSpPr>
        <p:spPr>
          <a:xfrm>
            <a:off x="1940105" y="2823301"/>
            <a:ext cx="223845" cy="223845"/>
          </a:xfrm>
          <a:prstGeom prst="diamond">
            <a:avLst/>
          </a:prstGeom>
          <a:noFill/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6384" y="4160520"/>
            <a:ext cx="253128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 spc="130">
                <a:solidFill>
                  <a:srgbClr val="616161"/>
                </a:solidFill>
                <a:latin typeface="IBM Plex Mono"/>
              </a:rPr>
              <a:t>ON CANVAS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82263" y="2194560"/>
            <a:ext cx="2531287" cy="1828800"/>
          </a:xfrm>
          <a:prstGeom prst="rect">
            <a:avLst/>
          </a:prstGeom>
          <a:solidFill>
            <a:srgbClr val="F4F7E9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iamond 10"/>
          <p:cNvSpPr/>
          <p:nvPr/>
        </p:nvSpPr>
        <p:spPr>
          <a:xfrm>
            <a:off x="4418723" y="2606040"/>
            <a:ext cx="658368" cy="658368"/>
          </a:xfrm>
          <a:prstGeom prst="diamond">
            <a:avLst/>
          </a:prstGeom>
          <a:noFill/>
          <a:ln w="33020">
            <a:solidFill>
              <a:srgbClr val="00CE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iamond 11"/>
          <p:cNvSpPr/>
          <p:nvPr/>
        </p:nvSpPr>
        <p:spPr>
          <a:xfrm>
            <a:off x="4635985" y="2823301"/>
            <a:ext cx="223845" cy="223845"/>
          </a:xfrm>
          <a:prstGeom prst="diamond">
            <a:avLst/>
          </a:prstGeom>
          <a:noFill/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482263" y="4160520"/>
            <a:ext cx="253128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 spc="130">
                <a:solidFill>
                  <a:srgbClr val="616161"/>
                </a:solidFill>
                <a:latin typeface="IBM Plex Mono"/>
              </a:rPr>
              <a:t>ON PAPER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8143" y="2194560"/>
            <a:ext cx="2531287" cy="182880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iamond 14"/>
          <p:cNvSpPr/>
          <p:nvPr/>
        </p:nvSpPr>
        <p:spPr>
          <a:xfrm>
            <a:off x="7114603" y="2606040"/>
            <a:ext cx="658368" cy="658368"/>
          </a:xfrm>
          <a:prstGeom prst="diamond">
            <a:avLst/>
          </a:prstGeom>
          <a:noFill/>
          <a:ln w="33020">
            <a:solidFill>
              <a:srgbClr val="00CE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Diamond 15"/>
          <p:cNvSpPr/>
          <p:nvPr/>
        </p:nvSpPr>
        <p:spPr>
          <a:xfrm>
            <a:off x="7331864" y="2823301"/>
            <a:ext cx="223845" cy="223845"/>
          </a:xfrm>
          <a:prstGeom prst="diamond">
            <a:avLst/>
          </a:prstGeom>
          <a:noFill/>
          <a:ln w="27940">
            <a:solidFill>
              <a:srgbClr val="FCF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178143" y="4160520"/>
            <a:ext cx="253128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 spc="130">
                <a:solidFill>
                  <a:srgbClr val="616161"/>
                </a:solidFill>
                <a:latin typeface="IBM Plex Mono"/>
              </a:rPr>
              <a:t>ON SLATE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74023" y="2194560"/>
            <a:ext cx="2531287" cy="1828800"/>
          </a:xfrm>
          <a:prstGeom prst="rect">
            <a:avLst/>
          </a:prstGeom>
          <a:solidFill>
            <a:srgbClr val="00C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Diamond 18"/>
          <p:cNvSpPr/>
          <p:nvPr/>
        </p:nvSpPr>
        <p:spPr>
          <a:xfrm>
            <a:off x="9810483" y="2606040"/>
            <a:ext cx="658368" cy="658368"/>
          </a:xfrm>
          <a:prstGeom prst="diamond">
            <a:avLst/>
          </a:prstGeom>
          <a:noFill/>
          <a:ln w="3302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Diamond 19"/>
          <p:cNvSpPr/>
          <p:nvPr/>
        </p:nvSpPr>
        <p:spPr>
          <a:xfrm>
            <a:off x="10027744" y="2823301"/>
            <a:ext cx="223845" cy="223845"/>
          </a:xfrm>
          <a:prstGeom prst="diamond">
            <a:avLst/>
          </a:prstGeom>
          <a:noFill/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874023" y="4160520"/>
            <a:ext cx="253128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 spc="130">
                <a:solidFill>
                  <a:srgbClr val="616161"/>
                </a:solidFill>
                <a:latin typeface="IBM Plex Mono"/>
              </a:rPr>
              <a:t>ON SIGNAL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" y="4709160"/>
            <a:ext cx="10618927" cy="1417320"/>
          </a:xfrm>
          <a:prstGeom prst="roundRect">
            <a:avLst>
              <a:gd name="adj" fmla="val 10000"/>
            </a:avLst>
          </a:prstGeom>
          <a:solidFill>
            <a:srgbClr val="F4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52144" y="4983480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130">
                <a:solidFill>
                  <a:srgbClr val="0B2C24"/>
                </a:solidFill>
                <a:latin typeface="IBM Plex Mono"/>
              </a:rPr>
              <a:t>CLEAR 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" y="5248656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16161"/>
                </a:solidFill>
                <a:latin typeface="Inter"/>
              </a:rPr>
              <a:t>Equal to the inner diamond, on all four sides.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3995" y="4983480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130">
                <a:solidFill>
                  <a:srgbClr val="0B2C24"/>
                </a:solidFill>
                <a:latin typeface="IBM Plex Mono"/>
              </a:rPr>
              <a:t>MINIMUM 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3995" y="5248656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16161"/>
                </a:solidFill>
                <a:latin typeface="Inter"/>
              </a:rPr>
              <a:t>24 px on screen, 8 mm in print. Below that, drop the frame.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5847" y="4983480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130">
                <a:solidFill>
                  <a:srgbClr val="0B2C24"/>
                </a:solidFill>
                <a:latin typeface="IBM Plex Mono"/>
              </a:rPr>
              <a:t>LOCKUP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5847" y="5248656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16161"/>
                </a:solidFill>
                <a:latin typeface="Inter"/>
              </a:rPr>
              <a:t>Mark left, wordmark right, descriptor in Plex Mono beneath.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7699" y="4983480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130">
                <a:solidFill>
                  <a:srgbClr val="0B2C24"/>
                </a:solidFill>
                <a:latin typeface="IBM Plex Mono"/>
              </a:rPr>
              <a:t>NEVER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7699" y="5248656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16161"/>
                </a:solidFill>
                <a:latin typeface="Inter"/>
              </a:rPr>
              <a:t>Recolour, add shadow, rotate, or place on bare photography.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6355080"/>
            <a:ext cx="10618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130">
                <a:solidFill>
                  <a:srgbClr val="616161"/>
                </a:solidFill>
                <a:latin typeface="IBM Plex Mono"/>
              </a:rPr>
              <a:t>THE MARK SHOWN IS A WORKING REDRAW. PRODUCTION ARTWORK LIVES IN BRAND/LOGOS.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SHAKTI AI TECHLABS — BRAND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7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07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03504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70">
                <a:solidFill>
                  <a:srgbClr val="616161"/>
                </a:solidFill>
                <a:latin typeface="IBM Plex Mono"/>
              </a:rPr>
              <a:t>TYPOGRAPHY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012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>
                <a:solidFill>
                  <a:srgbClr val="111111"/>
                </a:solidFill>
                <a:latin typeface="Neue Montreal"/>
              </a:rPr>
              <a:t>Three faces, </a:t>
            </a:r>
            <a:r>
              <a:rPr sz="3400">
                <a:solidFill>
                  <a:srgbClr val="616161"/>
                </a:solidFill>
                <a:latin typeface="Neue Montreal"/>
              </a:rPr>
              <a:t>each with one job.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2148840"/>
            <a:ext cx="3417722" cy="1737360"/>
          </a:xfrm>
          <a:prstGeom prst="roundRect">
            <a:avLst>
              <a:gd name="adj" fmla="val 10000"/>
            </a:avLst>
          </a:prstGeom>
          <a:solidFill>
            <a:srgbClr val="F4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341772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0">
                <a:solidFill>
                  <a:srgbClr val="111111"/>
                </a:solidFill>
                <a:latin typeface="Neue Montreal"/>
              </a:rPr>
              <a:t>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29605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11111"/>
                </a:solidFill>
                <a:latin typeface="Neue Montreal"/>
              </a:rPr>
              <a:t>Neue Montreal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29584"/>
            <a:ext cx="29605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120">
                <a:solidFill>
                  <a:srgbClr val="616161"/>
                </a:solidFill>
                <a:latin typeface="IBM Plex Mono"/>
              </a:rPr>
              <a:t>HEADLINES, CARD TITLES, FIGURES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6986" y="2148840"/>
            <a:ext cx="3417722" cy="1737360"/>
          </a:xfrm>
          <a:prstGeom prst="roundRect">
            <a:avLst>
              <a:gd name="adj" fmla="val 10000"/>
            </a:avLst>
          </a:prstGeom>
          <a:solidFill>
            <a:srgbClr val="F4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97882" y="2331720"/>
            <a:ext cx="341772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0">
                <a:solidFill>
                  <a:srgbClr val="111111"/>
                </a:solidFill>
                <a:latin typeface="Inter"/>
              </a:rPr>
              <a:t>Aa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7882" y="3246120"/>
            <a:ext cx="29605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11111"/>
                </a:solidFill>
                <a:latin typeface="Neue Montreal"/>
              </a:rPr>
              <a:t>Inter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7882" y="3529584"/>
            <a:ext cx="29605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120">
                <a:solidFill>
                  <a:srgbClr val="616161"/>
                </a:solidFill>
                <a:latin typeface="IBM Plex Mono"/>
              </a:rPr>
              <a:t>BODY COPY, BUTTONS, CHIPS,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87588" y="2148840"/>
            <a:ext cx="3417722" cy="1737360"/>
          </a:xfrm>
          <a:prstGeom prst="roundRect">
            <a:avLst>
              <a:gd name="adj" fmla="val 10000"/>
            </a:avLst>
          </a:prstGeom>
          <a:solidFill>
            <a:srgbClr val="F4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98484" y="2331720"/>
            <a:ext cx="341772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0">
                <a:solidFill>
                  <a:srgbClr val="111111"/>
                </a:solidFill>
                <a:latin typeface="IBM Plex Mono"/>
              </a:rPr>
              <a:t>123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8484" y="3246120"/>
            <a:ext cx="29605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11111"/>
                </a:solidFill>
                <a:latin typeface="Neue Montreal"/>
              </a:rPr>
              <a:t>IBM Plex Mono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8484" y="3529584"/>
            <a:ext cx="29605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120">
                <a:solidFill>
                  <a:srgbClr val="616161"/>
                </a:solidFill>
                <a:latin typeface="IBM Plex Mono"/>
              </a:rPr>
              <a:t>EYEBROWS, LABELS, INDICES,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04164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spc="140">
                <a:solidFill>
                  <a:srgbClr val="616161"/>
                </a:solidFill>
                <a:latin typeface="IBM Plex Mono"/>
              </a:rPr>
              <a:t>SCALE — STEPS OF ROUGHLY 1.5×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" y="4315968"/>
            <a:ext cx="10618927" cy="9525"/>
          </a:xfrm>
          <a:prstGeom prst="rect">
            <a:avLst/>
          </a:prstGeom>
          <a:solidFill>
            <a:srgbClr val="DD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86384" y="4635119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spc="120">
                <a:solidFill>
                  <a:srgbClr val="616161"/>
                </a:solidFill>
                <a:latin typeface="IBM Plex Mono"/>
              </a:rPr>
              <a:t>DISPLAY · 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0864" y="4370832"/>
            <a:ext cx="9064447" cy="839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0">
                <a:solidFill>
                  <a:srgbClr val="111111"/>
                </a:solidFill>
                <a:latin typeface="Neue Montreal"/>
              </a:rPr>
              <a:t>Building the future.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5155438"/>
            <a:ext cx="10618927" cy="9525"/>
          </a:xfrm>
          <a:prstGeom prst="rect">
            <a:avLst/>
          </a:prstGeom>
          <a:solidFill>
            <a:srgbClr val="DD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86384" y="537616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spc="120">
                <a:solidFill>
                  <a:srgbClr val="616161"/>
                </a:solidFill>
                <a:latin typeface="IBM Plex Mono"/>
              </a:rPr>
              <a:t>HEADLINE · 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40864" y="5210302"/>
            <a:ext cx="9064447" cy="642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111111"/>
                </a:solidFill>
                <a:latin typeface="Neue Montreal"/>
              </a:rPr>
              <a:t>Every founder's journey.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798058"/>
            <a:ext cx="10618927" cy="9525"/>
          </a:xfrm>
          <a:prstGeom prst="rect">
            <a:avLst/>
          </a:prstGeom>
          <a:solidFill>
            <a:srgbClr val="DD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86384" y="5920359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spc="120">
                <a:solidFill>
                  <a:srgbClr val="616161"/>
                </a:solidFill>
                <a:latin typeface="IBM Plex Mono"/>
              </a:rPr>
              <a:t>CARD TITLE · 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40864" y="5852922"/>
            <a:ext cx="9064447" cy="4457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11111"/>
                </a:solidFill>
                <a:latin typeface="Neue Montreal"/>
              </a:rPr>
              <a:t>Startup Acceleration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" y="6243828"/>
            <a:ext cx="10618927" cy="9525"/>
          </a:xfrm>
          <a:prstGeom prst="rect">
            <a:avLst/>
          </a:prstGeom>
          <a:solidFill>
            <a:srgbClr val="DD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86384" y="631691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spc="120">
                <a:solidFill>
                  <a:srgbClr val="616161"/>
                </a:solidFill>
                <a:latin typeface="IBM Plex Mono"/>
              </a:rPr>
              <a:t>BODY · 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40864" y="6298692"/>
            <a:ext cx="9064447" cy="3473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111"/>
                </a:solidFill>
                <a:latin typeface="Inter"/>
              </a:rPr>
              <a:t>We help founders build companies that shape the future.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" y="6591173"/>
            <a:ext cx="10618927" cy="9525"/>
          </a:xfrm>
          <a:prstGeom prst="rect">
            <a:avLst/>
          </a:prstGeom>
          <a:solidFill>
            <a:srgbClr val="DD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86384" y="6624891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spc="120">
                <a:solidFill>
                  <a:srgbClr val="616161"/>
                </a:solidFill>
                <a:latin typeface="IBM Plex Mono"/>
              </a:rPr>
              <a:t>LABEL · 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40864" y="6646037"/>
            <a:ext cx="9064447" cy="2686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spc="150">
                <a:solidFill>
                  <a:srgbClr val="111111"/>
                </a:solidFill>
                <a:latin typeface="IBM Plex Mono"/>
              </a:rPr>
              <a:t>WHAT WE 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SHAKTI AI TECHLABS — BRAND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7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08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03504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70">
                <a:solidFill>
                  <a:srgbClr val="616161"/>
                </a:solidFill>
                <a:latin typeface="IBM Plex Mono"/>
              </a:rPr>
              <a:t>TYPOGRAPHY ·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012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>
                <a:solidFill>
                  <a:srgbClr val="111111"/>
                </a:solidFill>
                <a:latin typeface="Neue Montreal"/>
              </a:rPr>
              <a:t>Two signatures </a:t>
            </a:r>
            <a:r>
              <a:rPr sz="3400">
                <a:solidFill>
                  <a:srgbClr val="616161"/>
                </a:solidFill>
                <a:latin typeface="Neue Montreal"/>
              </a:rPr>
              <a:t>that carry the voice.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0312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spc="140">
                <a:solidFill>
                  <a:srgbClr val="616161"/>
                </a:solidFill>
                <a:latin typeface="IBM Plex Mono"/>
              </a:rPr>
              <a:t>01 — THE TWO-TONE HEADLINE: EMPHASIS RIDES ON COLOUR, INSIDE ONE SENTENCE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468880"/>
            <a:ext cx="10618927" cy="868680"/>
          </a:xfrm>
          <a:prstGeom prst="roundRect">
            <a:avLst>
              <a:gd name="adj" fmla="val 14000"/>
            </a:avLst>
          </a:prstGeom>
          <a:solidFill>
            <a:srgbClr val="FEF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52144" y="2688336"/>
            <a:ext cx="988740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200">
                <a:solidFill>
                  <a:srgbClr val="111111"/>
                </a:solidFill>
                <a:latin typeface="Neue Montreal"/>
              </a:rPr>
              <a:t>Every great company begins with an idea. </a:t>
            </a:r>
            <a:r>
              <a:rPr sz="2200">
                <a:solidFill>
                  <a:srgbClr val="616161"/>
                </a:solidFill>
                <a:latin typeface="Neue Montreal"/>
              </a:rPr>
              <a:t>Very few survive what comes next.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3456432"/>
            <a:ext cx="10618927" cy="868680"/>
          </a:xfrm>
          <a:prstGeom prst="roundRect">
            <a:avLst>
              <a:gd name="adj" fmla="val 14000"/>
            </a:avLst>
          </a:prstGeom>
          <a:solidFill>
            <a:srgbClr val="FEF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52144" y="3675888"/>
            <a:ext cx="988740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200">
                <a:solidFill>
                  <a:srgbClr val="616161"/>
                </a:solidFill>
                <a:latin typeface="Neue Montreal"/>
              </a:rPr>
              <a:t>What changes </a:t>
            </a:r>
            <a:r>
              <a:rPr sz="2200">
                <a:solidFill>
                  <a:srgbClr val="111111"/>
                </a:solidFill>
                <a:latin typeface="Neue Montreal"/>
              </a:rPr>
              <a:t>when you build with 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4443984"/>
            <a:ext cx="10618927" cy="868680"/>
          </a:xfrm>
          <a:prstGeom prst="roundRect">
            <a:avLst>
              <a:gd name="adj" fmla="val 14000"/>
            </a:avLst>
          </a:prstGeom>
          <a:solidFill>
            <a:srgbClr val="FEF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52144" y="4663440"/>
            <a:ext cx="988740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200">
                <a:solidFill>
                  <a:srgbClr val="111111"/>
                </a:solidFill>
                <a:latin typeface="Neue Montreal"/>
              </a:rPr>
              <a:t>Bring us the idea. </a:t>
            </a:r>
            <a:r>
              <a:rPr sz="2200">
                <a:solidFill>
                  <a:srgbClr val="616161"/>
                </a:solidFill>
                <a:latin typeface="Neue Montreal"/>
              </a:rPr>
              <a:t>We'll help you build the company.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449824"/>
            <a:ext cx="10618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130">
                <a:solidFill>
                  <a:srgbClr val="616161"/>
                </a:solidFill>
                <a:latin typeface="IBM Plex Mono"/>
              </a:rPr>
              <a:t>MAXIMUM ONE SPLIT PER HEADLINE. THE EMPHASIS MOVES TO WHEREVER THE CLAIM ACTUALLY LIVES.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580644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spc="140">
                <a:solidFill>
                  <a:srgbClr val="616161"/>
                </a:solidFill>
                <a:latin typeface="IBM Plex Mono"/>
              </a:rPr>
              <a:t>02 — THE TERMINAL FULL STOP TURNS A LABEL INTO A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60807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11111"/>
                </a:solidFill>
                <a:latin typeface="Neue Montreal"/>
              </a:rPr>
              <a:t>Position.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60807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11111"/>
                </a:solidFill>
                <a:latin typeface="Neue Montreal"/>
              </a:rPr>
              <a:t>Philosophy.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60807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11111"/>
                </a:solidFill>
                <a:latin typeface="Neue Montreal"/>
              </a:rPr>
              <a:t>Services.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1664" y="60807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11111"/>
                </a:solidFill>
                <a:latin typeface="Neue Montreal"/>
              </a:rPr>
              <a:t>Building the future.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SHAKTI AI TECHLABS — BRAND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7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09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03504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70">
                <a:solidFill>
                  <a:srgbClr val="616161"/>
                </a:solidFill>
                <a:latin typeface="IBM Plex Mono"/>
              </a:rPr>
              <a:t>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012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>
                <a:solidFill>
                  <a:srgbClr val="111111"/>
                </a:solidFill>
                <a:latin typeface="Neue Montreal"/>
              </a:rPr>
              <a:t>Colour carries meaning, </a:t>
            </a:r>
            <a:r>
              <a:rPr sz="3400">
                <a:solidFill>
                  <a:srgbClr val="616161"/>
                </a:solidFill>
                <a:latin typeface="Neue Montreal"/>
              </a:rPr>
              <a:t>permanently.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57400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spc="140">
                <a:solidFill>
                  <a:srgbClr val="616161"/>
                </a:solidFill>
                <a:latin typeface="IBM Plex Mono"/>
              </a:rPr>
              <a:t>BUTTONS — SIGNAL MEANS COMMIT, INK MEANS PROCEED. NEVER SWAPPED FOR VARIETY.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42316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00C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25786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11111"/>
                </a:solidFill>
                <a:latin typeface="Inter"/>
              </a:rPr>
              <a:t>Start a conversation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09067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0" spc="130">
                <a:solidFill>
                  <a:srgbClr val="616161"/>
                </a:solidFill>
                <a:latin typeface="IBM Plex Mono"/>
              </a:rPr>
              <a:t>COMMIT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242316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73552" y="25786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00CE9F"/>
                </a:solidFill>
                <a:latin typeface="Inter"/>
              </a:rPr>
              <a:t>View our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309067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0" spc="130">
                <a:solidFill>
                  <a:srgbClr val="616161"/>
                </a:solidFill>
                <a:latin typeface="IBM Plex Mono"/>
              </a:rPr>
              <a:t>PROCEED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423160"/>
            <a:ext cx="2286000" cy="566928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760720" y="25786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11111"/>
                </a:solidFill>
                <a:latin typeface="Inter"/>
              </a:rPr>
              <a:t>Download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09067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0" spc="130">
                <a:solidFill>
                  <a:srgbClr val="616161"/>
                </a:solidFill>
                <a:latin typeface="IBM Plex Mono"/>
              </a:rPr>
              <a:t>TERTIARY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61188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spc="140">
                <a:solidFill>
                  <a:srgbClr val="616161"/>
                </a:solidFill>
                <a:latin typeface="IBM Plex Mono"/>
              </a:rPr>
              <a:t>CHIPS — SENTENCE CASE, NO ICONS, NO COUNTS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3886200"/>
            <a:ext cx="1700784" cy="402336"/>
          </a:xfrm>
          <a:prstGeom prst="roundRect">
            <a:avLst>
              <a:gd name="adj" fmla="val 50000"/>
            </a:avLst>
          </a:prstGeom>
          <a:solidFill>
            <a:srgbClr val="F4F7E9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6384" y="3995928"/>
            <a:ext cx="17007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111"/>
                </a:solidFill>
                <a:latin typeface="Inter"/>
              </a:rPr>
              <a:t>Venture Building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15184" y="3886200"/>
            <a:ext cx="1856232" cy="402336"/>
          </a:xfrm>
          <a:prstGeom prst="roundRect">
            <a:avLst>
              <a:gd name="adj" fmla="val 50000"/>
            </a:avLst>
          </a:prstGeom>
          <a:solidFill>
            <a:srgbClr val="F4F7E9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615184" y="3995928"/>
            <a:ext cx="18562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111"/>
                </a:solidFill>
                <a:latin typeface="Inter"/>
              </a:rPr>
              <a:t>Startup Incubation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99432" y="3886200"/>
            <a:ext cx="1856232" cy="402336"/>
          </a:xfrm>
          <a:prstGeom prst="roundRect">
            <a:avLst>
              <a:gd name="adj" fmla="val 50000"/>
            </a:avLst>
          </a:prstGeom>
          <a:solidFill>
            <a:srgbClr val="F4F7E9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99432" y="3995928"/>
            <a:ext cx="18562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111"/>
                </a:solidFill>
                <a:latin typeface="Inter"/>
              </a:rPr>
              <a:t>Founder Mentorship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3886200"/>
            <a:ext cx="2167128" cy="402336"/>
          </a:xfrm>
          <a:prstGeom prst="roundRect">
            <a:avLst>
              <a:gd name="adj" fmla="val 50000"/>
            </a:avLst>
          </a:prstGeom>
          <a:solidFill>
            <a:srgbClr val="F4F7E9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83680" y="3995928"/>
            <a:ext cx="2167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111"/>
                </a:solidFill>
                <a:latin typeface="Inter"/>
              </a:rPr>
              <a:t>Strategic Partnerships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461772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spc="140">
                <a:solidFill>
                  <a:srgbClr val="616161"/>
                </a:solidFill>
                <a:latin typeface="IBM Plex Mono"/>
              </a:rPr>
              <a:t>CARD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" y="4864608"/>
            <a:ext cx="3657600" cy="1207008"/>
          </a:xfrm>
          <a:prstGeom prst="roundRect">
            <a:avLst>
              <a:gd name="adj" fmla="val 12000"/>
            </a:avLst>
          </a:prstGeom>
          <a:solidFill>
            <a:srgbClr val="F4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60704" y="504748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spc="130">
                <a:solidFill>
                  <a:srgbClr val="616161"/>
                </a:solidFill>
                <a:latin typeface="IBM Plex Mono"/>
              </a:rPr>
              <a:t>TECHNOLOGY &amp; INNOVATION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" y="5266944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111"/>
                </a:solidFill>
                <a:latin typeface="Neue Montreal"/>
              </a:rPr>
              <a:t>Capability, not just counsel.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" y="5577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16161"/>
                </a:solidFill>
                <a:latin typeface="Inter"/>
              </a:rPr>
              <a:t>AI, engineering, product development.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01184" y="4617720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spc="140">
                <a:solidFill>
                  <a:srgbClr val="616161"/>
                </a:solidFill>
                <a:latin typeface="IBM Plex Mono"/>
              </a:rPr>
              <a:t>FIGURES — THE UNIT RIDES IN SIGNAL, THE NUMBER STAYS INK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01184" y="489204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0">
                <a:solidFill>
                  <a:srgbClr val="111111"/>
                </a:solidFill>
                <a:latin typeface="Neue Montreal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01184" y="55778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16161"/>
                </a:solidFill>
                <a:latin typeface="Inter"/>
              </a:rPr>
              <a:t>Capabilities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84264" y="489204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0">
                <a:solidFill>
                  <a:srgbClr val="111111"/>
                </a:solidFill>
                <a:latin typeface="Neue Montreal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84264" y="55778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16161"/>
                </a:solidFill>
                <a:latin typeface="Inter"/>
              </a:rPr>
              <a:t>Industries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7344" y="489204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0">
                <a:solidFill>
                  <a:srgbClr val="111111"/>
                </a:solidFill>
                <a:latin typeface="Neue Montreal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55778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16161"/>
                </a:solidFill>
                <a:latin typeface="Inter"/>
              </a:rPr>
              <a:t>Partner types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0424" y="489204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0">
                <a:solidFill>
                  <a:srgbClr val="111111"/>
                </a:solidFill>
                <a:latin typeface="Neue Montreal"/>
              </a:rPr>
              <a:t>47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08792" y="48920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00CE9F"/>
                </a:solidFill>
                <a:latin typeface="Neue Montreal"/>
              </a:rPr>
              <a:t>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50424" y="55778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16161"/>
                </a:solidFill>
                <a:latin typeface="Inter"/>
              </a:rPr>
              <a:t>Growth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" y="6355080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spc="140">
                <a:solidFill>
                  <a:srgbClr val="616161"/>
                </a:solidFill>
                <a:latin typeface="IBM Plex Mono"/>
              </a:rPr>
              <a:t>RADIUS LADDER — 999 PX CONTROLS · 30 PX PANELS · 22 PX CARDS · NOTHING SMALLER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50">
                <a:solidFill>
                  <a:srgbClr val="9AA09E"/>
                </a:solidFill>
                <a:latin typeface="IBM Plex Mono"/>
              </a:rPr>
              <a:t>SHAKTI AI TECHLABS — BRAND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7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50">
                <a:solidFill>
                  <a:srgbClr val="9AA09E"/>
                </a:solidFill>
                <a:latin typeface="IBM Plex Mono"/>
              </a:rPr>
              <a:t>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03504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70">
                <a:solidFill>
                  <a:srgbClr val="00CE9F"/>
                </a:solidFill>
                <a:latin typeface="IBM Plex Mono"/>
              </a:rPr>
              <a:t>IMAGERY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012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>
                <a:solidFill>
                  <a:srgbClr val="FCFCFA"/>
                </a:solidFill>
                <a:latin typeface="Neue Montreal"/>
              </a:rPr>
              <a:t>Real photography. </a:t>
            </a:r>
            <a:r>
              <a:rPr sz="3400">
                <a:solidFill>
                  <a:srgbClr val="9AA09E"/>
                </a:solidFill>
                <a:latin typeface="Neue Montreal"/>
              </a:rPr>
              <a:t>Abstract atmosphere.</a:t>
            </a:r>
          </a:p>
        </p:txBody>
      </p:sp>
      <p:pic>
        <p:nvPicPr>
          <p:cNvPr id="6" name="Picture 5" descr="fou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148840"/>
            <a:ext cx="2531287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" y="4206240"/>
            <a:ext cx="2531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CFCFA"/>
                </a:solidFill>
                <a:latin typeface="Neue Montreal"/>
              </a:rPr>
              <a:t>Founder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526280"/>
            <a:ext cx="253128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AA09E"/>
                </a:solidFill>
                <a:latin typeface="Inter"/>
              </a:rPr>
              <a:t>One person at work, natural light, mid-thought. Never posed.</a:t>
            </a:r>
          </a:p>
        </p:txBody>
      </p:sp>
      <p:pic>
        <p:nvPicPr>
          <p:cNvPr id="9" name="Picture 8" descr="col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2263" y="2148840"/>
            <a:ext cx="2531287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82263" y="4206240"/>
            <a:ext cx="2531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CFCFA"/>
                </a:solidFill>
                <a:latin typeface="Neue Montreal"/>
              </a:rPr>
              <a:t>Collaboration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2263" y="4526280"/>
            <a:ext cx="253128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AA09E"/>
                </a:solidFill>
                <a:latin typeface="Inter"/>
              </a:rPr>
              <a:t>Three or four people mid-discussion around real work.</a:t>
            </a:r>
          </a:p>
        </p:txBody>
      </p:sp>
      <p:pic>
        <p:nvPicPr>
          <p:cNvPr id="12" name="Picture 11" descr="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8143" y="2148840"/>
            <a:ext cx="2531287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8143" y="4206240"/>
            <a:ext cx="2531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CFCFA"/>
                </a:solidFill>
                <a:latin typeface="Neue Montreal"/>
              </a:rPr>
              <a:t>Innovation Spaces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8143" y="4526280"/>
            <a:ext cx="253128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AA09E"/>
                </a:solidFill>
                <a:latin typeface="Inter"/>
              </a:rPr>
              <a:t>Rooms and systems where work happens. No handshakes.</a:t>
            </a:r>
          </a:p>
        </p:txBody>
      </p:sp>
      <p:pic>
        <p:nvPicPr>
          <p:cNvPr id="15" name="Picture 14" descr="glob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4023" y="2148840"/>
            <a:ext cx="2531287" cy="1920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74023" y="4206240"/>
            <a:ext cx="2531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FCFCFA"/>
                </a:solidFill>
                <a:latin typeface="Neue Montreal"/>
              </a:rPr>
              <a:t>Global 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74023" y="4526280"/>
            <a:ext cx="253128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AA09E"/>
                </a:solidFill>
                <a:latin typeface="Inter"/>
              </a:rPr>
              <a:t>Horizon or skyline at dusk. Wide crop, no people.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5532120"/>
            <a:ext cx="10618927" cy="822960"/>
          </a:xfrm>
          <a:prstGeom prst="roundRect">
            <a:avLst>
              <a:gd name="adj" fmla="val 20000"/>
            </a:avLst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52144" y="5779008"/>
            <a:ext cx="9887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FCFCFA"/>
                </a:solidFill>
                <a:latin typeface="Inter"/>
              </a:rPr>
              <a:t>These four plates are procedural stand-ins, generated to hold the layout. Nothing ships externally until commissioned photography replaces them.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SHAKTI AI TECHLABS — BRAND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7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50">
                <a:solidFill>
                  <a:srgbClr val="616161"/>
                </a:solidFill>
                <a:latin typeface="IBM Plex Mono"/>
              </a:rPr>
              <a:t>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03504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70">
                <a:solidFill>
                  <a:srgbClr val="616161"/>
                </a:solidFill>
                <a:latin typeface="IBM Plex Mono"/>
              </a:rPr>
              <a:t>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012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>
                <a:solidFill>
                  <a:srgbClr val="111111"/>
                </a:solidFill>
                <a:latin typeface="Neue Montreal"/>
              </a:rPr>
              <a:t>The short version.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2103120"/>
            <a:ext cx="5126583" cy="4114800"/>
          </a:xfrm>
          <a:prstGeom prst="roundRect">
            <a:avLst>
              <a:gd name="adj" fmla="val 6000"/>
            </a:avLst>
          </a:prstGeom>
          <a:solidFill>
            <a:srgbClr val="F4F7E9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52144" y="2377440"/>
            <a:ext cx="51265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spc="160">
                <a:solidFill>
                  <a:srgbClr val="17714A"/>
                </a:solidFill>
                <a:latin typeface="IBM Plex Mono"/>
              </a:rPr>
              <a:t>ALWAYS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27889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7714A"/>
                </a:solidFill>
                <a:latin typeface="IBM Plex Mono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2184" y="2788920"/>
            <a:ext cx="40750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11111"/>
                </a:solidFill>
                <a:latin typeface="Inter"/>
              </a:rPr>
              <a:t>Ink on Signal, at 9.29:1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31912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7714A"/>
                </a:solidFill>
                <a:latin typeface="IBM Plex Mono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2184" y="3191256"/>
            <a:ext cx="40750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11111"/>
                </a:solidFill>
                <a:latin typeface="Inter"/>
              </a:rPr>
              <a:t>One ground per section, committed fully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35935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7714A"/>
                </a:solidFill>
                <a:latin typeface="IBM Plex Mono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2184" y="3593592"/>
            <a:ext cx="40750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11111"/>
                </a:solidFill>
                <a:latin typeface="Inter"/>
              </a:rPr>
              <a:t>One two-tone split per headline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39959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7714A"/>
                </a:solidFill>
                <a:latin typeface="IBM Plex Mono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2184" y="3995928"/>
            <a:ext cx="40750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11111"/>
                </a:solidFill>
                <a:latin typeface="Inter"/>
              </a:rPr>
              <a:t>A terminal full stop on every headline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4398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7714A"/>
                </a:solidFill>
                <a:latin typeface="IBM Plex Mono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2184" y="4398264"/>
            <a:ext cx="40750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11111"/>
                </a:solidFill>
                <a:latin typeface="Inter"/>
              </a:rPr>
              <a:t>Signal to commit, Ink to proceed — permanently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48006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7714A"/>
                </a:solidFill>
                <a:latin typeface="IBM Plex Mono"/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2184" y="4800600"/>
            <a:ext cx="40750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11111"/>
                </a:solidFill>
                <a:latin typeface="Inter"/>
              </a:rPr>
              <a:t>A footnote scoping every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52029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7714A"/>
                </a:solidFill>
                <a:latin typeface="IBM Plex Mono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2184" y="5202936"/>
            <a:ext cx="40750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11111"/>
                </a:solidFill>
                <a:latin typeface="Inter"/>
              </a:rPr>
              <a:t>Self-hosted WOFF2 for all three faces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" y="56052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7714A"/>
                </a:solidFill>
                <a:latin typeface="IBM Plex Mono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72184" y="5605272"/>
            <a:ext cx="40750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11111"/>
                </a:solidFill>
                <a:latin typeface="Inter"/>
              </a:rPr>
              <a:t>Radius from the ladder: 999 / 30 / 22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8727" y="2103120"/>
            <a:ext cx="5126583" cy="4114800"/>
          </a:xfrm>
          <a:prstGeom prst="roundRect">
            <a:avLst>
              <a:gd name="adj" fmla="val 6000"/>
            </a:avLst>
          </a:prstGeom>
          <a:solidFill>
            <a:srgbClr val="FEFFFA"/>
          </a:solidFill>
          <a:ln w="9525">
            <a:solidFill>
              <a:srgbClr val="DD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644487" y="2377440"/>
            <a:ext cx="51265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spc="160">
                <a:solidFill>
                  <a:srgbClr val="A93018"/>
                </a:solidFill>
                <a:latin typeface="IBM Plex Mono"/>
              </a:rPr>
              <a:t>NEVER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4487" y="27889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93018"/>
                </a:solidFill>
                <a:latin typeface="IBM Plex Mono"/>
              </a:rPr>
              <a:t>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4527" y="2788920"/>
            <a:ext cx="40750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16161"/>
                </a:solidFill>
                <a:latin typeface="Inter"/>
              </a:rPr>
              <a:t>White type on Signal — 2.03:1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4487" y="31912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93018"/>
                </a:solidFill>
                <a:latin typeface="IBM Plex Mono"/>
              </a:rPr>
              <a:t>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4527" y="3191256"/>
            <a:ext cx="40750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16161"/>
                </a:solidFill>
                <a:latin typeface="Inter"/>
              </a:rPr>
              <a:t>Signal as type on Canvas or Paper — 1.98:1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4487" y="35935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93018"/>
                </a:solidFill>
                <a:latin typeface="IBM Plex Mono"/>
              </a:rPr>
              <a:t>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4527" y="3593592"/>
            <a:ext cx="40750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16161"/>
                </a:solidFill>
                <a:latin typeface="Inter"/>
              </a:rPr>
              <a:t>A second brand hue, or any gradient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4487" y="39959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93018"/>
                </a:solidFill>
                <a:latin typeface="IBM Plex Mono"/>
              </a:rPr>
              <a:t>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4527" y="3995928"/>
            <a:ext cx="40750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16161"/>
                </a:solidFill>
                <a:latin typeface="Inter"/>
              </a:rPr>
              <a:t>Accent as garnish or stray icons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4487" y="43982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93018"/>
                </a:solidFill>
                <a:latin typeface="IBM Plex Mono"/>
              </a:rPr>
              <a:t>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4527" y="4398264"/>
            <a:ext cx="40750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16161"/>
                </a:solidFill>
                <a:latin typeface="Inter"/>
              </a:rPr>
              <a:t>Green-tinted photography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4487" y="48006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93018"/>
                </a:solidFill>
                <a:latin typeface="IBM Plex Mono"/>
              </a:rPr>
              <a:t>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4527" y="4800600"/>
            <a:ext cx="40750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16161"/>
                </a:solidFill>
                <a:latin typeface="Inter"/>
              </a:rPr>
              <a:t>Swapping button colours for variety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4487" y="52029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93018"/>
                </a:solidFill>
                <a:latin typeface="IBM Plex Mono"/>
              </a:rPr>
              <a:t>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4527" y="5202936"/>
            <a:ext cx="40750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16161"/>
                </a:solidFill>
                <a:latin typeface="Inter"/>
              </a:rPr>
              <a:t>Numbered markers on a non-sequence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44487" y="56052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A93018"/>
                </a:solidFill>
                <a:latin typeface="IBM Plex Mono"/>
              </a:rPr>
              <a:t>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4527" y="5605272"/>
            <a:ext cx="40750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16161"/>
                </a:solidFill>
                <a:latin typeface="Inter"/>
              </a:rPr>
              <a:t>Applying this palette to Shakti Group 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CE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spc="150">
                <a:solidFill>
                  <a:srgbClr val="0B2C24"/>
                </a:solidFill>
                <a:latin typeface="IBM Plex Mono"/>
              </a:rPr>
              <a:t>SHAKTI AI TECHLABS — BRAND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7" y="310896"/>
            <a:ext cx="530946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850" b="0" spc="150">
                <a:solidFill>
                  <a:srgbClr val="0B2C24"/>
                </a:solidFill>
                <a:latin typeface="IBM Plex Mono"/>
              </a:rPr>
              <a:t>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03504"/>
            <a:ext cx="1061892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spc="170">
                <a:solidFill>
                  <a:srgbClr val="0B2C24"/>
                </a:solidFill>
                <a:latin typeface="IBM Plex Mono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6012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>
                <a:solidFill>
                  <a:srgbClr val="111111"/>
                </a:solidFill>
                <a:latin typeface="Neue Montreal"/>
              </a:rPr>
              <a:t>What this playbook </a:t>
            </a:r>
            <a:r>
              <a:rPr sz="3400">
                <a:solidFill>
                  <a:srgbClr val="0B2C24"/>
                </a:solidFill>
                <a:latin typeface="Neue Montreal"/>
              </a:rPr>
              <a:t>still needs.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2148840"/>
            <a:ext cx="10618927" cy="9525"/>
          </a:xfrm>
          <a:prstGeom prst="rect">
            <a:avLst/>
          </a:prstGeom>
          <a:solidFill>
            <a:srgbClr val="0B2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86384" y="235000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spc="130">
                <a:solidFill>
                  <a:srgbClr val="0B2C24"/>
                </a:solidFill>
                <a:latin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229514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11111"/>
                </a:solidFill>
                <a:latin typeface="Neue Montreal"/>
              </a:rPr>
              <a:t>Traction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984" y="2313432"/>
            <a:ext cx="696132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0B2C24"/>
                </a:solidFill>
                <a:latin typeface="Inter"/>
              </a:rPr>
              <a:t>The deck states structural facts only. Ventures incubated, capital enabled and countries reached need verification before use.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990088"/>
            <a:ext cx="10618927" cy="9525"/>
          </a:xfrm>
          <a:prstGeom prst="rect">
            <a:avLst/>
          </a:prstGeom>
          <a:solidFill>
            <a:srgbClr val="0B2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319125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spc="130">
                <a:solidFill>
                  <a:srgbClr val="0B2C24"/>
                </a:solidFill>
                <a:latin typeface="IBM Plex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313639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11111"/>
                </a:solidFill>
                <a:latin typeface="Neue Montreal"/>
              </a:rPr>
              <a:t>Production logo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3154680"/>
            <a:ext cx="696132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0B2C24"/>
                </a:solidFill>
                <a:latin typeface="Inter"/>
              </a:rPr>
              <a:t>The mark here is a working redraw. Master files need recolouring to this palette and SVG export.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3831336"/>
            <a:ext cx="10618927" cy="9525"/>
          </a:xfrm>
          <a:prstGeom prst="rect">
            <a:avLst/>
          </a:prstGeom>
          <a:solidFill>
            <a:srgbClr val="0B2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86384" y="403250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spc="130">
                <a:solidFill>
                  <a:srgbClr val="0B2C24"/>
                </a:solidFill>
                <a:latin typeface="IBM Plex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3977640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11111"/>
                </a:solidFill>
                <a:latin typeface="Neue Montreal"/>
              </a:rPr>
              <a:t>Photography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3995928"/>
            <a:ext cx="696132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0B2C24"/>
                </a:solidFill>
                <a:latin typeface="Inter"/>
              </a:rPr>
              <a:t>All four image families are stand-ins. Commission before any external use.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4672584"/>
            <a:ext cx="10618927" cy="9525"/>
          </a:xfrm>
          <a:prstGeom prst="rect">
            <a:avLst/>
          </a:prstGeom>
          <a:solidFill>
            <a:srgbClr val="0B2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" y="487375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spc="130">
                <a:solidFill>
                  <a:srgbClr val="0B2C24"/>
                </a:solidFill>
                <a:latin typeface="IBM Plex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481888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11111"/>
                </a:solidFill>
                <a:latin typeface="Neue Montreal"/>
              </a:rPr>
              <a:t>Group co-signing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4" y="4837176"/>
            <a:ext cx="696132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0B2C24"/>
                </a:solidFill>
                <a:latin typeface="Inter"/>
              </a:rPr>
              <a:t>How this mark sits beside the Shakti Group mark on joint material is undecided.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5513832"/>
            <a:ext cx="10618927" cy="9525"/>
          </a:xfrm>
          <a:prstGeom prst="rect">
            <a:avLst/>
          </a:prstGeom>
          <a:solidFill>
            <a:srgbClr val="0B2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86384" y="571500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spc="130">
                <a:solidFill>
                  <a:srgbClr val="0B2C24"/>
                </a:solidFill>
                <a:latin typeface="IBM Plex Mon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6464" y="5660136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11111"/>
                </a:solidFill>
                <a:latin typeface="Neue Montreal"/>
              </a:rPr>
              <a:t>Font licensing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4" y="5678424"/>
            <a:ext cx="696132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0B2C24"/>
                </a:solidFill>
                <a:latin typeface="Inter"/>
              </a:rPr>
              <a:t>Confirm the group's Neue Montreal licence covers web embedding for this domain.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" y="6355080"/>
            <a:ext cx="10618927" cy="9525"/>
          </a:xfrm>
          <a:prstGeom prst="rect">
            <a:avLst/>
          </a:prstGeom>
          <a:solidFill>
            <a:srgbClr val="0B2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