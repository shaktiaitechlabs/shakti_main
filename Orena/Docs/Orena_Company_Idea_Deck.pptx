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0" r:id="rId11"/>
    <p:sldId id="261" r:id="rId12"/>
    <p:sldId id="262" r:id="rId13"/>
    <p:sldId id="264" r:id="rId15"/>
    <p:sldId id="267" r:id="rId18"/>
    <p:sldId id="268" r:id="rId19"/>
    <p:sldId id="269" r:id="rId20"/>
    <p:sldId id="270" r:id="rId21"/>
    <p:sldId id="271" r:id="rId22"/>
    <p:sldId id="272" r:id="rId23"/>
    <p:sldId id="259" r:id="rId10"/>
    <p:sldId id="273" r:id="rId2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5" Type="http://schemas.openxmlformats.org/officeDocument/2006/relationships/slide" Target="slides/slide9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Relationship Id="rId23" Type="http://schemas.openxmlformats.org/officeDocument/2006/relationships/image" Target="../media/image53.png"/><Relationship Id="rId24" Type="http://schemas.openxmlformats.org/officeDocument/2006/relationships/image" Target="../media/image54.png"/><Relationship Id="rId25" Type="http://schemas.openxmlformats.org/officeDocument/2006/relationships/image" Target="../media/image55.png"/><Relationship Id="rId26" Type="http://schemas.openxmlformats.org/officeDocument/2006/relationships/image" Target="../media/image5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C2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ren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84" y="1115568"/>
            <a:ext cx="4572000" cy="28599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4352544"/>
            <a:ext cx="1087523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Bridging the Gap between Industry and Academia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846320"/>
            <a:ext cx="1087523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The Workforce Growth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2031996" cy="347472"/>
          </a:xfrm>
          <a:prstGeom prst="rect">
            <a:avLst/>
          </a:prstGeom>
          <a:solidFill>
            <a:srgbClr val="2C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31994" y="6510528"/>
            <a:ext cx="2031996" cy="347472"/>
          </a:xfrm>
          <a:prstGeom prst="rect">
            <a:avLst/>
          </a:prstGeom>
          <a:solidFill>
            <a:srgbClr val="29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89" y="6510528"/>
            <a:ext cx="2031996" cy="347472"/>
          </a:xfrm>
          <a:prstGeom prst="rect">
            <a:avLst/>
          </a:prstGeom>
          <a:solidFill>
            <a:srgbClr val="16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984" y="6510528"/>
            <a:ext cx="2031996" cy="347472"/>
          </a:xfrm>
          <a:prstGeom prst="rect">
            <a:avLst/>
          </a:prstGeom>
          <a:solidFill>
            <a:srgbClr val="97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7979" y="6510528"/>
            <a:ext cx="2031996" cy="347472"/>
          </a:xfrm>
          <a:prstGeom prst="rect">
            <a:avLst/>
          </a:prstGeom>
          <a:solidFill>
            <a:srgbClr val="F69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59974" y="6510528"/>
            <a:ext cx="2031996" cy="347472"/>
          </a:xfrm>
          <a:prstGeom prst="rect">
            <a:avLst/>
          </a:prstGeom>
          <a:solidFill>
            <a:srgbClr val="BE3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58368"/>
            <a:ext cx="10875233" cy="732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600" b="1">
                <a:solidFill>
                  <a:srgbClr val="55A96F"/>
                </a:solidFill>
                <a:latin typeface="Montserrat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629003"/>
            <a:ext cx="7437089" cy="4168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Who we are, the platform we are building, and the track record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338425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55A96F"/>
                </a:solidFill>
                <a:latin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472" y="2320137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The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365857"/>
            <a:ext cx="46938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76767"/>
                </a:solidFill>
                <a:latin typeface="Montserrat"/>
              </a:rPr>
              <a:t>The problem today, the idea and the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832201"/>
            <a:ext cx="8351489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197961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55A96F"/>
                </a:solidFill>
                <a:latin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3179673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The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225393"/>
            <a:ext cx="46938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676767"/>
                </a:solidFill>
                <a:latin typeface="Montserrat"/>
              </a:rPr>
              <a:t>Vision, services, universities, clients and track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691737"/>
            <a:ext cx="8351489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Orena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4109"/>
            <a:ext cx="5943600" cy="2369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Orena Solutions builds the pipeline between raw engineering talent and the organizations who need it most — hiring, training and culture transformation, delivered as one connected system.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We have grown through hiring services, research-based training, industry collaboration and organizational transformation. We are part of the Shakti Ecosystem, engineering solutions that respect people and planet.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45775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676767"/>
                </a:solidFill>
                <a:latin typeface="Montserrat"/>
              </a:rPr>
              <a:t>HEADQUARTERS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3519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Montserrat"/>
              </a:rPr>
              <a:t>Vadodara, Gujarat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484109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676767"/>
                </a:solidFill>
                <a:latin typeface="Montserrat"/>
              </a:rPr>
              <a:t>WHAT WE DO</a:t>
            </a:r>
          </a:p>
        </p:txBody>
      </p:sp>
      <p:pic>
        <p:nvPicPr>
          <p:cNvPr id="8" name="Picture 7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77885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19288" y="1941309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Montserrat"/>
              </a:rPr>
              <a:t>Hiring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233917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76767"/>
                </a:solidFill>
                <a:latin typeface="Montserrat"/>
              </a:rPr>
              <a:t>Lateral, fresher and contractual hiring for engineering teams.</a:t>
            </a:r>
          </a:p>
        </p:txBody>
      </p:sp>
      <p:pic>
        <p:nvPicPr>
          <p:cNvPr id="11" name="Picture 10" descr="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075165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19288" y="3038589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Montserrat"/>
              </a:rPr>
              <a:t>Learning &amp;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3331197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76767"/>
                </a:solidFill>
                <a:latin typeface="Montserrat"/>
              </a:rPr>
              <a:t>Research-based training for students and employees.</a:t>
            </a:r>
          </a:p>
        </p:txBody>
      </p:sp>
      <p:pic>
        <p:nvPicPr>
          <p:cNvPr id="14" name="Picture 13" descr="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172445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19288" y="4135869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Montserrat"/>
              </a:rPr>
              <a:t>Culture Transformation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4428477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76767"/>
                </a:solidFill>
                <a:latin typeface="Montserrat"/>
              </a:rPr>
              <a:t>Expert-led, measurable organisational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Meet the Director</a:t>
            </a:r>
          </a:p>
        </p:txBody>
      </p:sp>
      <p:pic>
        <p:nvPicPr>
          <p:cNvPr id="4" name="Picture 3" descr="ekata_mehul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17904"/>
            <a:ext cx="1417320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04872" y="1536192"/>
            <a:ext cx="912872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000000"/>
                </a:solidFill>
                <a:latin typeface="Montserrat"/>
              </a:rPr>
              <a:t>Ekata Mehul Shah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4872" y="1901952"/>
            <a:ext cx="91287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spc="60">
                <a:solidFill>
                  <a:srgbClr val="55A96F"/>
                </a:solidFill>
                <a:latin typeface="Montserrat"/>
              </a:rPr>
              <a:t>PRINCIPAL DIRECTOR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2231136"/>
            <a:ext cx="91287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Montserrat"/>
              </a:rPr>
              <a:t>Director &amp; Chief Software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2560319"/>
            <a:ext cx="912872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55A96F"/>
                </a:solidFill>
                <a:latin typeface="Montserrat"/>
              </a:rPr>
              <a:t>25+ YEARS IN GLOBAL SOFTWARE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268980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209544"/>
            <a:ext cx="4687808" cy="5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28+ years across industry and academia; Ph.D. (contd.), M.Tech (ICT), B.E. (Computer)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99001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839565"/>
            <a:ext cx="4687808" cy="5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Patent holder — digital metering using Zigbee; 25+ international publications, 3 book chapters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529022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469586"/>
            <a:ext cx="4687808" cy="5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NSDC Master Trainer &amp; SME with NASSCOM / ESSCI; IVLP alumna (US, Women in STEAM)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159043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099607"/>
            <a:ext cx="4687808" cy="5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Women Entrepreneur Gujarat (GESIA, 2014); Director, Women in Big Data India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789064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729628"/>
            <a:ext cx="4687808" cy="5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Trained 70,000+ students; built multiple Centres of Excellence and incubation centres</a:t>
            </a:r>
          </a:p>
        </p:txBody>
      </p:sp>
      <p:sp>
        <p:nvSpPr>
          <p:cNvPr id="19" name="Oval 18"/>
          <p:cNvSpPr/>
          <p:nvPr/>
        </p:nvSpPr>
        <p:spPr>
          <a:xfrm>
            <a:off x="6644624" y="3268980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7504" y="3209544"/>
            <a:ext cx="4687808" cy="5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B.Tech (Computer Science, 1995), NIT Rourkela; Executive MBA, Harvard Business School</a:t>
            </a:r>
          </a:p>
        </p:txBody>
      </p:sp>
      <p:sp>
        <p:nvSpPr>
          <p:cNvPr id="21" name="Oval 20"/>
          <p:cNvSpPr/>
          <p:nvPr/>
        </p:nvSpPr>
        <p:spPr>
          <a:xfrm>
            <a:off x="6644624" y="3899001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7504" y="3839565"/>
            <a:ext cx="4687808" cy="2967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AI / Data Science &amp; Quantum Computing, MIT Boston</a:t>
            </a:r>
          </a:p>
        </p:txBody>
      </p:sp>
      <p:sp>
        <p:nvSpPr>
          <p:cNvPr id="23" name="Oval 22"/>
          <p:cNvSpPr/>
          <p:nvPr/>
        </p:nvSpPr>
        <p:spPr>
          <a:xfrm>
            <a:off x="6644624" y="4278019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7504" y="4218583"/>
            <a:ext cx="4687808" cy="2967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Industry-Academia Anchor, KDEM, Government of Karnataka</a:t>
            </a:r>
          </a:p>
        </p:txBody>
      </p:sp>
      <p:sp>
        <p:nvSpPr>
          <p:cNvPr id="25" name="Oval 24"/>
          <p:cNvSpPr/>
          <p:nvPr/>
        </p:nvSpPr>
        <p:spPr>
          <a:xfrm>
            <a:off x="6644624" y="4657037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7504" y="4597601"/>
            <a:ext cx="4687808" cy="2967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Prior industry experience: IBM USA, AT&amp;T NJ, CNR Corp, eVue</a:t>
            </a:r>
          </a:p>
        </p:txBody>
      </p:sp>
      <p:sp>
        <p:nvSpPr>
          <p:cNvPr id="27" name="Oval 26"/>
          <p:cNvSpPr/>
          <p:nvPr/>
        </p:nvSpPr>
        <p:spPr>
          <a:xfrm>
            <a:off x="6644624" y="5036055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7504" y="4976619"/>
            <a:ext cx="4687808" cy="5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Serial entrepreneur, startup mentor and angel investor; board member for several companies</a:t>
            </a:r>
          </a:p>
        </p:txBody>
      </p:sp>
      <p:sp>
        <p:nvSpPr>
          <p:cNvPr id="29" name="Oval 28"/>
          <p:cNvSpPr/>
          <p:nvPr/>
        </p:nvSpPr>
        <p:spPr>
          <a:xfrm>
            <a:off x="6644624" y="5666076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7504" y="5606640"/>
            <a:ext cx="4687808" cy="547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Montserrat"/>
              </a:rPr>
              <a:t>Visionary and catalyst for industry-academia collaboration — instrumental in setting up CoEs and incubation centres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Advisory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4109"/>
            <a:ext cx="8778240" cy="4168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Senior leaders from industry, academia and philanthropy who guide Orena's direction.</a:t>
            </a:r>
          </a:p>
        </p:txBody>
      </p:sp>
      <p:pic>
        <p:nvPicPr>
          <p:cNvPr id="5" name="Picture 4" descr="bhuvan_unhelkar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366" y="2286000"/>
            <a:ext cx="1417320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3959352"/>
            <a:ext cx="325931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Dr. Bhuvan Unhelkar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306824"/>
            <a:ext cx="325931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676767"/>
                </a:solidFill>
                <a:latin typeface="Montserrat"/>
              </a:rPr>
              <a:t>Professor of Information Technology and consultant — Sarasota, Florida.</a:t>
            </a:r>
          </a:p>
        </p:txBody>
      </p:sp>
      <p:pic>
        <p:nvPicPr>
          <p:cNvPr id="8" name="Picture 7" descr="prabhat_ranjan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323" y="2286000"/>
            <a:ext cx="14173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66325" y="3959352"/>
            <a:ext cx="325931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Dr. Prabhat Ranjan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6325" y="4306824"/>
            <a:ext cx="325931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676767"/>
                </a:solidFill>
                <a:latin typeface="Montserrat"/>
              </a:rPr>
              <a:t>Vice Chancellor, D Y Patil International University, Akurdi, Pune. Former Director, TIFAC.</a:t>
            </a:r>
          </a:p>
        </p:txBody>
      </p:sp>
      <p:pic>
        <p:nvPicPr>
          <p:cNvPr id="11" name="Picture 10" descr="pratul_shroff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281" y="2286000"/>
            <a:ext cx="14173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4283" y="3959352"/>
            <a:ext cx="325931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Montserrat"/>
              </a:rPr>
              <a:t>Mr. Pratul Shroff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4283" y="4306824"/>
            <a:ext cx="325931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676767"/>
                </a:solidFill>
                <a:latin typeface="Montserrat"/>
              </a:rPr>
              <a:t>Founder of eInfochips. Founder, Dr. K. R. Shroff Foundation. Philanthropist, thinker &amp; doer.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840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spc="100">
                <a:solidFill>
                  <a:srgbClr val="55A96F"/>
                </a:solidFill>
                <a:latin typeface="Montserra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5233" cy="52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9" b="1">
                <a:solidFill>
                  <a:srgbClr val="55A96F"/>
                </a:solidFill>
                <a:latin typeface="Montserrat"/>
              </a:rPr>
              <a:t>Building engineering talent is scattered across disconnected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35200"/>
            <a:ext cx="9509760" cy="1067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When companies hire, train and grow engineering teams, the work runs on email, spreadsheets, chats and calls. No single system holds it together — so progress is invisible and outcomes cannot be measured from one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95369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676767"/>
                </a:solidFill>
                <a:latin typeface="Montserrat"/>
              </a:rPr>
              <a:t>TODAY — THE FRAGMENTED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087977"/>
            <a:ext cx="932688" cy="859536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15993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3636617"/>
            <a:ext cx="932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9072" y="3087977"/>
            <a:ext cx="932688" cy="859536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3215993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19072" y="3636617"/>
            <a:ext cx="932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Spreadsheets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9776" y="3087977"/>
            <a:ext cx="932688" cy="859536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3215993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9776" y="3636617"/>
            <a:ext cx="932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WhatsApp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087977"/>
            <a:ext cx="932688" cy="859536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3215993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40480" y="3636617"/>
            <a:ext cx="932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01184" y="3087977"/>
            <a:ext cx="932688" cy="859536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l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936" y="3215993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01184" y="3636617"/>
            <a:ext cx="932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ontserrat"/>
              </a:rPr>
              <a:t>Files</a:t>
            </a:r>
          </a:p>
        </p:txBody>
      </p:sp>
      <p:pic>
        <p:nvPicPr>
          <p:cNvPr id="22" name="Picture 21" descr="problem_phot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093817"/>
            <a:ext cx="5029200" cy="1387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8" y="5682435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55A96F"/>
                </a:solidFill>
                <a:latin typeface="Montserrat"/>
              </a:rPr>
              <a:t>NO SHARED SYSTEM OF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56755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Progress lives in inboxes, sheets and chats — the consultant becomes the only source of truth.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95369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676767"/>
                </a:solidFill>
                <a:latin typeface="Montserrat"/>
              </a:rPr>
              <a:t>CORE PAIN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161129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5A96F"/>
                </a:solidFill>
                <a:latin typeface="Montserrat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161129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Manual coordination across stakeholders with no shared system of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929225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5A96F"/>
                </a:solidFill>
                <a:latin typeface="Montserrat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3929225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Progress and outcomes are not measurable from a single 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697321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5A96F"/>
                </a:solidFill>
                <a:latin typeface="Montserrat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697321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Client visibility depends on consultant follow-up, not self-serve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465417"/>
            <a:ext cx="365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55A96F"/>
                </a:solidFill>
                <a:latin typeface="Montserrat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5465417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No structured way to consolidate hiring, learning and transformation history per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8404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spc="100">
                <a:solidFill>
                  <a:srgbClr val="55A96F"/>
                </a:solidFill>
                <a:latin typeface="Montserrat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One platform that runs the entire talent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93837"/>
            <a:ext cx="9326880" cy="7421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Orena is building a Workforce Growth Platform — hiring, learning and culture transformation delivered inside one connected system, where experts and AI work together and every outcome is measurable.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28633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676767"/>
                </a:solidFill>
                <a:latin typeface="Montserrat"/>
              </a:rPr>
              <a:t>HOW IT WORKS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9128" y="2628633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55A96F"/>
                </a:solidFill>
                <a:latin typeface="Montserrat"/>
              </a:rPr>
              <a:t>WITH THE ORENA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049257"/>
            <a:ext cx="470916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39128" y="3049257"/>
            <a:ext cx="4709160" cy="9525"/>
          </a:xfrm>
          <a:prstGeom prst="rect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213849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676767"/>
                </a:solidFill>
                <a:latin typeface="Montserrat"/>
              </a:rPr>
              <a:t>Services delivered ad hoc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3213849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Montserrat"/>
              </a:rPr>
              <a:t>Services delivered through one connected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7528" y="321384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55A96F"/>
                </a:solidFill>
                <a:latin typeface="Montserrat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835641"/>
            <a:ext cx="470916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39128" y="3835641"/>
            <a:ext cx="4709160" cy="9525"/>
          </a:xfrm>
          <a:prstGeom prst="rect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000233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676767"/>
                </a:solidFill>
                <a:latin typeface="Montserrat"/>
              </a:rPr>
              <a:t>Email, spreadsheets and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4000233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Montserrat"/>
              </a:rPr>
              <a:t>A single system of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4000233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55A96F"/>
                </a:solidFill>
                <a:latin typeface="Montserrat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622025"/>
            <a:ext cx="470916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9128" y="4622025"/>
            <a:ext cx="4709160" cy="9525"/>
          </a:xfrm>
          <a:prstGeom prst="rect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86617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676767"/>
                </a:solidFill>
                <a:latin typeface="Montserrat"/>
              </a:rPr>
              <a:t>Visibility that depends on a consultant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4786617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Montserrat"/>
              </a:rPr>
              <a:t>Client self-serve dashboards and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78661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55A96F"/>
                </a:solidFill>
                <a:latin typeface="Montserrat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408409"/>
            <a:ext cx="470916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39128" y="5408409"/>
            <a:ext cx="4709160" cy="9525"/>
          </a:xfrm>
          <a:prstGeom prst="rect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573001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676767"/>
                </a:solidFill>
                <a:latin typeface="Montserrat"/>
              </a:rPr>
              <a:t>Tools that dictate the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5573001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Montserrat"/>
              </a:rPr>
              <a:t>Technology abstracted behind the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557300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55A96F"/>
                </a:solidFill>
                <a:latin typeface="Montserrat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089904"/>
            <a:ext cx="1087523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55A96F"/>
                </a:solidFill>
                <a:latin typeface="Montserrat"/>
              </a:rPr>
              <a:t>Software orchestrates people, workflows and data.  Experts keep delivering the judgment-driven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pic>
        <p:nvPicPr>
          <p:cNvPr id="3" name="Picture 2" descr="orena_plan_bra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84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Power the pipeline of preferred engineers.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4109"/>
            <a:ext cx="9144000" cy="1067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Our vision is to create an ecosystem that equips, empowers and encourages human talent — so companies grow through the right people, and people grow through relevant, research-based learning and mentoring.</a:t>
            </a:r>
          </a:p>
        </p:txBody>
      </p:sp>
      <p:pic>
        <p:nvPicPr>
          <p:cNvPr id="5" name="Picture 4" descr="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44278"/>
            <a:ext cx="493776" cy="493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3539222"/>
            <a:ext cx="25130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Montserrat"/>
              </a:rPr>
              <a:t>Reliable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982"/>
            <a:ext cx="251306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We deliver on our word. Every engagement is built on consistency organizations can plan around.</a:t>
            </a:r>
          </a:p>
        </p:txBody>
      </p:sp>
      <p:pic>
        <p:nvPicPr>
          <p:cNvPr id="8" name="Picture 7" descr="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756" y="2844278"/>
            <a:ext cx="493776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45756" y="3539222"/>
            <a:ext cx="25130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Montserrat"/>
              </a:rPr>
              <a:t>Forward-thinking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5756" y="3904982"/>
            <a:ext cx="251306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We anticipate where talent and industry are headed, not just where they are today.</a:t>
            </a:r>
          </a:p>
        </p:txBody>
      </p:sp>
      <p:pic>
        <p:nvPicPr>
          <p:cNvPr id="11" name="Picture 10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144" y="2844278"/>
            <a:ext cx="493776" cy="493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33144" y="3539222"/>
            <a:ext cx="25130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Montserrat"/>
              </a:rPr>
              <a:t>People-focused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144" y="3904982"/>
            <a:ext cx="251306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Every solution starts with the humans it serves — engineers, teams and leaders alike.</a:t>
            </a:r>
          </a:p>
        </p:txBody>
      </p:sp>
      <p:pic>
        <p:nvPicPr>
          <p:cNvPr id="14" name="Picture 13" descr="med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532" y="2844278"/>
            <a:ext cx="493776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20532" y="3539222"/>
            <a:ext cx="25130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50" b="1">
                <a:solidFill>
                  <a:srgbClr val="000000"/>
                </a:solidFill>
                <a:latin typeface="Montserrat"/>
              </a:rPr>
              <a:t>Impact-driven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0532" y="3904982"/>
            <a:ext cx="251306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We engineer solutions that create lasting value, not just short-term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669280"/>
            <a:ext cx="1087523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55A96F"/>
                </a:solidFill>
                <a:latin typeface="Montserrat"/>
              </a:rPr>
              <a:t>One platform.   One talent journey.   One connected 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Our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4109"/>
            <a:ext cx="8961120" cy="7421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Seven services, three engines, one platform — industry-ready engineering talent and the organizations that keep it growing.</a:t>
            </a:r>
          </a:p>
        </p:txBody>
      </p:sp>
      <p:pic>
        <p:nvPicPr>
          <p:cNvPr id="5" name="Picture 4" descr="tal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18905"/>
            <a:ext cx="2513068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3634473"/>
            <a:ext cx="2513068" cy="278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Montserrat"/>
              </a:rPr>
              <a:t>Talent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12603"/>
            <a:ext cx="2513068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76767"/>
                </a:solidFill>
                <a:latin typeface="Montserrat"/>
              </a:rPr>
              <a:t>Contract, permanent &amp; freelance hiring, campus drives, mock interviews.</a:t>
            </a:r>
          </a:p>
        </p:txBody>
      </p:sp>
      <p:pic>
        <p:nvPicPr>
          <p:cNvPr id="8" name="Picture 7" descr="industry_rea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756" y="2518905"/>
            <a:ext cx="2513068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45756" y="3634473"/>
            <a:ext cx="2513068" cy="278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Montserrat"/>
              </a:rPr>
              <a:t>Making Industry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5756" y="3912603"/>
            <a:ext cx="2513068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76767"/>
                </a:solidFill>
                <a:latin typeface="Montserrat"/>
              </a:rPr>
              <a:t>Research-based training that makes graduates deployable.</a:t>
            </a:r>
          </a:p>
        </p:txBody>
      </p:sp>
      <p:pic>
        <p:nvPicPr>
          <p:cNvPr id="11" name="Picture 10" descr="expert_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144" y="2518905"/>
            <a:ext cx="2513068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33144" y="3634473"/>
            <a:ext cx="2513068" cy="278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Montserrat"/>
              </a:rPr>
              <a:t>Expert Exchange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144" y="3912603"/>
            <a:ext cx="2513068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76767"/>
                </a:solidFill>
                <a:latin typeface="Montserrat"/>
              </a:rPr>
              <a:t>Named domain experts for interviews, reviews and mentoring.</a:t>
            </a:r>
          </a:p>
        </p:txBody>
      </p:sp>
      <p:pic>
        <p:nvPicPr>
          <p:cNvPr id="14" name="Picture 13" descr="worksh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532" y="2518905"/>
            <a:ext cx="2513068" cy="1005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20532" y="3634473"/>
            <a:ext cx="2513068" cy="278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Montserrat"/>
              </a:rPr>
              <a:t>Corporate Workshops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0532" y="3912603"/>
            <a:ext cx="2513068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76767"/>
                </a:solidFill>
                <a:latin typeface="Montserrat"/>
              </a:rPr>
              <a:t>Focused upskilling delivered inside client organizations.</a:t>
            </a:r>
          </a:p>
        </p:txBody>
      </p:sp>
      <p:pic>
        <p:nvPicPr>
          <p:cNvPr id="17" name="Picture 16" descr="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477244"/>
            <a:ext cx="2513068" cy="1005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5592812"/>
            <a:ext cx="2513068" cy="278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Montserrat"/>
              </a:rPr>
              <a:t>IP, Patent &amp;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70942"/>
            <a:ext cx="2513068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76767"/>
                </a:solidFill>
                <a:latin typeface="Montserrat"/>
              </a:rPr>
              <a:t>Intellectual-property creation, patents and product development.</a:t>
            </a:r>
          </a:p>
        </p:txBody>
      </p:sp>
      <p:pic>
        <p:nvPicPr>
          <p:cNvPr id="20" name="Picture 19" descr="research_centr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5756" y="4477244"/>
            <a:ext cx="2513068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45756" y="5592812"/>
            <a:ext cx="2513068" cy="278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Montserrat"/>
              </a:rPr>
              <a:t>Setting up Research Centres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5756" y="5870942"/>
            <a:ext cx="2513068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76767"/>
                </a:solidFill>
                <a:latin typeface="Montserrat"/>
              </a:rPr>
              <a:t>Design-house and research-centre setup, team to infrastructure.</a:t>
            </a:r>
          </a:p>
        </p:txBody>
      </p:sp>
      <p:pic>
        <p:nvPicPr>
          <p:cNvPr id="23" name="Picture 22" descr="industri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3144" y="4477244"/>
            <a:ext cx="2513068" cy="1005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33144" y="5592812"/>
            <a:ext cx="2513068" cy="278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Montserrat"/>
              </a:rPr>
              <a:t>Executing Industrial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144" y="5870942"/>
            <a:ext cx="2513068" cy="4640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76767"/>
                </a:solidFill>
                <a:latin typeface="Montserrat"/>
              </a:rPr>
              <a:t>End-to-end delivery of industrial engineering projects.</a:t>
            </a:r>
          </a:p>
        </p:txBody>
      </p:sp>
      <p:sp>
        <p:nvSpPr>
          <p:cNvPr id="304" name="TextBox 26"/>
          <p:cNvSpPr/>
          <p:nvPr/>
        </p:nvSpPr>
        <p:spPr>
          <a:xfrm>
            <a:off x="9020520" y="4477320"/>
            <a:ext cx="25124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250" b="1" u="none" strike="noStrike">
                <a:solidFill>
                  <a:srgbClr val="000000"/>
                </a:solidFill>
                <a:effectLst/>
                <a:uFillTx/>
                <a:latin typeface="Montserrat"/>
              </a:rPr>
              <a:t>Platform Services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7"/>
          <p:cNvSpPr/>
          <p:nvPr/>
        </p:nvSpPr>
        <p:spPr>
          <a:xfrm>
            <a:off x="9020520" y="4800600"/>
            <a:ext cx="2512440" cy="13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14300" indent="-114300">
              <a:lnSpc>
                <a:spcPct val="125000"/>
              </a:lnSpc>
              <a:buFont typeface="Arial"/>
              <a:buChar char="•"/>
            </a:pPr>
            <a:r>
              <a:rPr lang="en-US" sz="1000" b="0" u="none" strike="noStrike">
                <a:solidFill>
                  <a:srgbClr val="676767"/>
                </a:solidFill>
                <a:effectLst/>
                <a:uFillTx/>
                <a:latin typeface="Montserrat"/>
              </a:rPr>
              <a:t>Authentication &amp; role-based access</a:t>
            </a:r>
          </a:p>
          <a:p>
            <a:pPr marL="114300" indent="-114300">
              <a:lnSpc>
                <a:spcPct val="125000"/>
              </a:lnSpc>
              <a:buFont typeface="Arial"/>
              <a:buChar char="•"/>
            </a:pPr>
            <a:r>
              <a:rPr lang="en-US" sz="1000" b="0" u="none" strike="noStrike">
                <a:solidFill>
                  <a:srgbClr val="676767"/>
                </a:solidFill>
                <a:effectLst/>
                <a:uFillTx/>
                <a:latin typeface="Montserrat"/>
              </a:rPr>
              <a:t>Analytics &amp; reporting</a:t>
            </a:r>
          </a:p>
          <a:p>
            <a:pPr marL="114300" indent="-114300">
              <a:lnSpc>
                <a:spcPct val="125000"/>
              </a:lnSpc>
              <a:buFont typeface="Arial"/>
              <a:buChar char="•"/>
            </a:pPr>
            <a:r>
              <a:rPr lang="en-US" sz="1000" b="0" u="none" strike="noStrike">
                <a:solidFill>
                  <a:srgbClr val="676767"/>
                </a:solidFill>
                <a:effectLst/>
                <a:uFillTx/>
                <a:latin typeface="Montserrat"/>
              </a:rPr>
              <a:t>Document management</a:t>
            </a:r>
          </a:p>
          <a:p>
            <a:pPr marL="114300" indent="-114300">
              <a:lnSpc>
                <a:spcPct val="125000"/>
              </a:lnSpc>
              <a:buFont typeface="Arial"/>
              <a:buChar char="•"/>
            </a:pPr>
            <a:r>
              <a:rPr lang="en-US" sz="1000" b="0" u="none" strike="noStrike">
                <a:solidFill>
                  <a:srgbClr val="676767"/>
                </a:solidFill>
                <a:effectLst/>
                <a:uFillTx/>
                <a:latin typeface="Montserrat"/>
              </a:rPr>
              <a:t>Notifications</a:t>
            </a:r>
          </a:p>
          <a:p>
            <a:pPr marL="114300" indent="-114300">
              <a:lnSpc>
                <a:spcPct val="125000"/>
              </a:lnSpc>
              <a:buFont typeface="Arial"/>
              <a:buChar char="•"/>
            </a:pPr>
            <a:r>
              <a:rPr lang="en-US" sz="1000" b="0" u="none" strike="noStrike">
                <a:solidFill>
                  <a:srgbClr val="676767"/>
                </a:solidFill>
                <a:effectLst/>
                <a:uFillTx/>
                <a:latin typeface="Montserrat"/>
              </a:rPr>
              <a:t>AI assistant</a:t>
            </a:r>
          </a:p>
          <a:endParaRPr lang="en-US" sz="1000" b="0" u="none" strike="noStrike">
            <a:solidFill>
              <a:srgbClr val="000000"/>
            </a:solidFill>
            <a:effectLst/>
            <a:uFillTx/>
            <a:latin typeface="Arial"/>
          </a:endParaRPr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University &amp; Knowledge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4109"/>
            <a:ext cx="9326880" cy="7421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Research-based training runs in collaboration with universities — the engine behind industry-ready graduates and the campus hiring pipeline.</a:t>
            </a:r>
          </a:p>
        </p:txBody>
      </p:sp>
      <p:pic>
        <p:nvPicPr>
          <p:cNvPr id="5" name="Picture 4" descr="dypat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709721"/>
            <a:ext cx="2170168" cy="807087"/>
          </a:xfrm>
          <a:prstGeom prst="rect">
            <a:avLst/>
          </a:prstGeom>
        </p:spPr>
      </p:pic>
      <p:pic>
        <p:nvPicPr>
          <p:cNvPr id="6" name="Picture 5" descr="mitpu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356" y="2582913"/>
            <a:ext cx="963007" cy="1060704"/>
          </a:xfrm>
          <a:prstGeom prst="rect">
            <a:avLst/>
          </a:prstGeom>
        </p:spPr>
      </p:pic>
      <p:pic>
        <p:nvPicPr>
          <p:cNvPr id="7" name="Picture 6" descr="atmiy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756" y="2582913"/>
            <a:ext cx="1060704" cy="1060704"/>
          </a:xfrm>
          <a:prstGeom prst="rect">
            <a:avLst/>
          </a:prstGeom>
        </p:spPr>
      </p:pic>
      <p:pic>
        <p:nvPicPr>
          <p:cNvPr id="8" name="Picture 7" descr="vidyavik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72" y="2925650"/>
            <a:ext cx="2170168" cy="375229"/>
          </a:xfrm>
          <a:prstGeom prst="rect">
            <a:avLst/>
          </a:prstGeom>
        </p:spPr>
      </p:pic>
      <p:pic>
        <p:nvPicPr>
          <p:cNvPr id="9" name="Picture 8" descr="strip_guj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093102"/>
            <a:ext cx="5071856" cy="1414461"/>
          </a:xfrm>
          <a:prstGeom prst="rect">
            <a:avLst/>
          </a:prstGeom>
        </p:spPr>
      </p:pic>
      <p:pic>
        <p:nvPicPr>
          <p:cNvPr id="10" name="Picture 9" descr="strip_pr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744" y="4182334"/>
            <a:ext cx="5071856" cy="12359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783313"/>
            <a:ext cx="108752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55A96F"/>
                </a:solidFill>
                <a:latin typeface="Montserrat"/>
              </a:rPr>
              <a:t>PROGRAMS   </a:t>
            </a:r>
            <a:r>
              <a:rPr sz="1300" b="0">
                <a:solidFill>
                  <a:srgbClr val="000000"/>
                </a:solidFill>
                <a:latin typeface="Montserrat"/>
              </a:rPr>
              <a:t>TI University Program  ·  Cypress University Alliance  ·  Board of Studies participation across universities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Domains &amp;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4109"/>
            <a:ext cx="9326880" cy="7421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We operate across seven engineering domains, for a client base that spans product companies, design houses and enterprises.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18905"/>
            <a:ext cx="108752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676767"/>
                </a:solidFill>
                <a:latin typeface="Montserrat"/>
              </a:rPr>
              <a:t>DOMAINS WE 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811513"/>
            <a:ext cx="1396850" cy="548640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811513"/>
            <a:ext cx="128712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ontserrat"/>
              </a:rPr>
              <a:t>Embedded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8098" y="2811513"/>
            <a:ext cx="1396850" cy="548640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92962" y="2811513"/>
            <a:ext cx="128712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ontserrat"/>
              </a:rPr>
              <a:t>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7828" y="2811513"/>
            <a:ext cx="1396850" cy="548640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2692" y="2811513"/>
            <a:ext cx="128712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ontserrat"/>
              </a:rPr>
              <a:t>Industry 4.0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7559" y="2811513"/>
            <a:ext cx="1396850" cy="548640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2423" y="2811513"/>
            <a:ext cx="128712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ontserrat"/>
              </a:rPr>
              <a:t>IT &amp; ITES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77289" y="2811513"/>
            <a:ext cx="1396850" cy="548640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2153" y="2811513"/>
            <a:ext cx="128712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ontserrat"/>
              </a:rPr>
              <a:t>E-Commerce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57020" y="2811513"/>
            <a:ext cx="1396850" cy="548640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1884" y="2811513"/>
            <a:ext cx="128712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ontserrat"/>
              </a:rPr>
              <a:t>Digitalization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36750" y="2811513"/>
            <a:ext cx="1396850" cy="548640"/>
          </a:xfrm>
          <a:prstGeom prst="rect">
            <a:avLst/>
          </a:prstGeom>
          <a:noFill/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1614" y="2811513"/>
            <a:ext cx="128712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Montserrat"/>
              </a:rPr>
              <a:t>Consumer Durables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89337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 spc="60">
                <a:solidFill>
                  <a:srgbClr val="676767"/>
                </a:solidFill>
                <a:latin typeface="Montserrat"/>
              </a:rPr>
              <a:t>SELECTED CLIENTS — DEVELOPMENT &amp; RECRUITMENT</a:t>
            </a:r>
          </a:p>
        </p:txBody>
      </p:sp>
      <p:pic>
        <p:nvPicPr>
          <p:cNvPr id="21" name="Picture 20" descr="is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133086"/>
            <a:ext cx="1355338" cy="319509"/>
          </a:xfrm>
          <a:prstGeom prst="rect">
            <a:avLst/>
          </a:prstGeom>
        </p:spPr>
      </p:pic>
      <p:pic>
        <p:nvPicPr>
          <p:cNvPr id="22" name="Picture 21" descr="meg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4642" y="4147085"/>
            <a:ext cx="1355338" cy="291511"/>
          </a:xfrm>
          <a:prstGeom prst="rect">
            <a:avLst/>
          </a:prstGeom>
        </p:spPr>
      </p:pic>
      <p:pic>
        <p:nvPicPr>
          <p:cNvPr id="23" name="Picture 22" descr="india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757" y="4215191"/>
            <a:ext cx="1355338" cy="155299"/>
          </a:xfrm>
          <a:prstGeom prst="rect">
            <a:avLst/>
          </a:prstGeom>
        </p:spPr>
      </p:pic>
      <p:pic>
        <p:nvPicPr>
          <p:cNvPr id="24" name="Picture 23" descr="av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6593" y="4119105"/>
            <a:ext cx="327896" cy="347472"/>
          </a:xfrm>
          <a:prstGeom prst="rect">
            <a:avLst/>
          </a:prstGeom>
        </p:spPr>
      </p:pic>
      <p:pic>
        <p:nvPicPr>
          <p:cNvPr id="25" name="Picture 24" descr="kitso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4233" y="4119105"/>
            <a:ext cx="570846" cy="347472"/>
          </a:xfrm>
          <a:prstGeom prst="rect">
            <a:avLst/>
          </a:prstGeom>
        </p:spPr>
      </p:pic>
      <p:pic>
        <p:nvPicPr>
          <p:cNvPr id="26" name="Picture 25" descr="si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1102" y="4166763"/>
            <a:ext cx="1355338" cy="252156"/>
          </a:xfrm>
          <a:prstGeom prst="rect">
            <a:avLst/>
          </a:prstGeom>
        </p:spPr>
      </p:pic>
      <p:pic>
        <p:nvPicPr>
          <p:cNvPr id="27" name="Picture 26" descr="neofrui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982" y="4686033"/>
            <a:ext cx="1336430" cy="347472"/>
          </a:xfrm>
          <a:prstGeom prst="rect">
            <a:avLst/>
          </a:prstGeom>
        </p:spPr>
      </p:pic>
      <p:pic>
        <p:nvPicPr>
          <p:cNvPr id="28" name="Picture 27" descr="greenf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0175" y="4686033"/>
            <a:ext cx="624271" cy="347472"/>
          </a:xfrm>
          <a:prstGeom prst="rect">
            <a:avLst/>
          </a:prstGeom>
        </p:spPr>
      </p:pic>
      <p:pic>
        <p:nvPicPr>
          <p:cNvPr id="29" name="Picture 28" descr="ophi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1819" y="4686033"/>
            <a:ext cx="459214" cy="347472"/>
          </a:xfrm>
          <a:prstGeom prst="rect">
            <a:avLst/>
          </a:prstGeom>
        </p:spPr>
      </p:pic>
      <p:pic>
        <p:nvPicPr>
          <p:cNvPr id="30" name="Picture 29" descr="maplelea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2872" y="4718588"/>
            <a:ext cx="1355338" cy="282362"/>
          </a:xfrm>
          <a:prstGeom prst="rect">
            <a:avLst/>
          </a:prstGeom>
        </p:spPr>
      </p:pic>
      <p:pic>
        <p:nvPicPr>
          <p:cNvPr id="31" name="Picture 30" descr="ad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2425" y="4686033"/>
            <a:ext cx="1134461" cy="347472"/>
          </a:xfrm>
          <a:prstGeom prst="rect">
            <a:avLst/>
          </a:prstGeom>
        </p:spPr>
      </p:pic>
      <p:pic>
        <p:nvPicPr>
          <p:cNvPr id="32" name="Picture 31" descr="packma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81526" y="4686033"/>
            <a:ext cx="1074490" cy="347472"/>
          </a:xfrm>
          <a:prstGeom prst="rect">
            <a:avLst/>
          </a:prstGeom>
        </p:spPr>
      </p:pic>
      <p:pic>
        <p:nvPicPr>
          <p:cNvPr id="33" name="Picture 32" descr="arastu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7688" y="5252961"/>
            <a:ext cx="891017" cy="347472"/>
          </a:xfrm>
          <a:prstGeom prst="rect">
            <a:avLst/>
          </a:prstGeom>
        </p:spPr>
      </p:pic>
      <p:pic>
        <p:nvPicPr>
          <p:cNvPr id="34" name="Picture 33" descr="credenc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7024" y="5252961"/>
            <a:ext cx="1310573" cy="347472"/>
          </a:xfrm>
          <a:prstGeom prst="rect">
            <a:avLst/>
          </a:prstGeom>
        </p:spPr>
      </p:pic>
      <p:pic>
        <p:nvPicPr>
          <p:cNvPr id="35" name="Picture 34" descr="remax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36678" y="5252961"/>
            <a:ext cx="269496" cy="347472"/>
          </a:xfrm>
          <a:prstGeom prst="rect">
            <a:avLst/>
          </a:prstGeom>
        </p:spPr>
      </p:pic>
      <p:pic>
        <p:nvPicPr>
          <p:cNvPr id="36" name="Picture 35" descr="relc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2872" y="5253044"/>
            <a:ext cx="1355338" cy="347305"/>
          </a:xfrm>
          <a:prstGeom prst="rect">
            <a:avLst/>
          </a:prstGeom>
        </p:spPr>
      </p:pic>
      <p:pic>
        <p:nvPicPr>
          <p:cNvPr id="37" name="Picture 36" descr="helio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987" y="5312127"/>
            <a:ext cx="1355338" cy="229140"/>
          </a:xfrm>
          <a:prstGeom prst="rect">
            <a:avLst/>
          </a:prstGeom>
        </p:spPr>
      </p:pic>
      <p:pic>
        <p:nvPicPr>
          <p:cNvPr id="38" name="Picture 37" descr="wingma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28632" y="5252961"/>
            <a:ext cx="580278" cy="347472"/>
          </a:xfrm>
          <a:prstGeom prst="rect">
            <a:avLst/>
          </a:prstGeom>
        </p:spPr>
      </p:pic>
      <p:pic>
        <p:nvPicPr>
          <p:cNvPr id="39" name="Picture 38" descr="barodaweb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1870" y="5819889"/>
            <a:ext cx="1242654" cy="347472"/>
          </a:xfrm>
          <a:prstGeom prst="rect">
            <a:avLst/>
          </a:prstGeom>
        </p:spPr>
      </p:pic>
      <p:pic>
        <p:nvPicPr>
          <p:cNvPr id="40" name="Picture 39" descr="netweb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44642" y="5869787"/>
            <a:ext cx="1355338" cy="247676"/>
          </a:xfrm>
          <a:prstGeom prst="rect">
            <a:avLst/>
          </a:prstGeom>
        </p:spPr>
      </p:pic>
      <p:pic>
        <p:nvPicPr>
          <p:cNvPr id="41" name="Picture 40" descr="crescen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04714" y="5819889"/>
            <a:ext cx="1333423" cy="347472"/>
          </a:xfrm>
          <a:prstGeom prst="rect">
            <a:avLst/>
          </a:prstGeom>
        </p:spPr>
      </p:pic>
      <p:pic>
        <p:nvPicPr>
          <p:cNvPr id="42" name="Picture 41" descr="jhp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89477" y="5819889"/>
            <a:ext cx="262128" cy="347472"/>
          </a:xfrm>
          <a:prstGeom prst="rect">
            <a:avLst/>
          </a:prstGeom>
        </p:spPr>
      </p:pic>
      <p:pic>
        <p:nvPicPr>
          <p:cNvPr id="43" name="Picture 42" descr="jenex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05643" y="5819889"/>
            <a:ext cx="1128025" cy="347472"/>
          </a:xfrm>
          <a:prstGeom prst="rect">
            <a:avLst/>
          </a:prstGeom>
        </p:spPr>
      </p:pic>
      <p:pic>
        <p:nvPicPr>
          <p:cNvPr id="44" name="Picture 43" descr="elitewar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41102" y="5865296"/>
            <a:ext cx="1355338" cy="25665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8368" y="6414249"/>
            <a:ext cx="108752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76767"/>
                </a:solidFill>
                <a:latin typeface="Montserrat"/>
              </a:rPr>
              <a:t>…plus eInfochips, VVDN Technologies, and Fortune 500 delivery through our global partners.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Global clients through our partner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4109"/>
            <a:ext cx="9144000" cy="7421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Through our global partner XCEL Solutions Corp, our talent and delivery reach Fortune 500 enterprises across the US, Europe and Latin America.</a:t>
            </a:r>
          </a:p>
        </p:txBody>
      </p:sp>
      <p:pic>
        <p:nvPicPr>
          <p:cNvPr id="5" name="Picture 4" descr="xcel_clients_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64" y="2518905"/>
            <a:ext cx="8778240" cy="38656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604034"/>
            <a:ext cx="1087523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76767"/>
                </a:solidFill>
                <a:latin typeface="Montserrat"/>
              </a:rPr>
              <a:t>IBM · SAP · Oracle · Ericsson · Bayer · Ford · HP · Sun Microsystems · The Washington Post · Stanford University · Telcel · and more.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ena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8171" y="6126480"/>
            <a:ext cx="196054" cy="530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5233" cy="679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55A96F"/>
                </a:solidFill>
                <a:latin typeface="Montserrat"/>
              </a:rPr>
              <a:t>The numbers behind the 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55A96F"/>
                </a:solidFill>
                <a:latin typeface="Montserrat"/>
              </a:rPr>
              <a:t>1,500+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Engineers 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1386" y="1554480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55A96F"/>
                </a:solidFill>
                <a:latin typeface="Montserrat"/>
              </a:rPr>
              <a:t>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1386" y="2066544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Placement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4405" y="1554480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55A96F"/>
                </a:solidFill>
                <a:latin typeface="Montserrat"/>
              </a:rPr>
              <a:t>70,000+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4405" y="2066544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Students reached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7424" y="1554480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55A96F"/>
                </a:solidFill>
                <a:latin typeface="Montserrat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7424" y="2066544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Intellectual properties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0443" y="1554480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55A96F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0443" y="2066544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IP patent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3462" y="1554480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55A96F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3462" y="2066544"/>
            <a:ext cx="16601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Montserrat"/>
              </a:rPr>
              <a:t>Entrepreneurs incubated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52928"/>
            <a:ext cx="10875233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35808"/>
            <a:ext cx="1087523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55A96F"/>
                </a:solidFill>
                <a:latin typeface="Montserrat"/>
              </a:rPr>
              <a:t>Star Companies of Orena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511296"/>
            <a:ext cx="4888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eInfochips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3986784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931920"/>
            <a:ext cx="4687808" cy="610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Around 1,500 of 2,000 eInfochips engineers were trained by our team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679556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624692"/>
            <a:ext cx="4687808" cy="610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Long-running embedded-domain training partnership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624" y="3511296"/>
            <a:ext cx="4888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Montserrat"/>
              </a:rPr>
              <a:t>VVDN Technologies</a:t>
            </a:r>
          </a:p>
        </p:txBody>
      </p:sp>
      <p:sp>
        <p:nvSpPr>
          <p:cNvPr id="24" name="Oval 23"/>
          <p:cNvSpPr/>
          <p:nvPr/>
        </p:nvSpPr>
        <p:spPr>
          <a:xfrm>
            <a:off x="6644624" y="3986784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7504" y="3931920"/>
            <a:ext cx="4687808" cy="610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Initiated the entire design house for VVDN in Gandhinagar</a:t>
            </a:r>
          </a:p>
        </p:txBody>
      </p:sp>
      <p:sp>
        <p:nvSpPr>
          <p:cNvPr id="26" name="Oval 25"/>
          <p:cNvSpPr/>
          <p:nvPr/>
        </p:nvSpPr>
        <p:spPr>
          <a:xfrm>
            <a:off x="6644624" y="4679556"/>
            <a:ext cx="56692" cy="56692"/>
          </a:xfrm>
          <a:prstGeom prst="ellipse">
            <a:avLst/>
          </a:prstGeom>
          <a:solidFill>
            <a:srgbClr val="55A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7504" y="4624692"/>
            <a:ext cx="4687808" cy="8928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Recruited a 500-strong team across all 8 design houses PAN India — including sales teams in the US, Canada, Japan and Germany; 450 joined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C2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ren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25296"/>
            <a:ext cx="3657600" cy="22879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931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ontserrat"/>
              </a:rPr>
              <a:t>Let's build the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131673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Reach us at—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201168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80">
                <a:solidFill>
                  <a:srgbClr val="28B570"/>
                </a:solidFill>
                <a:latin typeface="Montserrat"/>
              </a:rPr>
              <a:t>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24942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www.orena.solutions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578608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80">
                <a:solidFill>
                  <a:srgbClr val="28B570"/>
                </a:solidFill>
                <a:latin typeface="Montserrat"/>
              </a:rP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81635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contactus.orenasolutions@gmail.com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145536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80">
                <a:solidFill>
                  <a:srgbClr val="28B570"/>
                </a:solidFill>
                <a:latin typeface="Montserrat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338328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+91 98243 47721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712464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80">
                <a:solidFill>
                  <a:srgbClr val="28B570"/>
                </a:solidFill>
                <a:latin typeface="Montserrat"/>
              </a:rPr>
              <a:t>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950208"/>
            <a:ext cx="4206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4th Floor, Urban Complex, Near Panch-mukhi Hanuman,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Vasna-Bhayali Road, Vadodara – 390012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2031996" cy="347472"/>
          </a:xfrm>
          <a:prstGeom prst="rect">
            <a:avLst/>
          </a:prstGeom>
          <a:solidFill>
            <a:srgbClr val="2C3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31994" y="6510528"/>
            <a:ext cx="2031996" cy="347472"/>
          </a:xfrm>
          <a:prstGeom prst="rect">
            <a:avLst/>
          </a:prstGeom>
          <a:solidFill>
            <a:srgbClr val="29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3989" y="6510528"/>
            <a:ext cx="2031996" cy="347472"/>
          </a:xfrm>
          <a:prstGeom prst="rect">
            <a:avLst/>
          </a:prstGeom>
          <a:solidFill>
            <a:srgbClr val="16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5984" y="6510528"/>
            <a:ext cx="2031996" cy="347472"/>
          </a:xfrm>
          <a:prstGeom prst="rect">
            <a:avLst/>
          </a:prstGeom>
          <a:solidFill>
            <a:srgbClr val="97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7979" y="6510528"/>
            <a:ext cx="2031996" cy="347472"/>
          </a:xfrm>
          <a:prstGeom prst="rect">
            <a:avLst/>
          </a:prstGeom>
          <a:solidFill>
            <a:srgbClr val="F69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59974" y="6510528"/>
            <a:ext cx="2031996" cy="347472"/>
          </a:xfrm>
          <a:prstGeom prst="rect">
            <a:avLst/>
          </a:prstGeom>
          <a:solidFill>
            <a:srgbClr val="BE3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