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58" y="942975"/>
            <a:ext cx="1078427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87773" y="1971675"/>
            <a:ext cx="476845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Orena Unified Platform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3107531" y="2893219"/>
            <a:ext cx="29289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9D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Connecting the Complete Talent Journey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857375" y="3175397"/>
            <a:ext cx="5429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B8D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is building a unified platform that brings Hiring, Training and Culture Transformation into one connected ecosystem — connecting companies, candidates, students, employees and experts through a single experience.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2107406" y="3932634"/>
            <a:ext cx="4929188" cy="267891"/>
          </a:xfrm>
          <a:prstGeom prst="roundRect">
            <a:avLst/>
          </a:prstGeom>
          <a:solidFill>
            <a:srgbClr val="0D7043">
              <a:alpha val="55000"/>
            </a:srgbClr>
          </a:solidFill>
          <a:ln w="9144">
            <a:solidFill>
              <a:srgbClr val="D7E9DF">
                <a:alpha val="3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107406" y="3932634"/>
            <a:ext cx="4929188" cy="267891"/>
          </a:xfrm>
          <a:prstGeom prst="rect">
            <a:avLst/>
          </a:prstGeom>
          <a:noFill/>
          <a:ln/>
        </p:spPr>
        <p:txBody>
          <a:bodyPr wrap="square" lIns="238125" tIns="85090" rIns="238125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spc="2" kern="0" dirty="0">
                <a:solidFill>
                  <a:srgbClr val="E8F4E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FROM FINDING THE RIGHT TALENT TO DEVELOPING AND RETAINING IT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0" y="4850606"/>
            <a:ext cx="914400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D7E9D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OBJECTIVE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are we trying to achieve?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089422"/>
            <a:ext cx="7000875" cy="36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different stages of the talent lifecycle involve different platforms, processes and stakeholders. Orena's objective is to bring </a:t>
            </a:r>
            <a:r>
              <a:rPr lang="en-US" sz="80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stages together into </a:t>
            </a:r>
            <a:r>
              <a:rPr lang="en-US" sz="7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one connected platform</a:t>
            </a:r>
            <a:r>
              <a:rPr lang="en-US" sz="80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 that information and insights from each stage contribute to the next.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71500" y="1640495"/>
            <a:ext cx="1882378" cy="1557338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8663" y="1811945"/>
            <a:ext cx="328613" cy="328613"/>
          </a:xfrm>
          <a:prstGeom prst="ellipse">
            <a:avLst/>
          </a:prstGeom>
          <a:solidFill>
            <a:srgbClr val="00AF6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4" y="1908386"/>
            <a:ext cx="171450" cy="1357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8663" y="2240570"/>
            <a:ext cx="155198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04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Hiring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28663" y="2479886"/>
            <a:ext cx="1551980" cy="287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Identify, assess and onboard the right talent.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2594967" y="1640495"/>
            <a:ext cx="1887736" cy="1557338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57488" y="1811945"/>
            <a:ext cx="328613" cy="328613"/>
          </a:xfrm>
          <a:prstGeom prst="ellipse">
            <a:avLst/>
          </a:prstGeom>
          <a:solidFill>
            <a:srgbClr val="48B8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069" y="1908386"/>
            <a:ext cx="171450" cy="1357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57488" y="2240570"/>
            <a:ext cx="15573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04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Training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757488" y="2479886"/>
            <a:ext cx="1557338" cy="43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skills through structured learning, assessment and certification.</a:t>
            </a:r>
            <a:endParaRPr lang="en-US" sz="650" dirty="0"/>
          </a:p>
        </p:txBody>
      </p:sp>
      <p:sp>
        <p:nvSpPr>
          <p:cNvPr id="16" name="Shape 11"/>
          <p:cNvSpPr/>
          <p:nvPr/>
        </p:nvSpPr>
        <p:spPr>
          <a:xfrm>
            <a:off x="4629150" y="1640495"/>
            <a:ext cx="1893094" cy="1557338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97028" y="1811945"/>
            <a:ext cx="328613" cy="328613"/>
          </a:xfrm>
          <a:prstGeom prst="ellipse">
            <a:avLst/>
          </a:prstGeom>
          <a:solidFill>
            <a:srgbClr val="0D704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908386"/>
            <a:ext cx="135731" cy="13573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97028" y="2240570"/>
            <a:ext cx="156269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04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Mentoring &amp; Expertise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4797028" y="2479886"/>
            <a:ext cx="1562695" cy="287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people with experts for targeted development.</a:t>
            </a:r>
            <a:endParaRPr lang="en-US" sz="650" dirty="0"/>
          </a:p>
        </p:txBody>
      </p:sp>
      <p:sp>
        <p:nvSpPr>
          <p:cNvPr id="21" name="Shape 15"/>
          <p:cNvSpPr/>
          <p:nvPr/>
        </p:nvSpPr>
        <p:spPr>
          <a:xfrm>
            <a:off x="6674048" y="1640495"/>
            <a:ext cx="1898452" cy="1557338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847284" y="1811945"/>
            <a:ext cx="328613" cy="328613"/>
          </a:xfrm>
          <a:prstGeom prst="ellipse">
            <a:avLst/>
          </a:prstGeom>
          <a:solidFill>
            <a:srgbClr val="18231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725" y="1908386"/>
            <a:ext cx="135731" cy="13573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7284" y="2240570"/>
            <a:ext cx="156805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04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Culture Transformation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6847284" y="2479886"/>
            <a:ext cx="1568053" cy="43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and improve engagement, leadership and organisational culture.</a:t>
            </a:r>
            <a:endParaRPr lang="en-US" sz="650" dirty="0"/>
          </a:p>
        </p:txBody>
      </p:sp>
      <p:sp>
        <p:nvSpPr>
          <p:cNvPr id="26" name="Shape 19"/>
          <p:cNvSpPr/>
          <p:nvPr/>
        </p:nvSpPr>
        <p:spPr>
          <a:xfrm>
            <a:off x="571500" y="3383570"/>
            <a:ext cx="8001000" cy="400050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27" name="Text 20"/>
          <p:cNvSpPr/>
          <p:nvPr/>
        </p:nvSpPr>
        <p:spPr>
          <a:xfrm>
            <a:off x="2975372" y="3497870"/>
            <a:ext cx="319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platform. One talent journey. </a:t>
            </a:r>
            <a:r>
              <a:rPr lang="en-US" sz="80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connected view.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71475"/>
            <a:ext cx="289321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VISION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60784"/>
            <a:ext cx="2893219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Platform for Company, Candidate &amp; Student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1544836"/>
            <a:ext cx="2893219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vision is a common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Orena experience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connects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 participants of the talent ecosystem — instead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separate experiences, Orena creates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one connected journey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28663" y="2436242"/>
            <a:ext cx="27003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company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identify its requirements and talent needs.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28663" y="2666628"/>
            <a:ext cx="2736056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candidate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move through sourcing, assessment,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and onboarding.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28663" y="3041675"/>
            <a:ext cx="2736056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student or employee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continue into learning,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mentoring, assessment and certification.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571500" y="3473872"/>
            <a:ext cx="2893219" cy="55006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10" name="Text 7"/>
          <p:cNvSpPr/>
          <p:nvPr/>
        </p:nvSpPr>
        <p:spPr>
          <a:xfrm>
            <a:off x="728663" y="3588172"/>
            <a:ext cx="257889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Company → Candidate → Employee →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Continuous Development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779044" y="1157288"/>
            <a:ext cx="4793456" cy="269319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488" y="1268016"/>
            <a:ext cx="4572000" cy="2571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00475" y="3925491"/>
            <a:ext cx="47720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integrates </a:t>
            </a:r>
            <a:r>
              <a:rPr lang="en-US" sz="6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Moodle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6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Mentza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Orena across Hiring, Training and Culture Transformation.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HOW THE PLATFORM WORKS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46497"/>
            <a:ext cx="80010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Connecting specialized capabilities through Orena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1832372" y="1028700"/>
            <a:ext cx="5479256" cy="2393156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114425"/>
            <a:ext cx="5286375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5806" y="3543300"/>
            <a:ext cx="17287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Moodle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learning management and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training delivery.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2771775" y="3543300"/>
            <a:ext cx="17287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Mentza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expert sessions,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mentoring and skill development.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807744" y="3543300"/>
            <a:ext cx="1728788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Expert Network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curated expertise,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evaluation and expert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interviews.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843713" y="3543300"/>
            <a:ext cx="1728788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Orena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connecting layer that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brings these capabilities into one </a:t>
            </a:r>
            <a:r>
              <a:rPr lang="en-US" sz="700" dirty="0">
                <a:solidFill>
                  <a:srgbClr val="1823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571500" y="4120158"/>
            <a:ext cx="8001000" cy="37861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12" name="Text 8"/>
          <p:cNvSpPr/>
          <p:nvPr/>
        </p:nvSpPr>
        <p:spPr>
          <a:xfrm>
            <a:off x="1902023" y="4227314"/>
            <a:ext cx="533995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goal is not to replace every existing system —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it is to connect them into a common experience.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998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HIRING ENGINE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46497"/>
            <a:ext cx="800100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From requirement to onboarding — one connected recruitment journey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1325166"/>
            <a:ext cx="7715250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begins when a company creates a requirement and continues through sourcing, screening, assessment and interviews.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Expert involvement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then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deeper evaluation before the final selection — every stage contributing to a more complete understanding of the candidate.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75184" y="1799444"/>
            <a:ext cx="6193631" cy="275034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885169"/>
            <a:ext cx="6000750" cy="26431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685519"/>
            <a:ext cx="8001000" cy="37861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9" name="Text 5"/>
          <p:cNvSpPr/>
          <p:nvPr/>
        </p:nvSpPr>
        <p:spPr>
          <a:xfrm>
            <a:off x="1335881" y="4792675"/>
            <a:ext cx="64722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Eight stages, four systems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— every stage builds a richer understanding of the candidate before and during onboarding.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0" y="5064137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1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TRAINING ENGINE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46497"/>
            <a:ext cx="80010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Learning for students and employees on one platform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971550"/>
            <a:ext cx="7715250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Training Engine connects structured learning with practical skill development. For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students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journey moves from enrolment and learning paths to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lessons, assignments, projects, assessments and certification. For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employees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it begins with understanding current skills and gaps, followed by expert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sessions, mentoring, evaluation and certification.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75184" y="1611530"/>
            <a:ext cx="6193631" cy="275034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697255"/>
            <a:ext cx="6000750" cy="26431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497605"/>
            <a:ext cx="8001000" cy="37861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9" name="Text 5"/>
          <p:cNvSpPr/>
          <p:nvPr/>
        </p:nvSpPr>
        <p:spPr>
          <a:xfrm>
            <a:off x="875109" y="4604761"/>
            <a:ext cx="739378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LTI bridge carries Mentza's OSA Gap Analysis scoring into Orena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— connecting learning outcomes back to the broader talent journey.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0" y="4876223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CULTURE ENGINE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46497"/>
            <a:ext cx="80010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From culture initiatives to measurable insight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971550"/>
            <a:ext cx="7715250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Culture Engine focuses on the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human and organizational side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talent development. It brings together structured interventions that help organizations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their culture, strengthen leadership and improve employee engagement — a fully human-led pillar where each stage feeds the next.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75184" y="1445828"/>
            <a:ext cx="6193631" cy="275034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531553"/>
            <a:ext cx="6000750" cy="26431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331903"/>
            <a:ext cx="8001000" cy="37861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9" name="Text 5"/>
          <p:cNvSpPr/>
          <p:nvPr/>
        </p:nvSpPr>
        <p:spPr>
          <a:xfrm>
            <a:off x="1925241" y="4439059"/>
            <a:ext cx="52935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Move beyond individual initiatives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— create measurable insight into organizational development.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42900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CONVERGENCE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32209"/>
            <a:ext cx="80010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talent record across the entire journey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957263"/>
            <a:ext cx="7715250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value of the unified platform is not simply connecting different systems. It is bringing the information generated across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Hiring, Training and Culture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one connected talent view — a single record that supports a deeper understanding of each individual's journey and development.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560909" y="1417253"/>
            <a:ext cx="6022181" cy="257889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1488691"/>
            <a:ext cx="5857875" cy="2486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1519" y="4089016"/>
            <a:ext cx="23741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Hiring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contributes candidate information, 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assessments and evaluation.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3459975" y="4089016"/>
            <a:ext cx="23741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Training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contributes skills, learning progress and 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certifications.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198431" y="4089016"/>
            <a:ext cx="23741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Culture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contributes engagement, leadership and </a:t>
            </a: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insights.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571500" y="4486833"/>
            <a:ext cx="8001000" cy="364331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12" name="Text 8"/>
          <p:cNvSpPr/>
          <p:nvPr/>
        </p:nvSpPr>
        <p:spPr>
          <a:xfrm>
            <a:off x="3046809" y="4586846"/>
            <a:ext cx="305038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dashboard. One record.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Every pillar contributes to it.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0" y="4851164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1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FOUNDATION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46497"/>
            <a:ext cx="80010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Connecting Orena with existing client systems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971550"/>
            <a:ext cx="7715250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unified platform needs to work with the systems organizations already use. Rather than requiring every client to replace its existing infrastructure, Orena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introduces a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connector layer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the platform and client backends — connecting Orena with different environments while keeping the unified experience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the platform level.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75184" y="1611530"/>
            <a:ext cx="6193631" cy="275034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697255"/>
            <a:ext cx="6000750" cy="26431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497605"/>
            <a:ext cx="8001000" cy="37861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9" name="Text 5"/>
          <p:cNvSpPr/>
          <p:nvPr/>
        </p:nvSpPr>
        <p:spPr>
          <a:xfrm>
            <a:off x="1444823" y="4604761"/>
            <a:ext cx="625435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connector layer links Orena's Hiring, Training and Culture systems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 each client's LMS, SSO and HRIS backends.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0" y="4876223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ROLLOUT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46497"/>
            <a:ext cx="800100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 phased approach to building the platform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1500" y="971550"/>
            <a:ext cx="7715250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does not need to be built and deployed all at once. A phased approach allows each layer to be </a:t>
            </a:r>
            <a:r>
              <a:rPr lang="en-US" sz="700" b="1" dirty="0">
                <a:solidFill>
                  <a:srgbClr val="0D70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validated before expanding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Phase 1 validates </a:t>
            </a: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initial integration, Phase 2 establishes the complete Hiring Engine, and Phase 3 connects organization-wide learning and development.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75184" y="1445828"/>
            <a:ext cx="6193631" cy="2750344"/>
          </a:xfrm>
          <a:prstGeom prst="rect">
            <a:avLst/>
          </a:prstGeom>
          <a:solidFill>
            <a:srgbClr val="E8F4EE"/>
          </a:solidFill>
          <a:ln w="9144">
            <a:solidFill>
              <a:srgbClr val="D7E9D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531553"/>
            <a:ext cx="6000750" cy="26431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331903"/>
            <a:ext cx="8001000" cy="378619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9" name="Text 5"/>
          <p:cNvSpPr/>
          <p:nvPr/>
        </p:nvSpPr>
        <p:spPr>
          <a:xfrm>
            <a:off x="3168253" y="4439059"/>
            <a:ext cx="28074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approach: </a:t>
            </a:r>
            <a:r>
              <a:rPr lang="en-US" sz="750" b="1" dirty="0">
                <a:solidFill>
                  <a:srgbClr val="B5D60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Validate → Learn → Improve → Scale.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4572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00AF6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NEXT STEPS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4572000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D704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do we need to start the pilot?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976517"/>
            <a:ext cx="4572000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begin Phase 1, three dependencies need to be addressed.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71500" y="1469045"/>
            <a:ext cx="385763" cy="385763"/>
          </a:xfrm>
          <a:prstGeom prst="ellipse">
            <a:avLst/>
          </a:prstGeom>
          <a:solidFill>
            <a:srgbClr val="00AF63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69045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14425" y="1413681"/>
            <a:ext cx="40290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231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Moodle Backend Access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4425" y="1631566"/>
            <a:ext cx="40290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the required credentials and access so the team can conduct the technical audit and understand the existing environment.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571500" y="2304864"/>
            <a:ext cx="385763" cy="385763"/>
          </a:xfrm>
          <a:prstGeom prst="ellipse">
            <a:avLst/>
          </a:prstGeom>
          <a:solidFill>
            <a:srgbClr val="00AF63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2304864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14425" y="2249500"/>
            <a:ext cx="40290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231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Mentza Scoping Conversation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425" y="2467384"/>
            <a:ext cx="40290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Initiate a direct technical discussion with the Mentza development team to define the integration requirements and approach.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571500" y="3085319"/>
            <a:ext cx="385763" cy="385763"/>
          </a:xfrm>
          <a:prstGeom prst="ellipse">
            <a:avLst/>
          </a:prstGeom>
          <a:solidFill>
            <a:srgbClr val="00AF63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3085319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14425" y="3099606"/>
            <a:ext cx="356115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231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Resourcing Sign-off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4425" y="3317491"/>
            <a:ext cx="35611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timeline and allocate the engineering resources required for the pilot.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5572125" y="1114425"/>
            <a:ext cx="3000375" cy="3000375"/>
          </a:xfrm>
          <a:prstGeom prst="rect">
            <a:avLst/>
          </a:prstGeom>
          <a:solidFill>
            <a:srgbClr val="0D7043"/>
          </a:solidFill>
          <a:ln/>
        </p:spPr>
      </p:sp>
      <p:sp>
        <p:nvSpPr>
          <p:cNvPr id="19" name="Text 16"/>
          <p:cNvSpPr/>
          <p:nvPr/>
        </p:nvSpPr>
        <p:spPr>
          <a:xfrm>
            <a:off x="6431161" y="1414463"/>
            <a:ext cx="128230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B8D8C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READY WHEN YOU ARE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148983" y="1678781"/>
            <a:ext cx="184665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Deploy Phase 1 Pilot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65056" y="2043113"/>
            <a:ext cx="1814513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D7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demo case. One business cohort.</a:t>
            </a:r>
            <a:r>
              <a:rPr lang="en-US" sz="750" dirty="0">
                <a:solidFill>
                  <a:srgbClr val="D7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D7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Validated, then scaled.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165056" y="2581684"/>
            <a:ext cx="1814513" cy="460772"/>
          </a:xfrm>
          <a:prstGeom prst="roundRect">
            <a:avLst/>
          </a:prstGeom>
          <a:solidFill>
            <a:srgbClr val="00AF63"/>
          </a:solidFill>
          <a:ln/>
        </p:spPr>
      </p:sp>
      <p:sp>
        <p:nvSpPr>
          <p:cNvPr id="23" name="Text 20"/>
          <p:cNvSpPr/>
          <p:nvPr/>
        </p:nvSpPr>
        <p:spPr>
          <a:xfrm>
            <a:off x="6565106" y="2710272"/>
            <a:ext cx="110013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Launch the Pilot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561534" y="3372855"/>
            <a:ext cx="1164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7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hello@orenasolutions.com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667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34445" y="1145177"/>
            <a:ext cx="8751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2" kern="0" dirty="0">
                <a:solidFill>
                  <a:srgbClr val="B5D60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OUTCOME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953816" y="1363061"/>
            <a:ext cx="523636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Connected Talent Journey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1643063" y="1955992"/>
            <a:ext cx="5857875" cy="3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7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separate systems to one connected talent ecosystem — where hiring, training, mentoring and culture grow together on a single platform.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96566" y="2587433"/>
            <a:ext cx="1868091" cy="307181"/>
          </a:xfrm>
          <a:prstGeom prst="roundRect">
            <a:avLst/>
          </a:prstGeom>
          <a:solidFill>
            <a:srgbClr val="FFFFFF">
              <a:alpha val="12000"/>
            </a:srgbClr>
          </a:solidFill>
          <a:ln w="9144">
            <a:solidFill>
              <a:srgbClr val="D7E9DF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25178" y="2680302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Hiring</a:t>
            </a: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find the right talent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057525" y="2587433"/>
            <a:ext cx="2282428" cy="307181"/>
          </a:xfrm>
          <a:prstGeom prst="roundRect">
            <a:avLst/>
          </a:prstGeom>
          <a:solidFill>
            <a:srgbClr val="FFFFFF">
              <a:alpha val="12000"/>
            </a:srgbClr>
          </a:solidFill>
          <a:ln w="9144">
            <a:solidFill>
              <a:srgbClr val="D7E9D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6138" y="2680302"/>
            <a:ext cx="17609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Training</a:t>
            </a: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build the right capabilities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432822" y="2587433"/>
            <a:ext cx="2600325" cy="307181"/>
          </a:xfrm>
          <a:prstGeom prst="roundRect">
            <a:avLst/>
          </a:prstGeom>
          <a:solidFill>
            <a:srgbClr val="FFFFFF">
              <a:alpha val="12000"/>
            </a:srgbClr>
          </a:solidFill>
          <a:ln w="9144">
            <a:solidFill>
              <a:srgbClr val="D7E9D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1434" y="2680302"/>
            <a:ext cx="207883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Mentoring</a:t>
            </a: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connect people with expertise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321844" y="2987483"/>
            <a:ext cx="2500313" cy="307181"/>
          </a:xfrm>
          <a:prstGeom prst="roundRect">
            <a:avLst/>
          </a:prstGeom>
          <a:solidFill>
            <a:srgbClr val="FFFFFF">
              <a:alpha val="12000"/>
            </a:srgbClr>
          </a:solidFill>
          <a:ln w="9144">
            <a:solidFill>
              <a:srgbClr val="D7E9D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0456" y="3080352"/>
            <a:ext cx="197881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Culture</a:t>
            </a: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develop stronger organizations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448645" y="3558983"/>
            <a:ext cx="2246709" cy="425053"/>
          </a:xfrm>
          <a:prstGeom prst="roundRect">
            <a:avLst/>
          </a:prstGeom>
          <a:solidFill>
            <a:srgbClr val="00AF63"/>
          </a:solidFill>
          <a:ln/>
        </p:spPr>
      </p:sp>
      <p:sp>
        <p:nvSpPr>
          <p:cNvPr id="15" name="Text 12"/>
          <p:cNvSpPr/>
          <p:nvPr/>
        </p:nvSpPr>
        <p:spPr>
          <a:xfrm>
            <a:off x="3777258" y="3673283"/>
            <a:ext cx="158948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Pilot → Validate → Scale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0" y="4850606"/>
            <a:ext cx="914400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spc="2" kern="0" dirty="0">
                <a:solidFill>
                  <a:srgbClr val="D7E9D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ORENA SOLUTIONS — UNIFIED PLATFORM ROADMAP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2026-08-11T11:14:00Z</dcterms:created>
  <dcterms:modified xsi:type="dcterms:W3CDTF">2026-08-11T11:14:00Z</dcterms:modified>
</cp:coreProperties>
</file>