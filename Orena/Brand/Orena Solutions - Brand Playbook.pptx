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Inter"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Inter"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Inter"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2.png"/><Relationship Id="rId4" Type="http://schemas.openxmlformats.org/officeDocument/2006/relationships/image" Target="../media/image-14-1-color.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1.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7043"/>
        </a:solidFill>
      </p:bgPr>
    </p:bg>
    <p:spTree>
      <p:nvGrpSpPr>
        <p:cNvPr id="1" name=""/>
        <p:cNvGrpSpPr/>
        <p:nvPr/>
      </p:nvGrpSpPr>
      <p:grpSpPr>
        <a:xfrm>
          <a:off x="0" y="0"/>
          <a:ext cx="0" cy="0"/>
          <a:chOff x="0" y="0"/>
          <a:chExt cx="0" cy="0"/>
        </a:xfrm>
      </p:grpSpPr>
      <p:sp>
        <p:nvSpPr>
          <p:cNvPr id="2" name="Shape 0"/>
          <p:cNvSpPr/>
          <p:nvPr/>
        </p:nvSpPr>
        <p:spPr>
          <a:xfrm>
            <a:off x="10607040" y="457200"/>
            <a:ext cx="91440" cy="91440"/>
          </a:xfrm>
          <a:prstGeom prst="ellipse">
            <a:avLst/>
          </a:prstGeom>
          <a:solidFill>
            <a:srgbClr val="48B855">
              <a:alpha val="60000"/>
            </a:srgbClr>
          </a:solidFill>
          <a:ln/>
        </p:spPr>
      </p:sp>
      <p:sp>
        <p:nvSpPr>
          <p:cNvPr id="3" name="Shape 1"/>
          <p:cNvSpPr/>
          <p:nvPr/>
        </p:nvSpPr>
        <p:spPr>
          <a:xfrm>
            <a:off x="10881360" y="640080"/>
            <a:ext cx="164592" cy="164592"/>
          </a:xfrm>
          <a:prstGeom prst="ellipse">
            <a:avLst/>
          </a:prstGeom>
          <a:solidFill>
            <a:srgbClr val="48B855">
              <a:alpha val="60000"/>
            </a:srgbClr>
          </a:solidFill>
          <a:ln/>
        </p:spPr>
      </p:sp>
      <p:sp>
        <p:nvSpPr>
          <p:cNvPr id="4" name="Shape 2"/>
          <p:cNvSpPr/>
          <p:nvPr/>
        </p:nvSpPr>
        <p:spPr>
          <a:xfrm>
            <a:off x="11155680" y="502920"/>
            <a:ext cx="73152" cy="73152"/>
          </a:xfrm>
          <a:prstGeom prst="ellipse">
            <a:avLst/>
          </a:prstGeom>
          <a:solidFill>
            <a:srgbClr val="48B855">
              <a:alpha val="60000"/>
            </a:srgbClr>
          </a:solidFill>
          <a:ln/>
        </p:spPr>
      </p:sp>
      <p:sp>
        <p:nvSpPr>
          <p:cNvPr id="5" name="Shape 3"/>
          <p:cNvSpPr/>
          <p:nvPr/>
        </p:nvSpPr>
        <p:spPr>
          <a:xfrm>
            <a:off x="10744200" y="868680"/>
            <a:ext cx="109728" cy="109728"/>
          </a:xfrm>
          <a:prstGeom prst="ellipse">
            <a:avLst/>
          </a:prstGeom>
          <a:solidFill>
            <a:srgbClr val="48B855">
              <a:alpha val="60000"/>
            </a:srgbClr>
          </a:solidFill>
          <a:ln/>
        </p:spPr>
      </p:sp>
      <p:sp>
        <p:nvSpPr>
          <p:cNvPr id="6" name="Shape 4"/>
          <p:cNvSpPr/>
          <p:nvPr/>
        </p:nvSpPr>
        <p:spPr>
          <a:xfrm>
            <a:off x="11338560" y="822960"/>
            <a:ext cx="182880" cy="182880"/>
          </a:xfrm>
          <a:prstGeom prst="ellipse">
            <a:avLst/>
          </a:prstGeom>
          <a:solidFill>
            <a:srgbClr val="48B855">
              <a:alpha val="60000"/>
            </a:srgbClr>
          </a:solidFill>
          <a:ln/>
        </p:spPr>
      </p:sp>
      <p:sp>
        <p:nvSpPr>
          <p:cNvPr id="7" name="Shape 5"/>
          <p:cNvSpPr/>
          <p:nvPr/>
        </p:nvSpPr>
        <p:spPr>
          <a:xfrm>
            <a:off x="11612880" y="548640"/>
            <a:ext cx="91440" cy="91440"/>
          </a:xfrm>
          <a:prstGeom prst="ellipse">
            <a:avLst/>
          </a:prstGeom>
          <a:solidFill>
            <a:srgbClr val="48B855">
              <a:alpha val="60000"/>
            </a:srgbClr>
          </a:solidFill>
          <a:ln/>
        </p:spPr>
      </p:sp>
      <p:sp>
        <p:nvSpPr>
          <p:cNvPr id="8" name="Shape 6"/>
          <p:cNvSpPr/>
          <p:nvPr/>
        </p:nvSpPr>
        <p:spPr>
          <a:xfrm>
            <a:off x="11430000" y="1097280"/>
            <a:ext cx="128016" cy="128016"/>
          </a:xfrm>
          <a:prstGeom prst="ellipse">
            <a:avLst/>
          </a:prstGeom>
          <a:solidFill>
            <a:srgbClr val="48B855">
              <a:alpha val="60000"/>
            </a:srgbClr>
          </a:solidFill>
          <a:ln/>
        </p:spPr>
      </p:sp>
      <p:sp>
        <p:nvSpPr>
          <p:cNvPr id="9" name="Shape 7"/>
          <p:cNvSpPr/>
          <p:nvPr/>
        </p:nvSpPr>
        <p:spPr>
          <a:xfrm>
            <a:off x="11795760" y="914400"/>
            <a:ext cx="73152" cy="73152"/>
          </a:xfrm>
          <a:prstGeom prst="ellipse">
            <a:avLst/>
          </a:prstGeom>
          <a:solidFill>
            <a:srgbClr val="48B855">
              <a:alpha val="60000"/>
            </a:srgbClr>
          </a:solidFill>
          <a:ln/>
        </p:spPr>
      </p:sp>
      <p:pic>
        <p:nvPicPr>
          <p:cNvPr id="10" name="Image 0" descr="assets/logo_white.png">    </p:cNvPr>
          <p:cNvPicPr>
            <a:picLocks noChangeAspect="1"/>
          </p:cNvPicPr>
          <p:nvPr/>
        </p:nvPicPr>
        <p:blipFill>
          <a:blip r:embed="rId1"/>
          <a:stretch>
            <a:fillRect/>
          </a:stretch>
        </p:blipFill>
        <p:spPr>
          <a:xfrm>
            <a:off x="4610566" y="2148840"/>
            <a:ext cx="2967819" cy="2359152"/>
          </a:xfrm>
          <a:prstGeom prst="rect">
            <a:avLst/>
          </a:prstGeom>
        </p:spPr>
      </p:pic>
      <p:sp>
        <p:nvSpPr>
          <p:cNvPr id="11" name="Text 8"/>
          <p:cNvSpPr/>
          <p:nvPr/>
        </p:nvSpPr>
        <p:spPr>
          <a:xfrm>
            <a:off x="0" y="4709160"/>
            <a:ext cx="12191695"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Poppins" pitchFamily="34" charset="0"/>
                <a:ea typeface="Poppins" pitchFamily="34" charset="-122"/>
                <a:cs typeface="Poppins" pitchFamily="34" charset="-120"/>
              </a:rPr>
              <a:t>Brand Playbook</a:t>
            </a:r>
            <a:endParaRPr lang="en-US" sz="3400" dirty="0"/>
          </a:p>
        </p:txBody>
      </p:sp>
      <p:sp>
        <p:nvSpPr>
          <p:cNvPr id="12" name="Text 9"/>
          <p:cNvSpPr/>
          <p:nvPr/>
        </p:nvSpPr>
        <p:spPr>
          <a:xfrm>
            <a:off x="0" y="5349240"/>
            <a:ext cx="12191695" cy="365760"/>
          </a:xfrm>
          <a:prstGeom prst="rect">
            <a:avLst/>
          </a:prstGeom>
          <a:noFill/>
          <a:ln/>
        </p:spPr>
        <p:txBody>
          <a:bodyPr wrap="square" lIns="0" tIns="0" rIns="0" bIns="0" rtlCol="0" anchor="ctr"/>
          <a:lstStyle/>
          <a:p>
            <a:pPr algn="ctr" indent="0" marL="0">
              <a:buNone/>
            </a:pPr>
            <a:r>
              <a:rPr lang="en-US" sz="1400" i="1" dirty="0">
                <a:solidFill>
                  <a:srgbClr val="48B855"/>
                </a:solidFill>
                <a:latin typeface="Inter" pitchFamily="34" charset="0"/>
                <a:ea typeface="Inter" pitchFamily="34" charset="-122"/>
                <a:cs typeface="Inter" pitchFamily="34" charset="-120"/>
              </a:rPr>
              <a:t>Crafting Preferred Engineers</a:t>
            </a:r>
            <a:endParaRPr lang="en-US" sz="1400" dirty="0"/>
          </a:p>
        </p:txBody>
      </p:sp>
      <p:sp>
        <p:nvSpPr>
          <p:cNvPr id="13" name="Text 10"/>
          <p:cNvSpPr/>
          <p:nvPr/>
        </p:nvSpPr>
        <p:spPr>
          <a:xfrm>
            <a:off x="457200" y="6309360"/>
            <a:ext cx="4572000" cy="274320"/>
          </a:xfrm>
          <a:prstGeom prst="rect">
            <a:avLst/>
          </a:prstGeom>
          <a:noFill/>
          <a:ln/>
        </p:spPr>
        <p:txBody>
          <a:bodyPr wrap="square" lIns="0" tIns="0" rIns="0" bIns="0" rtlCol="0" anchor="ctr"/>
          <a:lstStyle/>
          <a:p>
            <a:pPr indent="0" marL="0">
              <a:buNone/>
            </a:pPr>
            <a:r>
              <a:rPr lang="en-US" sz="1000" dirty="0">
                <a:solidFill>
                  <a:srgbClr val="00AF63"/>
                </a:solidFill>
                <a:latin typeface="Inter" pitchFamily="34" charset="0"/>
                <a:ea typeface="Inter" pitchFamily="34" charset="-122"/>
                <a:cs typeface="Inter" pitchFamily="34" charset="-120"/>
              </a:rPr>
              <a:t>Last updated: August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Brand Playbook</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E8F4EE"/>
                </a:solidFill>
                <a:latin typeface="Inter" pitchFamily="34" charset="0"/>
                <a:ea typeface="Inter" pitchFamily="34" charset="-122"/>
                <a:cs typeface="Inter" pitchFamily="34" charset="-120"/>
              </a:rPr>
              <a:t>Introduction</a:t>
            </a:r>
            <a:endParaRPr lang="en-US" sz="1100" dirty="0"/>
          </a:p>
        </p:txBody>
      </p:sp>
      <p:sp>
        <p:nvSpPr>
          <p:cNvPr id="4" name="Text 2"/>
          <p:cNvSpPr/>
          <p:nvPr/>
        </p:nvSpPr>
        <p:spPr>
          <a:xfrm>
            <a:off x="457200" y="1371600"/>
            <a:ext cx="7589520" cy="201168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Poppins" pitchFamily="34" charset="0"/>
                <a:ea typeface="Poppins" pitchFamily="34" charset="-122"/>
                <a:cs typeface="Poppins" pitchFamily="34" charset="-120"/>
              </a:rPr>
              <a:t>Engineering excellence.</a:t>
            </a:r>
            <a:endParaRPr lang="en-US" sz="4000" dirty="0"/>
          </a:p>
          <a:p>
            <a:pPr indent="0" marL="0">
              <a:lnSpc>
                <a:spcPct val="108000"/>
              </a:lnSpc>
              <a:buNone/>
            </a:pPr>
            <a:r>
              <a:rPr lang="en-US" sz="4000" b="1" dirty="0">
                <a:solidFill>
                  <a:srgbClr val="FFFFFF"/>
                </a:solidFill>
                <a:latin typeface="Poppins" pitchFamily="34" charset="0"/>
                <a:ea typeface="Poppins" pitchFamily="34" charset="-122"/>
                <a:cs typeface="Poppins" pitchFamily="34" charset="-120"/>
              </a:rPr>
              <a:t>Building a better tomorrow.</a:t>
            </a:r>
            <a:endParaRPr lang="en-US" sz="4000" dirty="0"/>
          </a:p>
        </p:txBody>
      </p:sp>
      <p:sp>
        <p:nvSpPr>
          <p:cNvPr id="5" name="Text 3"/>
          <p:cNvSpPr/>
          <p:nvPr/>
        </p:nvSpPr>
        <p:spPr>
          <a:xfrm>
            <a:off x="6949440" y="4206240"/>
            <a:ext cx="4846320" cy="2103120"/>
          </a:xfrm>
          <a:prstGeom prst="rect">
            <a:avLst/>
          </a:prstGeom>
          <a:noFill/>
          <a:ln/>
        </p:spPr>
        <p:txBody>
          <a:bodyPr wrap="square" lIns="0" tIns="0" rIns="0" bIns="0" rtlCol="0" anchor="ctr"/>
          <a:lstStyle/>
          <a:p>
            <a:pPr indent="0" marL="0">
              <a:lnSpc>
                <a:spcPct val="125000"/>
              </a:lnSpc>
              <a:buNone/>
            </a:pPr>
            <a:r>
              <a:rPr lang="en-US" sz="1250" dirty="0">
                <a:solidFill>
                  <a:srgbClr val="D7E9DF"/>
                </a:solidFill>
                <a:latin typeface="Inter" pitchFamily="34" charset="0"/>
                <a:ea typeface="Inter" pitchFamily="34" charset="-122"/>
                <a:cs typeface="Inter" pitchFamily="34" charset="-120"/>
              </a:rPr>
              <a:t>At Orena Solutions, we exist to craft preferred engineers — people and organizations built for a future they helped design. We connect quality, people, and sustainability into every engagement we deliver.</a:t>
            </a:r>
            <a:endParaRPr lang="en-US" sz="1250" dirty="0"/>
          </a:p>
          <a:p>
            <a:pPr indent="0" marL="0">
              <a:lnSpc>
                <a:spcPct val="125000"/>
              </a:lnSpc>
              <a:buNone/>
            </a:pPr>
            <a:endParaRPr lang="en-US" sz="1250" dirty="0"/>
          </a:p>
          <a:p>
            <a:pPr indent="0" marL="0">
              <a:lnSpc>
                <a:spcPct val="125000"/>
              </a:lnSpc>
              <a:buNone/>
            </a:pPr>
            <a:r>
              <a:rPr lang="en-US" sz="1250" dirty="0">
                <a:solidFill>
                  <a:srgbClr val="D7E9DF"/>
                </a:solidFill>
                <a:latin typeface="Inter" pitchFamily="34" charset="0"/>
                <a:ea typeface="Inter" pitchFamily="34" charset="-122"/>
                <a:cs typeface="Inter" pitchFamily="34" charset="-120"/>
              </a:rPr>
              <a:t>This playbook explains how to give things the Orena touch. Use it to understand our visual identity and voice, so that everything we create feels connected and consistent.</a:t>
            </a:r>
            <a:endParaRPr lang="en-US" sz="1250" dirty="0"/>
          </a:p>
        </p:txBody>
      </p:sp>
      <p:sp>
        <p:nvSpPr>
          <p:cNvPr id="6" name="Text 4"/>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Contents</a:t>
            </a:r>
            <a:endParaRPr lang="en-US" sz="1100" dirty="0"/>
          </a:p>
        </p:txBody>
      </p:sp>
      <p:sp>
        <p:nvSpPr>
          <p:cNvPr id="3" name="Shape 1"/>
          <p:cNvSpPr/>
          <p:nvPr/>
        </p:nvSpPr>
        <p:spPr>
          <a:xfrm>
            <a:off x="4160520" y="1005840"/>
            <a:ext cx="0" cy="5212080"/>
          </a:xfrm>
          <a:prstGeom prst="line">
            <a:avLst/>
          </a:prstGeom>
          <a:noFill/>
          <a:ln w="12700">
            <a:solidFill>
              <a:srgbClr val="00AF63"/>
            </a:solidFill>
            <a:prstDash val="solid"/>
          </a:ln>
        </p:spPr>
      </p:sp>
      <p:sp>
        <p:nvSpPr>
          <p:cNvPr id="4" name="Shape 2"/>
          <p:cNvSpPr/>
          <p:nvPr/>
        </p:nvSpPr>
        <p:spPr>
          <a:xfrm>
            <a:off x="8229600" y="1005840"/>
            <a:ext cx="0" cy="5212080"/>
          </a:xfrm>
          <a:prstGeom prst="line">
            <a:avLst/>
          </a:prstGeom>
          <a:noFill/>
          <a:ln w="12700">
            <a:solidFill>
              <a:srgbClr val="00AF63"/>
            </a:solidFill>
            <a:prstDash val="solid"/>
          </a:ln>
        </p:spPr>
      </p:sp>
      <p:sp>
        <p:nvSpPr>
          <p:cNvPr id="5" name="Text 3"/>
          <p:cNvSpPr/>
          <p:nvPr/>
        </p:nvSpPr>
        <p:spPr>
          <a:xfrm>
            <a:off x="457200" y="1051560"/>
            <a:ext cx="356616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About</a:t>
            </a:r>
            <a:endParaRPr lang="en-US" sz="1500" dirty="0"/>
          </a:p>
        </p:txBody>
      </p:sp>
      <p:sp>
        <p:nvSpPr>
          <p:cNvPr id="6" name="Text 4"/>
          <p:cNvSpPr/>
          <p:nvPr/>
        </p:nvSpPr>
        <p:spPr>
          <a:xfrm>
            <a:off x="457200" y="1508760"/>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What is Orena</a:t>
            </a:r>
            <a:endParaRPr lang="en-US" sz="1250" dirty="0"/>
          </a:p>
        </p:txBody>
      </p:sp>
      <p:sp>
        <p:nvSpPr>
          <p:cNvPr id="7" name="Text 5"/>
          <p:cNvSpPr/>
          <p:nvPr/>
        </p:nvSpPr>
        <p:spPr>
          <a:xfrm>
            <a:off x="457200" y="1856232"/>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Purpose &amp; Values</a:t>
            </a:r>
            <a:endParaRPr lang="en-US" sz="1250" dirty="0"/>
          </a:p>
        </p:txBody>
      </p:sp>
      <p:sp>
        <p:nvSpPr>
          <p:cNvPr id="8" name="Text 6"/>
          <p:cNvSpPr/>
          <p:nvPr/>
        </p:nvSpPr>
        <p:spPr>
          <a:xfrm>
            <a:off x="457200" y="2203704"/>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Brand Voice</a:t>
            </a:r>
            <a:endParaRPr lang="en-US" sz="1250" dirty="0"/>
          </a:p>
        </p:txBody>
      </p:sp>
      <p:sp>
        <p:nvSpPr>
          <p:cNvPr id="9" name="Text 7"/>
          <p:cNvSpPr/>
          <p:nvPr/>
        </p:nvSpPr>
        <p:spPr>
          <a:xfrm>
            <a:off x="4572000" y="1051560"/>
            <a:ext cx="356616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Colors</a:t>
            </a:r>
            <a:endParaRPr lang="en-US" sz="1500" dirty="0"/>
          </a:p>
        </p:txBody>
      </p:sp>
      <p:sp>
        <p:nvSpPr>
          <p:cNvPr id="10" name="Text 8"/>
          <p:cNvSpPr/>
          <p:nvPr/>
        </p:nvSpPr>
        <p:spPr>
          <a:xfrm>
            <a:off x="4572000" y="1508760"/>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Core Palette</a:t>
            </a:r>
            <a:endParaRPr lang="en-US" sz="1250" dirty="0"/>
          </a:p>
        </p:txBody>
      </p:sp>
      <p:sp>
        <p:nvSpPr>
          <p:cNvPr id="11" name="Text 9"/>
          <p:cNvSpPr/>
          <p:nvPr/>
        </p:nvSpPr>
        <p:spPr>
          <a:xfrm>
            <a:off x="4572000" y="1856232"/>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Proportions &amp; Usage</a:t>
            </a:r>
            <a:endParaRPr lang="en-US" sz="1250" dirty="0"/>
          </a:p>
        </p:txBody>
      </p:sp>
      <p:sp>
        <p:nvSpPr>
          <p:cNvPr id="12" name="Text 10"/>
          <p:cNvSpPr/>
          <p:nvPr/>
        </p:nvSpPr>
        <p:spPr>
          <a:xfrm>
            <a:off x="4572000" y="2203704"/>
            <a:ext cx="356616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Logo &amp; Symbol</a:t>
            </a:r>
            <a:endParaRPr lang="en-US" sz="1500" dirty="0"/>
          </a:p>
        </p:txBody>
      </p:sp>
      <p:sp>
        <p:nvSpPr>
          <p:cNvPr id="13" name="Text 11"/>
          <p:cNvSpPr/>
          <p:nvPr/>
        </p:nvSpPr>
        <p:spPr>
          <a:xfrm>
            <a:off x="4572000" y="2660904"/>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Logo</a:t>
            </a:r>
            <a:endParaRPr lang="en-US" sz="1250" dirty="0"/>
          </a:p>
        </p:txBody>
      </p:sp>
      <p:sp>
        <p:nvSpPr>
          <p:cNvPr id="14" name="Text 12"/>
          <p:cNvSpPr/>
          <p:nvPr/>
        </p:nvSpPr>
        <p:spPr>
          <a:xfrm>
            <a:off x="4572000" y="3008376"/>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Symbol</a:t>
            </a:r>
            <a:endParaRPr lang="en-US" sz="1250" dirty="0"/>
          </a:p>
        </p:txBody>
      </p:sp>
      <p:sp>
        <p:nvSpPr>
          <p:cNvPr id="15" name="Text 13"/>
          <p:cNvSpPr/>
          <p:nvPr/>
        </p:nvSpPr>
        <p:spPr>
          <a:xfrm>
            <a:off x="4572000" y="3355848"/>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Guidelines</a:t>
            </a:r>
            <a:endParaRPr lang="en-US" sz="1250" dirty="0"/>
          </a:p>
        </p:txBody>
      </p:sp>
      <p:sp>
        <p:nvSpPr>
          <p:cNvPr id="16" name="Text 14"/>
          <p:cNvSpPr/>
          <p:nvPr/>
        </p:nvSpPr>
        <p:spPr>
          <a:xfrm>
            <a:off x="8641080" y="1051560"/>
            <a:ext cx="356616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Typography</a:t>
            </a:r>
            <a:endParaRPr lang="en-US" sz="1500" dirty="0"/>
          </a:p>
        </p:txBody>
      </p:sp>
      <p:sp>
        <p:nvSpPr>
          <p:cNvPr id="17" name="Text 15"/>
          <p:cNvSpPr/>
          <p:nvPr/>
        </p:nvSpPr>
        <p:spPr>
          <a:xfrm>
            <a:off x="8641080" y="1508760"/>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Typefaces</a:t>
            </a:r>
            <a:endParaRPr lang="en-US" sz="1250" dirty="0"/>
          </a:p>
        </p:txBody>
      </p:sp>
      <p:sp>
        <p:nvSpPr>
          <p:cNvPr id="18" name="Text 16"/>
          <p:cNvSpPr/>
          <p:nvPr/>
        </p:nvSpPr>
        <p:spPr>
          <a:xfrm>
            <a:off x="8641080" y="1856232"/>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Hierarchy</a:t>
            </a:r>
            <a:endParaRPr lang="en-US" sz="1250" dirty="0"/>
          </a:p>
        </p:txBody>
      </p:sp>
      <p:sp>
        <p:nvSpPr>
          <p:cNvPr id="19" name="Text 17"/>
          <p:cNvSpPr/>
          <p:nvPr/>
        </p:nvSpPr>
        <p:spPr>
          <a:xfrm>
            <a:off x="8641080" y="2203704"/>
            <a:ext cx="356616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Visual Devices</a:t>
            </a:r>
            <a:endParaRPr lang="en-US" sz="1500" dirty="0"/>
          </a:p>
        </p:txBody>
      </p:sp>
      <p:sp>
        <p:nvSpPr>
          <p:cNvPr id="20" name="Text 18"/>
          <p:cNvSpPr/>
          <p:nvPr/>
        </p:nvSpPr>
        <p:spPr>
          <a:xfrm>
            <a:off x="8641080" y="2660904"/>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Iconography &amp; Shapes</a:t>
            </a:r>
            <a:endParaRPr lang="en-US" sz="1250" dirty="0"/>
          </a:p>
        </p:txBody>
      </p:sp>
      <p:sp>
        <p:nvSpPr>
          <p:cNvPr id="21" name="Text 19"/>
          <p:cNvSpPr/>
          <p:nvPr/>
        </p:nvSpPr>
        <p:spPr>
          <a:xfrm>
            <a:off x="8641080" y="3008376"/>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Buttons &amp; UI</a:t>
            </a:r>
            <a:endParaRPr lang="en-US" sz="1250" dirty="0"/>
          </a:p>
        </p:txBody>
      </p:sp>
      <p:sp>
        <p:nvSpPr>
          <p:cNvPr id="22" name="Text 20"/>
          <p:cNvSpPr/>
          <p:nvPr/>
        </p:nvSpPr>
        <p:spPr>
          <a:xfrm>
            <a:off x="8641080" y="3355848"/>
            <a:ext cx="3566160" cy="365760"/>
          </a:xfrm>
          <a:prstGeom prst="rect">
            <a:avLst/>
          </a:prstGeom>
          <a:noFill/>
          <a:ln/>
        </p:spPr>
        <p:txBody>
          <a:bodyPr wrap="square" lIns="0" tIns="0" rIns="0" bIns="0" rtlCol="0" anchor="ctr"/>
          <a:lstStyle/>
          <a:p>
            <a:pPr indent="0" marL="0">
              <a:buNone/>
            </a:pPr>
            <a:r>
              <a:rPr lang="en-US" sz="1250" dirty="0">
                <a:solidFill>
                  <a:srgbClr val="48B855"/>
                </a:solidFill>
                <a:latin typeface="Inter" pitchFamily="34" charset="0"/>
                <a:ea typeface="Inter" pitchFamily="34" charset="-122"/>
                <a:cs typeface="Inter" pitchFamily="34" charset="-120"/>
              </a:rPr>
              <a:t>Applications</a:t>
            </a:r>
            <a:endParaRPr lang="en-US" sz="1250" dirty="0"/>
          </a:p>
        </p:txBody>
      </p:sp>
      <p:sp>
        <p:nvSpPr>
          <p:cNvPr id="23" name="Text 21"/>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Orena Solutions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E8F4EE"/>
                </a:solidFill>
                <a:latin typeface="Inter" pitchFamily="34" charset="0"/>
                <a:ea typeface="Inter" pitchFamily="34" charset="-122"/>
                <a:cs typeface="Inter" pitchFamily="34" charset="-120"/>
              </a:rPr>
              <a:t>Brand Playbook</a:t>
            </a:r>
            <a:endParaRPr lang="en-US" sz="1100" dirty="0"/>
          </a:p>
        </p:txBody>
      </p:sp>
      <p:sp>
        <p:nvSpPr>
          <p:cNvPr id="4" name="Text 2"/>
          <p:cNvSpPr/>
          <p:nvPr/>
        </p:nvSpPr>
        <p:spPr>
          <a:xfrm>
            <a:off x="457200" y="2651760"/>
            <a:ext cx="10058400" cy="1463040"/>
          </a:xfrm>
          <a:prstGeom prst="rect">
            <a:avLst/>
          </a:prstGeom>
          <a:noFill/>
          <a:ln/>
        </p:spPr>
        <p:txBody>
          <a:bodyPr wrap="square" lIns="0" tIns="0" rIns="0" bIns="0" rtlCol="0" anchor="ctr"/>
          <a:lstStyle/>
          <a:p>
            <a:pPr indent="0" marL="0">
              <a:buNone/>
            </a:pPr>
            <a:r>
              <a:rPr lang="en-US" sz="5400" b="1" dirty="0">
                <a:solidFill>
                  <a:srgbClr val="FFFFFF"/>
                </a:solidFill>
                <a:latin typeface="Poppins" pitchFamily="34" charset="0"/>
                <a:ea typeface="Poppins" pitchFamily="34" charset="-122"/>
                <a:cs typeface="Poppins" pitchFamily="34" charset="-120"/>
              </a:rPr>
              <a:t>About Orena</a:t>
            </a:r>
            <a:endParaRPr lang="en-US" sz="5400" dirty="0"/>
          </a:p>
        </p:txBody>
      </p:sp>
      <p:sp>
        <p:nvSpPr>
          <p:cNvPr id="5" name="Text 3"/>
          <p:cNvSpPr/>
          <p:nvPr/>
        </p:nvSpPr>
        <p:spPr>
          <a:xfrm>
            <a:off x="457200" y="5806440"/>
            <a:ext cx="8229600" cy="457200"/>
          </a:xfrm>
          <a:prstGeom prst="rect">
            <a:avLst/>
          </a:prstGeom>
          <a:noFill/>
          <a:ln/>
        </p:spPr>
        <p:txBody>
          <a:bodyPr wrap="square" lIns="0" tIns="0" rIns="0" bIns="0" rtlCol="0" anchor="ctr"/>
          <a:lstStyle/>
          <a:p>
            <a:pPr indent="0" marL="0">
              <a:buNone/>
            </a:pPr>
            <a:r>
              <a:rPr lang="en-US" sz="1400" i="1" dirty="0">
                <a:solidFill>
                  <a:srgbClr val="48B855"/>
                </a:solidFill>
                <a:latin typeface="Inter" pitchFamily="34" charset="0"/>
                <a:ea typeface="Inter" pitchFamily="34" charset="-122"/>
                <a:cs typeface="Inter" pitchFamily="34" charset="-120"/>
              </a:rPr>
              <a:t>What customers know and trust us for.</a:t>
            </a:r>
            <a:endParaRPr lang="en-US" sz="1400" dirty="0"/>
          </a:p>
        </p:txBody>
      </p:sp>
      <p:sp>
        <p:nvSpPr>
          <p:cNvPr id="6" name="Text 4"/>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About Orena</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E8F4EE"/>
                </a:solidFill>
                <a:latin typeface="Inter" pitchFamily="34" charset="0"/>
                <a:ea typeface="Inter" pitchFamily="34" charset="-122"/>
                <a:cs typeface="Inter" pitchFamily="34" charset="-120"/>
              </a:rPr>
              <a:t>What is Orena</a:t>
            </a:r>
            <a:endParaRPr lang="en-US" sz="1100" dirty="0"/>
          </a:p>
        </p:txBody>
      </p:sp>
      <p:sp>
        <p:nvSpPr>
          <p:cNvPr id="4" name="Text 2"/>
          <p:cNvSpPr/>
          <p:nvPr/>
        </p:nvSpPr>
        <p:spPr>
          <a:xfrm>
            <a:off x="457200" y="960120"/>
            <a:ext cx="6035040" cy="173736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Poppins" pitchFamily="34" charset="0"/>
                <a:ea typeface="Poppins" pitchFamily="34" charset="-122"/>
                <a:cs typeface="Poppins" pitchFamily="34" charset="-120"/>
              </a:rPr>
              <a:t>Crafting Preferred</a:t>
            </a:r>
            <a:endParaRPr lang="en-US" sz="3400" dirty="0"/>
          </a:p>
          <a:p>
            <a:pPr indent="0" marL="0">
              <a:lnSpc>
                <a:spcPct val="105000"/>
              </a:lnSpc>
              <a:buNone/>
            </a:pPr>
            <a:r>
              <a:rPr lang="en-US" sz="3400" b="1" dirty="0">
                <a:solidFill>
                  <a:srgbClr val="FFFFFF"/>
                </a:solidFill>
                <a:latin typeface="Poppins" pitchFamily="34" charset="0"/>
                <a:ea typeface="Poppins" pitchFamily="34" charset="-122"/>
                <a:cs typeface="Poppins" pitchFamily="34" charset="-120"/>
              </a:rPr>
              <a:t>Engineers.</a:t>
            </a:r>
            <a:endParaRPr lang="en-US" sz="3400" dirty="0"/>
          </a:p>
        </p:txBody>
      </p:sp>
      <p:sp>
        <p:nvSpPr>
          <p:cNvPr id="5" name="Text 3"/>
          <p:cNvSpPr/>
          <p:nvPr/>
        </p:nvSpPr>
        <p:spPr>
          <a:xfrm>
            <a:off x="457200" y="2788920"/>
            <a:ext cx="6035040" cy="1463040"/>
          </a:xfrm>
          <a:prstGeom prst="rect">
            <a:avLst/>
          </a:prstGeom>
          <a:noFill/>
          <a:ln/>
        </p:spPr>
        <p:txBody>
          <a:bodyPr wrap="square" lIns="0" tIns="0" rIns="0" bIns="0" rtlCol="0" anchor="ctr"/>
          <a:lstStyle/>
          <a:p>
            <a:pPr indent="0" marL="0">
              <a:lnSpc>
                <a:spcPct val="130000"/>
              </a:lnSpc>
              <a:buNone/>
            </a:pPr>
            <a:r>
              <a:rPr lang="en-US" sz="1250" dirty="0">
                <a:solidFill>
                  <a:srgbClr val="D7E9DF"/>
                </a:solidFill>
                <a:latin typeface="Inter" pitchFamily="34" charset="0"/>
                <a:ea typeface="Inter" pitchFamily="34" charset="-122"/>
                <a:cs typeface="Inter" pitchFamily="34" charset="-120"/>
              </a:rPr>
              <a:t>Orena Solutions builds the pipeline between raw engineering talent and the organizations who need it most — hiring, training and culture transformation, delivered as one connected system. We are part of the Shakti Ecosystem, engineering solutions that respect people and planet alike.</a:t>
            </a:r>
            <a:endParaRPr lang="en-US" sz="1250" dirty="0"/>
          </a:p>
        </p:txBody>
      </p:sp>
      <p:sp>
        <p:nvSpPr>
          <p:cNvPr id="6" name="Shape 4"/>
          <p:cNvSpPr/>
          <p:nvPr/>
        </p:nvSpPr>
        <p:spPr>
          <a:xfrm>
            <a:off x="6903720" y="1005840"/>
            <a:ext cx="566928" cy="566928"/>
          </a:xfrm>
          <a:prstGeom prst="roundRect">
            <a:avLst>
              <a:gd name="adj" fmla="val 19355"/>
            </a:avLst>
          </a:prstGeom>
          <a:solidFill>
            <a:srgbClr val="0F5B37"/>
          </a:solidFill>
          <a:ln/>
        </p:spPr>
      </p:sp>
      <p:pic>
        <p:nvPicPr>
          <p:cNvPr id="7" name="Image 0" descr="assets/icons/shield_white.png">    </p:cNvPr>
          <p:cNvPicPr>
            <a:picLocks noChangeAspect="1"/>
          </p:cNvPicPr>
          <p:nvPr/>
        </p:nvPicPr>
        <p:blipFill>
          <a:blip r:embed="rId1"/>
          <a:stretch>
            <a:fillRect/>
          </a:stretch>
        </p:blipFill>
        <p:spPr>
          <a:xfrm>
            <a:off x="7040880" y="1143000"/>
            <a:ext cx="292608" cy="292608"/>
          </a:xfrm>
          <a:prstGeom prst="rect">
            <a:avLst/>
          </a:prstGeom>
        </p:spPr>
      </p:pic>
      <p:sp>
        <p:nvSpPr>
          <p:cNvPr id="8" name="Text 5"/>
          <p:cNvSpPr/>
          <p:nvPr/>
        </p:nvSpPr>
        <p:spPr>
          <a:xfrm>
            <a:off x="7635240" y="978408"/>
            <a:ext cx="3931920" cy="3200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Quality</a:t>
            </a:r>
            <a:endParaRPr lang="en-US" sz="1400" dirty="0"/>
          </a:p>
        </p:txBody>
      </p:sp>
      <p:sp>
        <p:nvSpPr>
          <p:cNvPr id="9" name="Text 6"/>
          <p:cNvSpPr/>
          <p:nvPr/>
        </p:nvSpPr>
        <p:spPr>
          <a:xfrm>
            <a:off x="7635240" y="1298448"/>
            <a:ext cx="3931920" cy="502920"/>
          </a:xfrm>
          <a:prstGeom prst="rect">
            <a:avLst/>
          </a:prstGeom>
          <a:noFill/>
          <a:ln/>
        </p:spPr>
        <p:txBody>
          <a:bodyPr wrap="square" lIns="0" tIns="0" rIns="0" bIns="0" rtlCol="0" anchor="ctr"/>
          <a:lstStyle/>
          <a:p>
            <a:pPr indent="0" marL="0">
              <a:lnSpc>
                <a:spcPct val="120000"/>
              </a:lnSpc>
              <a:buNone/>
            </a:pPr>
            <a:r>
              <a:rPr lang="en-US" sz="1050" dirty="0">
                <a:solidFill>
                  <a:srgbClr val="D7E9DF"/>
                </a:solidFill>
                <a:latin typeface="Inter" pitchFamily="34" charset="0"/>
                <a:ea typeface="Inter" pitchFamily="34" charset="-122"/>
                <a:cs typeface="Inter" pitchFamily="34" charset="-120"/>
              </a:rPr>
              <a:t>Committed to the highest standards in everything we do.</a:t>
            </a:r>
            <a:endParaRPr lang="en-US" sz="1050" dirty="0"/>
          </a:p>
        </p:txBody>
      </p:sp>
      <p:sp>
        <p:nvSpPr>
          <p:cNvPr id="10" name="Shape 7"/>
          <p:cNvSpPr/>
          <p:nvPr/>
        </p:nvSpPr>
        <p:spPr>
          <a:xfrm>
            <a:off x="6903720" y="1965960"/>
            <a:ext cx="566928" cy="566928"/>
          </a:xfrm>
          <a:prstGeom prst="roundRect">
            <a:avLst>
              <a:gd name="adj" fmla="val 19355"/>
            </a:avLst>
          </a:prstGeom>
          <a:solidFill>
            <a:srgbClr val="0F5B37"/>
          </a:solidFill>
          <a:ln/>
        </p:spPr>
      </p:sp>
      <p:pic>
        <p:nvPicPr>
          <p:cNvPr id="11" name="Image 1" descr="assets/icons/users_white.png">    </p:cNvPr>
          <p:cNvPicPr>
            <a:picLocks noChangeAspect="1"/>
          </p:cNvPicPr>
          <p:nvPr/>
        </p:nvPicPr>
        <p:blipFill>
          <a:blip r:embed="rId2"/>
          <a:stretch>
            <a:fillRect/>
          </a:stretch>
        </p:blipFill>
        <p:spPr>
          <a:xfrm>
            <a:off x="7040880" y="2103120"/>
            <a:ext cx="292608" cy="292608"/>
          </a:xfrm>
          <a:prstGeom prst="rect">
            <a:avLst/>
          </a:prstGeom>
        </p:spPr>
      </p:pic>
      <p:sp>
        <p:nvSpPr>
          <p:cNvPr id="12" name="Text 8"/>
          <p:cNvSpPr/>
          <p:nvPr/>
        </p:nvSpPr>
        <p:spPr>
          <a:xfrm>
            <a:off x="7635240" y="1938528"/>
            <a:ext cx="3931920" cy="3200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People</a:t>
            </a:r>
            <a:endParaRPr lang="en-US" sz="1400" dirty="0"/>
          </a:p>
        </p:txBody>
      </p:sp>
      <p:sp>
        <p:nvSpPr>
          <p:cNvPr id="13" name="Text 9"/>
          <p:cNvSpPr/>
          <p:nvPr/>
        </p:nvSpPr>
        <p:spPr>
          <a:xfrm>
            <a:off x="7635240" y="2258568"/>
            <a:ext cx="3931920" cy="502920"/>
          </a:xfrm>
          <a:prstGeom prst="rect">
            <a:avLst/>
          </a:prstGeom>
          <a:noFill/>
          <a:ln/>
        </p:spPr>
        <p:txBody>
          <a:bodyPr wrap="square" lIns="0" tIns="0" rIns="0" bIns="0" rtlCol="0" anchor="ctr"/>
          <a:lstStyle/>
          <a:p>
            <a:pPr indent="0" marL="0">
              <a:lnSpc>
                <a:spcPct val="120000"/>
              </a:lnSpc>
              <a:buNone/>
            </a:pPr>
            <a:r>
              <a:rPr lang="en-US" sz="1050" dirty="0">
                <a:solidFill>
                  <a:srgbClr val="D7E9DF"/>
                </a:solidFill>
                <a:latin typeface="Inter" pitchFamily="34" charset="0"/>
                <a:ea typeface="Inter" pitchFamily="34" charset="-122"/>
                <a:cs typeface="Inter" pitchFamily="34" charset="-120"/>
              </a:rPr>
              <a:t>Empowering minds and building futures.</a:t>
            </a:r>
            <a:endParaRPr lang="en-US" sz="1050" dirty="0"/>
          </a:p>
        </p:txBody>
      </p:sp>
      <p:sp>
        <p:nvSpPr>
          <p:cNvPr id="14" name="Shape 10"/>
          <p:cNvSpPr/>
          <p:nvPr/>
        </p:nvSpPr>
        <p:spPr>
          <a:xfrm>
            <a:off x="6903720" y="2926080"/>
            <a:ext cx="566928" cy="566928"/>
          </a:xfrm>
          <a:prstGeom prst="roundRect">
            <a:avLst>
              <a:gd name="adj" fmla="val 19355"/>
            </a:avLst>
          </a:prstGeom>
          <a:solidFill>
            <a:srgbClr val="0F5B37"/>
          </a:solidFill>
          <a:ln/>
        </p:spPr>
      </p:sp>
      <p:pic>
        <p:nvPicPr>
          <p:cNvPr id="15" name="Image 2" descr="assets/icons/leaf_white.png">    </p:cNvPr>
          <p:cNvPicPr>
            <a:picLocks noChangeAspect="1"/>
          </p:cNvPicPr>
          <p:nvPr/>
        </p:nvPicPr>
        <p:blipFill>
          <a:blip r:embed="rId3"/>
          <a:stretch>
            <a:fillRect/>
          </a:stretch>
        </p:blipFill>
        <p:spPr>
          <a:xfrm>
            <a:off x="7040880" y="3063240"/>
            <a:ext cx="292608" cy="292608"/>
          </a:xfrm>
          <a:prstGeom prst="rect">
            <a:avLst/>
          </a:prstGeom>
        </p:spPr>
      </p:pic>
      <p:sp>
        <p:nvSpPr>
          <p:cNvPr id="16" name="Text 11"/>
          <p:cNvSpPr/>
          <p:nvPr/>
        </p:nvSpPr>
        <p:spPr>
          <a:xfrm>
            <a:off x="7635240" y="2898648"/>
            <a:ext cx="3931920" cy="3200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Sustainability</a:t>
            </a:r>
            <a:endParaRPr lang="en-US" sz="1400" dirty="0"/>
          </a:p>
        </p:txBody>
      </p:sp>
      <p:sp>
        <p:nvSpPr>
          <p:cNvPr id="17" name="Text 12"/>
          <p:cNvSpPr/>
          <p:nvPr/>
        </p:nvSpPr>
        <p:spPr>
          <a:xfrm>
            <a:off x="7635240" y="3218688"/>
            <a:ext cx="3931920" cy="502920"/>
          </a:xfrm>
          <a:prstGeom prst="rect">
            <a:avLst/>
          </a:prstGeom>
          <a:noFill/>
          <a:ln/>
        </p:spPr>
        <p:txBody>
          <a:bodyPr wrap="square" lIns="0" tIns="0" rIns="0" bIns="0" rtlCol="0" anchor="ctr"/>
          <a:lstStyle/>
          <a:p>
            <a:pPr indent="0" marL="0">
              <a:lnSpc>
                <a:spcPct val="120000"/>
              </a:lnSpc>
              <a:buNone/>
            </a:pPr>
            <a:r>
              <a:rPr lang="en-US" sz="1050" dirty="0">
                <a:solidFill>
                  <a:srgbClr val="D7E9DF"/>
                </a:solidFill>
                <a:latin typeface="Inter" pitchFamily="34" charset="0"/>
                <a:ea typeface="Inter" pitchFamily="34" charset="-122"/>
                <a:cs typeface="Inter" pitchFamily="34" charset="-120"/>
              </a:rPr>
              <a:t>Engineering solutions that respect our planet.</a:t>
            </a:r>
            <a:endParaRPr lang="en-US" sz="1050" dirty="0"/>
          </a:p>
        </p:txBody>
      </p:sp>
      <p:sp>
        <p:nvSpPr>
          <p:cNvPr id="18" name="Text 13"/>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About Orena</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E8F4EE"/>
                </a:solidFill>
                <a:latin typeface="Inter" pitchFamily="34" charset="0"/>
                <a:ea typeface="Inter" pitchFamily="34" charset="-122"/>
                <a:cs typeface="Inter" pitchFamily="34" charset="-120"/>
              </a:rPr>
              <a:t>Purpose</a:t>
            </a:r>
            <a:endParaRPr lang="en-US" sz="1100" dirty="0"/>
          </a:p>
        </p:txBody>
      </p:sp>
      <p:sp>
        <p:nvSpPr>
          <p:cNvPr id="4" name="Text 2"/>
          <p:cNvSpPr/>
          <p:nvPr/>
        </p:nvSpPr>
        <p:spPr>
          <a:xfrm>
            <a:off x="822960" y="1737360"/>
            <a:ext cx="10515600" cy="1737360"/>
          </a:xfrm>
          <a:prstGeom prst="rect">
            <a:avLst/>
          </a:prstGeom>
          <a:noFill/>
          <a:ln/>
        </p:spPr>
        <p:txBody>
          <a:bodyPr wrap="square" lIns="0" tIns="0" rIns="0" bIns="0" rtlCol="0" anchor="ctr"/>
          <a:lstStyle/>
          <a:p>
            <a:pPr algn="ctr" indent="0" marL="0">
              <a:lnSpc>
                <a:spcPct val="108000"/>
              </a:lnSpc>
              <a:buNone/>
            </a:pPr>
            <a:r>
              <a:rPr lang="en-US" sz="3800" b="1" dirty="0">
                <a:solidFill>
                  <a:srgbClr val="FFFFFF"/>
                </a:solidFill>
                <a:latin typeface="Poppins" pitchFamily="34" charset="0"/>
                <a:ea typeface="Poppins" pitchFamily="34" charset="-122"/>
                <a:cs typeface="Poppins" pitchFamily="34" charset="-120"/>
              </a:rPr>
              <a:t>Power the pipeline of</a:t>
            </a:r>
            <a:endParaRPr lang="en-US" sz="3800" dirty="0"/>
          </a:p>
          <a:p>
            <a:pPr algn="ctr" indent="0" marL="0">
              <a:lnSpc>
                <a:spcPct val="108000"/>
              </a:lnSpc>
              <a:buNone/>
            </a:pPr>
            <a:r>
              <a:rPr lang="en-US" sz="3800" b="1" dirty="0">
                <a:solidFill>
                  <a:srgbClr val="FFFFFF"/>
                </a:solidFill>
                <a:latin typeface="Poppins" pitchFamily="34" charset="0"/>
                <a:ea typeface="Poppins" pitchFamily="34" charset="-122"/>
                <a:cs typeface="Poppins" pitchFamily="34" charset="-120"/>
              </a:rPr>
              <a:t>preferred engineers.</a:t>
            </a:r>
            <a:endParaRPr lang="en-US" sz="3800" dirty="0"/>
          </a:p>
        </p:txBody>
      </p:sp>
      <p:sp>
        <p:nvSpPr>
          <p:cNvPr id="5" name="Text 3"/>
          <p:cNvSpPr/>
          <p:nvPr/>
        </p:nvSpPr>
        <p:spPr>
          <a:xfrm>
            <a:off x="822960" y="4206240"/>
            <a:ext cx="3108960" cy="1188720"/>
          </a:xfrm>
          <a:prstGeom prst="rect">
            <a:avLst/>
          </a:prstGeom>
          <a:noFill/>
          <a:ln/>
        </p:spPr>
        <p:txBody>
          <a:bodyPr wrap="square" lIns="0" tIns="0" rIns="0" bIns="0" rtlCol="0" anchor="ctr"/>
          <a:lstStyle/>
          <a:p>
            <a:pPr algn="ctr" indent="0" marL="0">
              <a:lnSpc>
                <a:spcPct val="130000"/>
              </a:lnSpc>
              <a:buNone/>
            </a:pPr>
            <a:r>
              <a:rPr lang="en-US" sz="1150" dirty="0">
                <a:solidFill>
                  <a:srgbClr val="D7E9DF"/>
                </a:solidFill>
                <a:latin typeface="Inter" pitchFamily="34" charset="0"/>
                <a:ea typeface="Inter" pitchFamily="34" charset="-122"/>
                <a:cs typeface="Inter" pitchFamily="34" charset="-120"/>
              </a:rPr>
              <a:t>We're the engine that connects hiring, training and culture transformation into one system.</a:t>
            </a:r>
            <a:endParaRPr lang="en-US" sz="1150" dirty="0"/>
          </a:p>
        </p:txBody>
      </p:sp>
      <p:sp>
        <p:nvSpPr>
          <p:cNvPr id="6" name="Shape 4"/>
          <p:cNvSpPr/>
          <p:nvPr/>
        </p:nvSpPr>
        <p:spPr>
          <a:xfrm>
            <a:off x="4069080" y="4160520"/>
            <a:ext cx="0" cy="1280160"/>
          </a:xfrm>
          <a:prstGeom prst="line">
            <a:avLst/>
          </a:prstGeom>
          <a:noFill/>
          <a:ln w="12700">
            <a:solidFill>
              <a:srgbClr val="00AF63"/>
            </a:solidFill>
            <a:prstDash val="solid"/>
          </a:ln>
        </p:spPr>
      </p:sp>
      <p:sp>
        <p:nvSpPr>
          <p:cNvPr id="7" name="Text 5"/>
          <p:cNvSpPr/>
          <p:nvPr/>
        </p:nvSpPr>
        <p:spPr>
          <a:xfrm>
            <a:off x="4206240" y="4206240"/>
            <a:ext cx="3108960" cy="1188720"/>
          </a:xfrm>
          <a:prstGeom prst="rect">
            <a:avLst/>
          </a:prstGeom>
          <a:noFill/>
          <a:ln/>
        </p:spPr>
        <p:txBody>
          <a:bodyPr wrap="square" lIns="0" tIns="0" rIns="0" bIns="0" rtlCol="0" anchor="ctr"/>
          <a:lstStyle/>
          <a:p>
            <a:pPr algn="ctr" indent="0" marL="0">
              <a:lnSpc>
                <a:spcPct val="130000"/>
              </a:lnSpc>
              <a:buNone/>
            </a:pPr>
            <a:r>
              <a:rPr lang="en-US" sz="1150" dirty="0">
                <a:solidFill>
                  <a:srgbClr val="D7E9DF"/>
                </a:solidFill>
                <a:latin typeface="Inter" pitchFamily="34" charset="0"/>
                <a:ea typeface="Inter" pitchFamily="34" charset="-122"/>
                <a:cs typeface="Inter" pitchFamily="34" charset="-120"/>
              </a:rPr>
              <a:t>Tailored solutions for organizations who want engineering talent built for tomorrow, not just today.</a:t>
            </a:r>
            <a:endParaRPr lang="en-US" sz="1150" dirty="0"/>
          </a:p>
        </p:txBody>
      </p:sp>
      <p:sp>
        <p:nvSpPr>
          <p:cNvPr id="8" name="Shape 6"/>
          <p:cNvSpPr/>
          <p:nvPr/>
        </p:nvSpPr>
        <p:spPr>
          <a:xfrm>
            <a:off x="7452360" y="4160520"/>
            <a:ext cx="0" cy="1280160"/>
          </a:xfrm>
          <a:prstGeom prst="line">
            <a:avLst/>
          </a:prstGeom>
          <a:noFill/>
          <a:ln w="12700">
            <a:solidFill>
              <a:srgbClr val="00AF63"/>
            </a:solidFill>
            <a:prstDash val="solid"/>
          </a:ln>
        </p:spPr>
      </p:sp>
      <p:sp>
        <p:nvSpPr>
          <p:cNvPr id="9" name="Text 7"/>
          <p:cNvSpPr/>
          <p:nvPr/>
        </p:nvSpPr>
        <p:spPr>
          <a:xfrm>
            <a:off x="7589520" y="4206240"/>
            <a:ext cx="3108960" cy="1188720"/>
          </a:xfrm>
          <a:prstGeom prst="rect">
            <a:avLst/>
          </a:prstGeom>
          <a:noFill/>
          <a:ln/>
        </p:spPr>
        <p:txBody>
          <a:bodyPr wrap="square" lIns="0" tIns="0" rIns="0" bIns="0" rtlCol="0" anchor="ctr"/>
          <a:lstStyle/>
          <a:p>
            <a:pPr algn="ctr" indent="0" marL="0">
              <a:lnSpc>
                <a:spcPct val="130000"/>
              </a:lnSpc>
              <a:buNone/>
            </a:pPr>
            <a:r>
              <a:rPr lang="en-US" sz="1150" dirty="0">
                <a:solidFill>
                  <a:srgbClr val="D7E9DF"/>
                </a:solidFill>
                <a:latin typeface="Inter" pitchFamily="34" charset="0"/>
                <a:ea typeface="Inter" pitchFamily="34" charset="-122"/>
                <a:cs typeface="Inter" pitchFamily="34" charset="-120"/>
              </a:rPr>
              <a:t>Without friction or complexity. Quality, people and sustainability, in equal measure.</a:t>
            </a:r>
            <a:endParaRPr lang="en-US" sz="1150" dirty="0"/>
          </a:p>
        </p:txBody>
      </p:sp>
      <p:sp>
        <p:nvSpPr>
          <p:cNvPr id="10" name="Text 8"/>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About Orena</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E8F4EE"/>
                </a:solidFill>
                <a:latin typeface="Inter" pitchFamily="34" charset="0"/>
                <a:ea typeface="Inter" pitchFamily="34" charset="-122"/>
                <a:cs typeface="Inter" pitchFamily="34" charset="-120"/>
              </a:rPr>
              <a:t>Brand Voice</a:t>
            </a:r>
            <a:endParaRPr lang="en-US" sz="1100" dirty="0"/>
          </a:p>
        </p:txBody>
      </p:sp>
      <p:sp>
        <p:nvSpPr>
          <p:cNvPr id="4" name="Text 2"/>
          <p:cNvSpPr/>
          <p:nvPr/>
        </p:nvSpPr>
        <p:spPr>
          <a:xfrm>
            <a:off x="457200" y="1051560"/>
            <a:ext cx="3291840" cy="548640"/>
          </a:xfrm>
          <a:prstGeom prst="rect">
            <a:avLst/>
          </a:prstGeom>
          <a:noFill/>
          <a:ln/>
        </p:spPr>
        <p:txBody>
          <a:bodyPr wrap="square" lIns="0" tIns="0" rIns="0" bIns="0" rtlCol="0" anchor="ctr"/>
          <a:lstStyle/>
          <a:p>
            <a:pPr indent="0" marL="0">
              <a:buNone/>
            </a:pPr>
            <a:r>
              <a:rPr lang="en-US" sz="2200" b="1" dirty="0">
                <a:solidFill>
                  <a:srgbClr val="FFFFFF"/>
                </a:solidFill>
                <a:latin typeface="Poppins" pitchFamily="34" charset="0"/>
                <a:ea typeface="Poppins" pitchFamily="34" charset="-122"/>
                <a:cs typeface="Poppins" pitchFamily="34" charset="-120"/>
              </a:rPr>
              <a:t>Reliable</a:t>
            </a:r>
            <a:endParaRPr lang="en-US" sz="2200" dirty="0"/>
          </a:p>
        </p:txBody>
      </p:sp>
      <p:sp>
        <p:nvSpPr>
          <p:cNvPr id="5" name="Text 3"/>
          <p:cNvSpPr/>
          <p:nvPr/>
        </p:nvSpPr>
        <p:spPr>
          <a:xfrm>
            <a:off x="4023360" y="1078992"/>
            <a:ext cx="7680960" cy="822960"/>
          </a:xfrm>
          <a:prstGeom prst="rect">
            <a:avLst/>
          </a:prstGeom>
          <a:noFill/>
          <a:ln/>
        </p:spPr>
        <p:txBody>
          <a:bodyPr wrap="square" lIns="0" tIns="0" rIns="0" bIns="0" rtlCol="0" anchor="t"/>
          <a:lstStyle/>
          <a:p>
            <a:pPr indent="0" marL="0">
              <a:lnSpc>
                <a:spcPct val="125000"/>
              </a:lnSpc>
              <a:buNone/>
            </a:pPr>
            <a:r>
              <a:rPr lang="en-US" sz="1200" dirty="0">
                <a:solidFill>
                  <a:srgbClr val="D7E9DF"/>
                </a:solidFill>
                <a:latin typeface="Inter" pitchFamily="34" charset="0"/>
                <a:ea typeface="Inter" pitchFamily="34" charset="-122"/>
                <a:cs typeface="Inter" pitchFamily="34" charset="-120"/>
              </a:rPr>
              <a:t>We deliver on our word. Every engagement is built on consistency organizations can plan around.</a:t>
            </a:r>
            <a:endParaRPr lang="en-US" sz="1200" dirty="0"/>
          </a:p>
        </p:txBody>
      </p:sp>
      <p:sp>
        <p:nvSpPr>
          <p:cNvPr id="6" name="Shape 4"/>
          <p:cNvSpPr/>
          <p:nvPr/>
        </p:nvSpPr>
        <p:spPr>
          <a:xfrm>
            <a:off x="457200" y="2231136"/>
            <a:ext cx="11247120" cy="0"/>
          </a:xfrm>
          <a:prstGeom prst="line">
            <a:avLst/>
          </a:prstGeom>
          <a:noFill/>
          <a:ln w="9525">
            <a:solidFill>
              <a:srgbClr val="00AF63"/>
            </a:solidFill>
            <a:prstDash val="sysDot"/>
          </a:ln>
        </p:spPr>
      </p:sp>
      <p:sp>
        <p:nvSpPr>
          <p:cNvPr id="7" name="Text 5"/>
          <p:cNvSpPr/>
          <p:nvPr/>
        </p:nvSpPr>
        <p:spPr>
          <a:xfrm>
            <a:off x="457200" y="2350008"/>
            <a:ext cx="3291840" cy="548640"/>
          </a:xfrm>
          <a:prstGeom prst="rect">
            <a:avLst/>
          </a:prstGeom>
          <a:noFill/>
          <a:ln/>
        </p:spPr>
        <p:txBody>
          <a:bodyPr wrap="square" lIns="0" tIns="0" rIns="0" bIns="0" rtlCol="0" anchor="ctr"/>
          <a:lstStyle/>
          <a:p>
            <a:pPr indent="0" marL="0">
              <a:buNone/>
            </a:pPr>
            <a:r>
              <a:rPr lang="en-US" sz="2200" b="1" dirty="0">
                <a:solidFill>
                  <a:srgbClr val="FFFFFF"/>
                </a:solidFill>
                <a:latin typeface="Poppins" pitchFamily="34" charset="0"/>
                <a:ea typeface="Poppins" pitchFamily="34" charset="-122"/>
                <a:cs typeface="Poppins" pitchFamily="34" charset="-120"/>
              </a:rPr>
              <a:t>Forward-thinking</a:t>
            </a:r>
            <a:endParaRPr lang="en-US" sz="2200" dirty="0"/>
          </a:p>
        </p:txBody>
      </p:sp>
      <p:sp>
        <p:nvSpPr>
          <p:cNvPr id="8" name="Text 6"/>
          <p:cNvSpPr/>
          <p:nvPr/>
        </p:nvSpPr>
        <p:spPr>
          <a:xfrm>
            <a:off x="4023360" y="2377440"/>
            <a:ext cx="7680960" cy="822960"/>
          </a:xfrm>
          <a:prstGeom prst="rect">
            <a:avLst/>
          </a:prstGeom>
          <a:noFill/>
          <a:ln/>
        </p:spPr>
        <p:txBody>
          <a:bodyPr wrap="square" lIns="0" tIns="0" rIns="0" bIns="0" rtlCol="0" anchor="t"/>
          <a:lstStyle/>
          <a:p>
            <a:pPr indent="0" marL="0">
              <a:lnSpc>
                <a:spcPct val="125000"/>
              </a:lnSpc>
              <a:buNone/>
            </a:pPr>
            <a:r>
              <a:rPr lang="en-US" sz="1200" dirty="0">
                <a:solidFill>
                  <a:srgbClr val="D7E9DF"/>
                </a:solidFill>
                <a:latin typeface="Inter" pitchFamily="34" charset="0"/>
                <a:ea typeface="Inter" pitchFamily="34" charset="-122"/>
                <a:cs typeface="Inter" pitchFamily="34" charset="-120"/>
              </a:rPr>
              <a:t>We anticipate where talent and industry are headed, not just where they are today.</a:t>
            </a:r>
            <a:endParaRPr lang="en-US" sz="1200" dirty="0"/>
          </a:p>
        </p:txBody>
      </p:sp>
      <p:sp>
        <p:nvSpPr>
          <p:cNvPr id="9" name="Shape 7"/>
          <p:cNvSpPr/>
          <p:nvPr/>
        </p:nvSpPr>
        <p:spPr>
          <a:xfrm>
            <a:off x="457200" y="3529584"/>
            <a:ext cx="11247120" cy="0"/>
          </a:xfrm>
          <a:prstGeom prst="line">
            <a:avLst/>
          </a:prstGeom>
          <a:noFill/>
          <a:ln w="9525">
            <a:solidFill>
              <a:srgbClr val="00AF63"/>
            </a:solidFill>
            <a:prstDash val="sysDot"/>
          </a:ln>
        </p:spPr>
      </p:sp>
      <p:sp>
        <p:nvSpPr>
          <p:cNvPr id="10" name="Text 8"/>
          <p:cNvSpPr/>
          <p:nvPr/>
        </p:nvSpPr>
        <p:spPr>
          <a:xfrm>
            <a:off x="457200" y="3648456"/>
            <a:ext cx="3291840" cy="548640"/>
          </a:xfrm>
          <a:prstGeom prst="rect">
            <a:avLst/>
          </a:prstGeom>
          <a:noFill/>
          <a:ln/>
        </p:spPr>
        <p:txBody>
          <a:bodyPr wrap="square" lIns="0" tIns="0" rIns="0" bIns="0" rtlCol="0" anchor="ctr"/>
          <a:lstStyle/>
          <a:p>
            <a:pPr indent="0" marL="0">
              <a:buNone/>
            </a:pPr>
            <a:r>
              <a:rPr lang="en-US" sz="2200" b="1" dirty="0">
                <a:solidFill>
                  <a:srgbClr val="FFFFFF"/>
                </a:solidFill>
                <a:latin typeface="Poppins" pitchFamily="34" charset="0"/>
                <a:ea typeface="Poppins" pitchFamily="34" charset="-122"/>
                <a:cs typeface="Poppins" pitchFamily="34" charset="-120"/>
              </a:rPr>
              <a:t>People-focused</a:t>
            </a:r>
            <a:endParaRPr lang="en-US" sz="2200" dirty="0"/>
          </a:p>
        </p:txBody>
      </p:sp>
      <p:sp>
        <p:nvSpPr>
          <p:cNvPr id="11" name="Text 9"/>
          <p:cNvSpPr/>
          <p:nvPr/>
        </p:nvSpPr>
        <p:spPr>
          <a:xfrm>
            <a:off x="4023360" y="3675888"/>
            <a:ext cx="7680960" cy="822960"/>
          </a:xfrm>
          <a:prstGeom prst="rect">
            <a:avLst/>
          </a:prstGeom>
          <a:noFill/>
          <a:ln/>
        </p:spPr>
        <p:txBody>
          <a:bodyPr wrap="square" lIns="0" tIns="0" rIns="0" bIns="0" rtlCol="0" anchor="t"/>
          <a:lstStyle/>
          <a:p>
            <a:pPr indent="0" marL="0">
              <a:lnSpc>
                <a:spcPct val="125000"/>
              </a:lnSpc>
              <a:buNone/>
            </a:pPr>
            <a:r>
              <a:rPr lang="en-US" sz="1200" dirty="0">
                <a:solidFill>
                  <a:srgbClr val="D7E9DF"/>
                </a:solidFill>
                <a:latin typeface="Inter" pitchFamily="34" charset="0"/>
                <a:ea typeface="Inter" pitchFamily="34" charset="-122"/>
                <a:cs typeface="Inter" pitchFamily="34" charset="-120"/>
              </a:rPr>
              <a:t>Every solution starts with the humans it serves — engineers, teams and leaders alike.</a:t>
            </a:r>
            <a:endParaRPr lang="en-US" sz="1200" dirty="0"/>
          </a:p>
        </p:txBody>
      </p:sp>
      <p:sp>
        <p:nvSpPr>
          <p:cNvPr id="12" name="Shape 10"/>
          <p:cNvSpPr/>
          <p:nvPr/>
        </p:nvSpPr>
        <p:spPr>
          <a:xfrm>
            <a:off x="457200" y="4828032"/>
            <a:ext cx="11247120" cy="0"/>
          </a:xfrm>
          <a:prstGeom prst="line">
            <a:avLst/>
          </a:prstGeom>
          <a:noFill/>
          <a:ln w="9525">
            <a:solidFill>
              <a:srgbClr val="00AF63"/>
            </a:solidFill>
            <a:prstDash val="sysDot"/>
          </a:ln>
        </p:spPr>
      </p:sp>
      <p:sp>
        <p:nvSpPr>
          <p:cNvPr id="13" name="Text 11"/>
          <p:cNvSpPr/>
          <p:nvPr/>
        </p:nvSpPr>
        <p:spPr>
          <a:xfrm>
            <a:off x="457200" y="4946904"/>
            <a:ext cx="3291840" cy="548640"/>
          </a:xfrm>
          <a:prstGeom prst="rect">
            <a:avLst/>
          </a:prstGeom>
          <a:noFill/>
          <a:ln/>
        </p:spPr>
        <p:txBody>
          <a:bodyPr wrap="square" lIns="0" tIns="0" rIns="0" bIns="0" rtlCol="0" anchor="ctr"/>
          <a:lstStyle/>
          <a:p>
            <a:pPr indent="0" marL="0">
              <a:buNone/>
            </a:pPr>
            <a:r>
              <a:rPr lang="en-US" sz="2200" b="1" dirty="0">
                <a:solidFill>
                  <a:srgbClr val="FFFFFF"/>
                </a:solidFill>
                <a:latin typeface="Poppins" pitchFamily="34" charset="0"/>
                <a:ea typeface="Poppins" pitchFamily="34" charset="-122"/>
                <a:cs typeface="Poppins" pitchFamily="34" charset="-120"/>
              </a:rPr>
              <a:t>Impact-driven</a:t>
            </a:r>
            <a:endParaRPr lang="en-US" sz="2200" dirty="0"/>
          </a:p>
        </p:txBody>
      </p:sp>
      <p:sp>
        <p:nvSpPr>
          <p:cNvPr id="14" name="Text 12"/>
          <p:cNvSpPr/>
          <p:nvPr/>
        </p:nvSpPr>
        <p:spPr>
          <a:xfrm>
            <a:off x="4023360" y="4974336"/>
            <a:ext cx="7680960" cy="822960"/>
          </a:xfrm>
          <a:prstGeom prst="rect">
            <a:avLst/>
          </a:prstGeom>
          <a:noFill/>
          <a:ln/>
        </p:spPr>
        <p:txBody>
          <a:bodyPr wrap="square" lIns="0" tIns="0" rIns="0" bIns="0" rtlCol="0" anchor="t"/>
          <a:lstStyle/>
          <a:p>
            <a:pPr indent="0" marL="0">
              <a:lnSpc>
                <a:spcPct val="125000"/>
              </a:lnSpc>
              <a:buNone/>
            </a:pPr>
            <a:r>
              <a:rPr lang="en-US" sz="1200" dirty="0">
                <a:solidFill>
                  <a:srgbClr val="D7E9DF"/>
                </a:solidFill>
                <a:latin typeface="Inter" pitchFamily="34" charset="0"/>
                <a:ea typeface="Inter" pitchFamily="34" charset="-122"/>
                <a:cs typeface="Inter" pitchFamily="34" charset="-120"/>
              </a:rPr>
              <a:t>We engineer solutions that create lasting value, not just short-term output.</a:t>
            </a:r>
            <a:endParaRPr lang="en-US" sz="1200" dirty="0"/>
          </a:p>
        </p:txBody>
      </p:sp>
      <p:sp>
        <p:nvSpPr>
          <p:cNvPr id="15" name="Text 13"/>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Orena Solutions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E8F4EE"/>
                </a:solidFill>
                <a:latin typeface="Inter" pitchFamily="34" charset="0"/>
                <a:ea typeface="Inter" pitchFamily="34" charset="-122"/>
                <a:cs typeface="Inter" pitchFamily="34" charset="-120"/>
              </a:rPr>
              <a:t>Brand Playbook</a:t>
            </a:r>
            <a:endParaRPr lang="en-US" sz="1100" dirty="0"/>
          </a:p>
        </p:txBody>
      </p:sp>
      <p:sp>
        <p:nvSpPr>
          <p:cNvPr id="4" name="Text 2"/>
          <p:cNvSpPr/>
          <p:nvPr/>
        </p:nvSpPr>
        <p:spPr>
          <a:xfrm>
            <a:off x="457200" y="2651760"/>
            <a:ext cx="10058400" cy="1463040"/>
          </a:xfrm>
          <a:prstGeom prst="rect">
            <a:avLst/>
          </a:prstGeom>
          <a:noFill/>
          <a:ln/>
        </p:spPr>
        <p:txBody>
          <a:bodyPr wrap="square" lIns="0" tIns="0" rIns="0" bIns="0" rtlCol="0" anchor="ctr"/>
          <a:lstStyle/>
          <a:p>
            <a:pPr indent="0" marL="0">
              <a:buNone/>
            </a:pPr>
            <a:r>
              <a:rPr lang="en-US" sz="5400" b="1" dirty="0">
                <a:solidFill>
                  <a:srgbClr val="FFFFFF"/>
                </a:solidFill>
                <a:latin typeface="Poppins" pitchFamily="34" charset="0"/>
                <a:ea typeface="Poppins" pitchFamily="34" charset="-122"/>
                <a:cs typeface="Poppins" pitchFamily="34" charset="-120"/>
              </a:rPr>
              <a:t>Colors</a:t>
            </a:r>
            <a:endParaRPr lang="en-US" sz="5400" dirty="0"/>
          </a:p>
        </p:txBody>
      </p:sp>
      <p:sp>
        <p:nvSpPr>
          <p:cNvPr id="5" name="Text 3"/>
          <p:cNvSpPr/>
          <p:nvPr/>
        </p:nvSpPr>
        <p:spPr>
          <a:xfrm>
            <a:off x="457200" y="5806440"/>
            <a:ext cx="8229600" cy="457200"/>
          </a:xfrm>
          <a:prstGeom prst="rect">
            <a:avLst/>
          </a:prstGeom>
          <a:noFill/>
          <a:ln/>
        </p:spPr>
        <p:txBody>
          <a:bodyPr wrap="square" lIns="0" tIns="0" rIns="0" bIns="0" rtlCol="0" anchor="ctr"/>
          <a:lstStyle/>
          <a:p>
            <a:pPr indent="0" marL="0">
              <a:buNone/>
            </a:pPr>
            <a:r>
              <a:rPr lang="en-US" sz="1400" i="1" dirty="0">
                <a:solidFill>
                  <a:srgbClr val="48B855"/>
                </a:solidFill>
                <a:latin typeface="Inter" pitchFamily="34" charset="0"/>
                <a:ea typeface="Inter" pitchFamily="34" charset="-122"/>
                <a:cs typeface="Inter" pitchFamily="34" charset="-120"/>
              </a:rPr>
              <a:t>How we use color to denote our brand and signpost information.</a:t>
            </a:r>
            <a:endParaRPr lang="en-US" sz="1400" dirty="0"/>
          </a:p>
        </p:txBody>
      </p:sp>
      <p:sp>
        <p:nvSpPr>
          <p:cNvPr id="6" name="Text 4"/>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Colors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Core Palette</a:t>
            </a:r>
            <a:endParaRPr lang="en-US" sz="1100" dirty="0"/>
          </a:p>
        </p:txBody>
      </p:sp>
      <p:sp>
        <p:nvSpPr>
          <p:cNvPr id="4" name="Text 2"/>
          <p:cNvSpPr/>
          <p:nvPr/>
        </p:nvSpPr>
        <p:spPr>
          <a:xfrm>
            <a:off x="457200" y="1005840"/>
            <a:ext cx="2834640" cy="2011680"/>
          </a:xfrm>
          <a:prstGeom prst="rect">
            <a:avLst/>
          </a:prstGeom>
          <a:noFill/>
          <a:ln/>
        </p:spPr>
        <p:txBody>
          <a:bodyPr wrap="square" lIns="0" tIns="0" rIns="0" bIns="0" rtlCol="0" anchor="ctr"/>
          <a:lstStyle/>
          <a:p>
            <a:pPr indent="0" marL="0">
              <a:lnSpc>
                <a:spcPct val="130000"/>
              </a:lnSpc>
              <a:buNone/>
            </a:pPr>
            <a:r>
              <a:rPr lang="en-US" sz="1250" dirty="0">
                <a:solidFill>
                  <a:srgbClr val="18231E"/>
                </a:solidFill>
                <a:latin typeface="Inter" pitchFamily="34" charset="0"/>
                <a:ea typeface="Inter" pitchFamily="34" charset="-122"/>
                <a:cs typeface="Inter" pitchFamily="34" charset="-120"/>
              </a:rPr>
              <a:t>Our colors reflect the reliability, growth, and human focus of Orena — grounded in green, framed in soft neutrals, and lifted with a touch of lime.</a:t>
            </a:r>
            <a:endParaRPr lang="en-US" sz="1250" dirty="0"/>
          </a:p>
        </p:txBody>
      </p:sp>
      <p:sp>
        <p:nvSpPr>
          <p:cNvPr id="100" name="Swatch 0"/>
          <p:cNvSpPr/>
          <p:nvPr/>
        </p:nvSpPr>
        <p:spPr>
          <a:xfrm>
            <a:off x="3611880" y="1220840"/>
            <a:ext cx="420000" cy="420000"/>
          </a:xfrm>
          <a:prstGeom prst="roundRect">
            <a:avLst>
              <a:gd name="adj" fmla="val 12000"/>
            </a:avLst>
          </a:prstGeom>
          <a:solidFill>
            <a:srgbClr val="0D7043"/>
          </a:solidFill>
          <a:ln>
            <a:solidFill>
              <a:srgbClr val="D7E9DF"/>
            </a:solidFill>
          </a:ln>
        </p:spPr>
      </p:sp>
      <p:sp>
        <p:nvSpPr>
          <p:cNvPr id="101" name="ColorName 0"/>
          <p:cNvSpPr/>
          <p:nvPr/>
        </p:nvSpPr>
        <p:spPr>
          <a:xfrm>
            <a:off x="4181880" y="113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Orena Green</a:t>
            </a:r>
            <a:endParaRPr lang="en-US" sz="1300" dirty="0"/>
          </a:p>
        </p:txBody>
      </p:sp>
      <p:sp>
        <p:nvSpPr>
          <p:cNvPr id="102" name="ColorMeta 0"/>
          <p:cNvSpPr/>
          <p:nvPr/>
        </p:nvSpPr>
        <p:spPr>
          <a:xfrm>
            <a:off x="4181880" y="147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#0D7043  </a:t>
            </a:r>
            <a:r>
              <a:rPr lang="en-US" sz="900" dirty="0">
                <a:solidFill>
                  <a:srgbClr val="66756D"/>
                </a:solidFill>
                <a:latin typeface="Inter" pitchFamily="34" charset="0"/>
                <a:ea typeface="Inter" pitchFamily="34" charset="-122"/>
                <a:cs typeface="Inter" pitchFamily="34" charset="-120"/>
              </a:rPr>
              <a:t>· Primary / Headings · ~60%</a:t>
            </a:r>
            <a:endParaRPr lang="en-US" sz="900" dirty="0"/>
          </a:p>
        </p:txBody>
      </p:sp>
      <p:sp>
        <p:nvSpPr>
          <p:cNvPr id="103" name="Swatch 1"/>
          <p:cNvSpPr/>
          <p:nvPr/>
        </p:nvSpPr>
        <p:spPr>
          <a:xfrm>
            <a:off x="3611880" y="2070840"/>
            <a:ext cx="420000" cy="420000"/>
          </a:xfrm>
          <a:prstGeom prst="roundRect">
            <a:avLst>
              <a:gd name="adj" fmla="val 12000"/>
            </a:avLst>
          </a:prstGeom>
          <a:solidFill>
            <a:srgbClr val="00AF63"/>
          </a:solidFill>
          <a:ln>
            <a:solidFill>
              <a:srgbClr val="D7E9DF"/>
            </a:solidFill>
          </a:ln>
        </p:spPr>
      </p:sp>
      <p:sp>
        <p:nvSpPr>
          <p:cNvPr id="104" name="ColorName 1"/>
          <p:cNvSpPr/>
          <p:nvPr/>
        </p:nvSpPr>
        <p:spPr>
          <a:xfrm>
            <a:off x="4181880" y="198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Emerald</a:t>
            </a:r>
            <a:endParaRPr lang="en-US" sz="1300" dirty="0"/>
          </a:p>
        </p:txBody>
      </p:sp>
      <p:sp>
        <p:nvSpPr>
          <p:cNvPr id="105" name="ColorMeta 1"/>
          <p:cNvSpPr/>
          <p:nvPr/>
        </p:nvSpPr>
        <p:spPr>
          <a:xfrm>
            <a:off x="4181880" y="232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#00AF63  </a:t>
            </a:r>
            <a:r>
              <a:rPr lang="en-US" sz="900" dirty="0">
                <a:solidFill>
                  <a:srgbClr val="66756D"/>
                </a:solidFill>
                <a:latin typeface="Inter" pitchFamily="34" charset="0"/>
                <a:ea typeface="Inter" pitchFamily="34" charset="-122"/>
                <a:cs typeface="Inter" pitchFamily="34" charset="-120"/>
              </a:rPr>
              <a:t>· Buttons / CTAs / Links · ~20%</a:t>
            </a:r>
            <a:endParaRPr lang="en-US" sz="900" dirty="0"/>
          </a:p>
        </p:txBody>
      </p:sp>
      <p:sp>
        <p:nvSpPr>
          <p:cNvPr id="106" name="Swatch 2"/>
          <p:cNvSpPr/>
          <p:nvPr/>
        </p:nvSpPr>
        <p:spPr>
          <a:xfrm>
            <a:off x="3611880" y="2920840"/>
            <a:ext cx="420000" cy="420000"/>
          </a:xfrm>
          <a:prstGeom prst="roundRect">
            <a:avLst>
              <a:gd name="adj" fmla="val 12000"/>
            </a:avLst>
          </a:prstGeom>
          <a:solidFill>
            <a:srgbClr val="48B855"/>
          </a:solidFill>
          <a:ln>
            <a:solidFill>
              <a:srgbClr val="D7E9DF"/>
            </a:solidFill>
          </a:ln>
        </p:spPr>
      </p:sp>
      <p:sp>
        <p:nvSpPr>
          <p:cNvPr id="107" name="ColorName 2"/>
          <p:cNvSpPr/>
          <p:nvPr/>
        </p:nvSpPr>
        <p:spPr>
          <a:xfrm>
            <a:off x="4181880" y="283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Fresh Leaf</a:t>
            </a:r>
            <a:endParaRPr lang="en-US" sz="1300" dirty="0"/>
          </a:p>
        </p:txBody>
      </p:sp>
      <p:sp>
        <p:nvSpPr>
          <p:cNvPr id="108" name="ColorMeta 2"/>
          <p:cNvSpPr/>
          <p:nvPr/>
        </p:nvSpPr>
        <p:spPr>
          <a:xfrm>
            <a:off x="4181880" y="317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#48B855  </a:t>
            </a:r>
            <a:r>
              <a:rPr lang="en-US" sz="900" dirty="0">
                <a:solidFill>
                  <a:srgbClr val="66756D"/>
                </a:solidFill>
                <a:latin typeface="Inter" pitchFamily="34" charset="0"/>
                <a:ea typeface="Inter" pitchFamily="34" charset="-122"/>
                <a:cs typeface="Inter" pitchFamily="34" charset="-120"/>
              </a:rPr>
              <a:t>· Accents / Icons / Charts · ~10%</a:t>
            </a:r>
            <a:endParaRPr lang="en-US" sz="900" dirty="0"/>
          </a:p>
        </p:txBody>
      </p:sp>
      <p:sp>
        <p:nvSpPr>
          <p:cNvPr id="109" name="Swatch 3"/>
          <p:cNvSpPr/>
          <p:nvPr/>
        </p:nvSpPr>
        <p:spPr>
          <a:xfrm>
            <a:off x="3611880" y="3770840"/>
            <a:ext cx="420000" cy="420000"/>
          </a:xfrm>
          <a:prstGeom prst="roundRect">
            <a:avLst>
              <a:gd name="adj" fmla="val 12000"/>
            </a:avLst>
          </a:prstGeom>
          <a:solidFill>
            <a:srgbClr val="B5D60C"/>
          </a:solidFill>
          <a:ln>
            <a:solidFill>
              <a:srgbClr val="D7E9DF"/>
            </a:solidFill>
          </a:ln>
        </p:spPr>
      </p:sp>
      <p:sp>
        <p:nvSpPr>
          <p:cNvPr id="110" name="ColorName 3"/>
          <p:cNvSpPr/>
          <p:nvPr/>
        </p:nvSpPr>
        <p:spPr>
          <a:xfrm>
            <a:off x="4181880" y="368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Lime Spark</a:t>
            </a:r>
            <a:endParaRPr lang="en-US" sz="1300" dirty="0"/>
          </a:p>
        </p:txBody>
      </p:sp>
      <p:sp>
        <p:nvSpPr>
          <p:cNvPr id="111" name="ColorMeta 3"/>
          <p:cNvSpPr/>
          <p:nvPr/>
        </p:nvSpPr>
        <p:spPr>
          <a:xfrm>
            <a:off x="4181880" y="402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#B5D60C  </a:t>
            </a:r>
            <a:r>
              <a:rPr lang="en-US" sz="900" dirty="0">
                <a:solidFill>
                  <a:srgbClr val="66756D"/>
                </a:solidFill>
                <a:latin typeface="Inter" pitchFamily="34" charset="0"/>
                <a:ea typeface="Inter" pitchFamily="34" charset="-122"/>
                <a:cs typeface="Inter" pitchFamily="34" charset="-120"/>
              </a:rPr>
              <a:t>· Highlights / Call-outs · ~5%</a:t>
            </a:r>
            <a:endParaRPr lang="en-US" sz="900" dirty="0"/>
          </a:p>
        </p:txBody>
      </p:sp>
      <p:sp>
        <p:nvSpPr>
          <p:cNvPr id="112" name="Swatch 4"/>
          <p:cNvSpPr/>
          <p:nvPr/>
        </p:nvSpPr>
        <p:spPr>
          <a:xfrm>
            <a:off x="3611880" y="4620840"/>
            <a:ext cx="420000" cy="420000"/>
          </a:xfrm>
          <a:prstGeom prst="roundRect">
            <a:avLst>
              <a:gd name="adj" fmla="val 12000"/>
            </a:avLst>
          </a:prstGeom>
          <a:solidFill>
            <a:srgbClr val="E8F4EE"/>
          </a:solidFill>
          <a:ln>
            <a:solidFill>
              <a:srgbClr val="D7E9DF"/>
            </a:solidFill>
          </a:ln>
        </p:spPr>
      </p:sp>
      <p:sp>
        <p:nvSpPr>
          <p:cNvPr id="113" name="ColorName 4"/>
          <p:cNvSpPr/>
          <p:nvPr/>
        </p:nvSpPr>
        <p:spPr>
          <a:xfrm>
            <a:off x="4181880" y="453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Pale Mint</a:t>
            </a:r>
            <a:endParaRPr lang="en-US" sz="1300" dirty="0"/>
          </a:p>
        </p:txBody>
      </p:sp>
      <p:sp>
        <p:nvSpPr>
          <p:cNvPr id="114" name="ColorMeta 4"/>
          <p:cNvSpPr/>
          <p:nvPr/>
        </p:nvSpPr>
        <p:spPr>
          <a:xfrm>
            <a:off x="4181880" y="487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#E8F4EE  </a:t>
            </a:r>
            <a:r>
              <a:rPr lang="en-US" sz="900" dirty="0">
                <a:solidFill>
                  <a:srgbClr val="66756D"/>
                </a:solidFill>
                <a:latin typeface="Inter" pitchFamily="34" charset="0"/>
                <a:ea typeface="Inter" pitchFamily="34" charset="-122"/>
                <a:cs typeface="Inter" pitchFamily="34" charset="-120"/>
              </a:rPr>
              <a:t>· Backgrounds / Panels · ~60%</a:t>
            </a:r>
            <a:endParaRPr lang="en-US" sz="900" dirty="0"/>
          </a:p>
        </p:txBody>
      </p:sp>
      <p:sp>
        <p:nvSpPr>
          <p:cNvPr id="115" name="Swatch 5"/>
          <p:cNvSpPr/>
          <p:nvPr/>
        </p:nvSpPr>
        <p:spPr>
          <a:xfrm>
            <a:off x="7661880" y="1220840"/>
            <a:ext cx="420000" cy="420000"/>
          </a:xfrm>
          <a:prstGeom prst="roundRect">
            <a:avLst>
              <a:gd name="adj" fmla="val 12000"/>
            </a:avLst>
          </a:prstGeom>
          <a:solidFill>
            <a:srgbClr val="D7E9DF"/>
          </a:solidFill>
          <a:ln>
            <a:solidFill>
              <a:srgbClr val="D7E9DF"/>
            </a:solidFill>
          </a:ln>
        </p:spPr>
      </p:sp>
      <p:sp>
        <p:nvSpPr>
          <p:cNvPr id="116" name="ColorName 5"/>
          <p:cNvSpPr/>
          <p:nvPr/>
        </p:nvSpPr>
        <p:spPr>
          <a:xfrm>
            <a:off x="8231880" y="113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Mist Green</a:t>
            </a:r>
            <a:endParaRPr lang="en-US" sz="1300" dirty="0"/>
          </a:p>
        </p:txBody>
      </p:sp>
      <p:sp>
        <p:nvSpPr>
          <p:cNvPr id="117" name="ColorMeta 5"/>
          <p:cNvSpPr/>
          <p:nvPr/>
        </p:nvSpPr>
        <p:spPr>
          <a:xfrm>
            <a:off x="8231880" y="147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#D7E9DF  </a:t>
            </a:r>
            <a:r>
              <a:rPr lang="en-US" sz="900" dirty="0">
                <a:solidFill>
                  <a:srgbClr val="66756D"/>
                </a:solidFill>
                <a:latin typeface="Inter" pitchFamily="34" charset="0"/>
                <a:ea typeface="Inter" pitchFamily="34" charset="-122"/>
                <a:cs typeface="Inter" pitchFamily="34" charset="-120"/>
              </a:rPr>
              <a:t>· Borders / Subtle Dividers · ~20%</a:t>
            </a:r>
            <a:endParaRPr lang="en-US" sz="900" dirty="0"/>
          </a:p>
        </p:txBody>
      </p:sp>
      <p:sp>
        <p:nvSpPr>
          <p:cNvPr id="118" name="Swatch 6"/>
          <p:cNvSpPr/>
          <p:nvPr/>
        </p:nvSpPr>
        <p:spPr>
          <a:xfrm>
            <a:off x="7661880" y="2070840"/>
            <a:ext cx="420000" cy="420000"/>
          </a:xfrm>
          <a:prstGeom prst="roundRect">
            <a:avLst>
              <a:gd name="adj" fmla="val 12000"/>
            </a:avLst>
          </a:prstGeom>
          <a:solidFill>
            <a:srgbClr val="0F5B37"/>
          </a:solidFill>
          <a:ln>
            <a:solidFill>
              <a:srgbClr val="D7E9DF"/>
            </a:solidFill>
          </a:ln>
        </p:spPr>
      </p:sp>
      <p:sp>
        <p:nvSpPr>
          <p:cNvPr id="119" name="ColorName 6"/>
          <p:cNvSpPr/>
          <p:nvPr/>
        </p:nvSpPr>
        <p:spPr>
          <a:xfrm>
            <a:off x="8231880" y="198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Deep Forest</a:t>
            </a:r>
            <a:endParaRPr lang="en-US" sz="1300" dirty="0"/>
          </a:p>
        </p:txBody>
      </p:sp>
      <p:sp>
        <p:nvSpPr>
          <p:cNvPr id="120" name="ColorMeta 6"/>
          <p:cNvSpPr/>
          <p:nvPr/>
        </p:nvSpPr>
        <p:spPr>
          <a:xfrm>
            <a:off x="8231880" y="232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#0F5B37  </a:t>
            </a:r>
            <a:r>
              <a:rPr lang="en-US" sz="900" dirty="0">
                <a:solidFill>
                  <a:srgbClr val="66756D"/>
                </a:solidFill>
                <a:latin typeface="Inter" pitchFamily="34" charset="0"/>
                <a:ea typeface="Inter" pitchFamily="34" charset="-122"/>
                <a:cs typeface="Inter" pitchFamily="34" charset="-120"/>
              </a:rPr>
              <a:t>· Dark Backgrounds / Footer · ~5%</a:t>
            </a:r>
            <a:endParaRPr lang="en-US" sz="900" dirty="0"/>
          </a:p>
        </p:txBody>
      </p:sp>
      <p:sp>
        <p:nvSpPr>
          <p:cNvPr id="121" name="Swatch 7"/>
          <p:cNvSpPr/>
          <p:nvPr/>
        </p:nvSpPr>
        <p:spPr>
          <a:xfrm>
            <a:off x="7661880" y="2920840"/>
            <a:ext cx="420000" cy="420000"/>
          </a:xfrm>
          <a:prstGeom prst="roundRect">
            <a:avLst>
              <a:gd name="adj" fmla="val 12000"/>
            </a:avLst>
          </a:prstGeom>
          <a:solidFill>
            <a:srgbClr val="18231E"/>
          </a:solidFill>
          <a:ln>
            <a:solidFill>
              <a:srgbClr val="D7E9DF"/>
            </a:solidFill>
          </a:ln>
        </p:spPr>
      </p:sp>
      <p:sp>
        <p:nvSpPr>
          <p:cNvPr id="122" name="ColorName 7"/>
          <p:cNvSpPr/>
          <p:nvPr/>
        </p:nvSpPr>
        <p:spPr>
          <a:xfrm>
            <a:off x="8231880" y="283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Charcoal</a:t>
            </a:r>
            <a:endParaRPr lang="en-US" sz="1300" dirty="0"/>
          </a:p>
        </p:txBody>
      </p:sp>
      <p:sp>
        <p:nvSpPr>
          <p:cNvPr id="123" name="ColorMeta 7"/>
          <p:cNvSpPr/>
          <p:nvPr/>
        </p:nvSpPr>
        <p:spPr>
          <a:xfrm>
            <a:off x="8231880" y="317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#18231E  </a:t>
            </a:r>
            <a:r>
              <a:rPr lang="en-US" sz="900" dirty="0">
                <a:solidFill>
                  <a:srgbClr val="66756D"/>
                </a:solidFill>
                <a:latin typeface="Inter" pitchFamily="34" charset="0"/>
                <a:ea typeface="Inter" pitchFamily="34" charset="-122"/>
                <a:cs typeface="Inter" pitchFamily="34" charset="-120"/>
              </a:rPr>
              <a:t>· Body Text / Primary Text · ~90%</a:t>
            </a:r>
            <a:endParaRPr lang="en-US" sz="900" dirty="0"/>
          </a:p>
        </p:txBody>
      </p:sp>
      <p:sp>
        <p:nvSpPr>
          <p:cNvPr id="124" name="Swatch 8"/>
          <p:cNvSpPr/>
          <p:nvPr/>
        </p:nvSpPr>
        <p:spPr>
          <a:xfrm>
            <a:off x="7661880" y="3770840"/>
            <a:ext cx="420000" cy="420000"/>
          </a:xfrm>
          <a:prstGeom prst="roundRect">
            <a:avLst>
              <a:gd name="adj" fmla="val 12000"/>
            </a:avLst>
          </a:prstGeom>
          <a:solidFill>
            <a:srgbClr val="66756D"/>
          </a:solidFill>
          <a:ln>
            <a:solidFill>
              <a:srgbClr val="D7E9DF"/>
            </a:solidFill>
          </a:ln>
        </p:spPr>
      </p:sp>
      <p:sp>
        <p:nvSpPr>
          <p:cNvPr id="125" name="ColorName 8"/>
          <p:cNvSpPr/>
          <p:nvPr/>
        </p:nvSpPr>
        <p:spPr>
          <a:xfrm>
            <a:off x="8231880" y="368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Muted Green Grey</a:t>
            </a:r>
            <a:endParaRPr lang="en-US" sz="1300" dirty="0"/>
          </a:p>
        </p:txBody>
      </p:sp>
      <p:sp>
        <p:nvSpPr>
          <p:cNvPr id="126" name="ColorMeta 8"/>
          <p:cNvSpPr/>
          <p:nvPr/>
        </p:nvSpPr>
        <p:spPr>
          <a:xfrm>
            <a:off x="8231880" y="402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#66756D  </a:t>
            </a:r>
            <a:r>
              <a:rPr lang="en-US" sz="900" dirty="0">
                <a:solidFill>
                  <a:srgbClr val="66756D"/>
                </a:solidFill>
                <a:latin typeface="Inter" pitchFamily="34" charset="0"/>
                <a:ea typeface="Inter" pitchFamily="34" charset="-122"/>
                <a:cs typeface="Inter" pitchFamily="34" charset="-120"/>
              </a:rPr>
              <a:t>· Secondary Text / Icons · ~10%</a:t>
            </a:r>
            <a:endParaRPr lang="en-US" sz="900" dirty="0"/>
          </a:p>
        </p:txBody>
      </p:sp>
      <p:sp>
        <p:nvSpPr>
          <p:cNvPr id="127" name="Swatch 9"/>
          <p:cNvSpPr/>
          <p:nvPr/>
        </p:nvSpPr>
        <p:spPr>
          <a:xfrm>
            <a:off x="7661880" y="4620840"/>
            <a:ext cx="420000" cy="420000"/>
          </a:xfrm>
          <a:prstGeom prst="roundRect">
            <a:avLst>
              <a:gd name="adj" fmla="val 12000"/>
            </a:avLst>
          </a:prstGeom>
          <a:solidFill>
            <a:srgbClr val="FAFCF9"/>
          </a:solidFill>
          <a:ln>
            <a:solidFill>
              <a:srgbClr val="D7E9DF"/>
            </a:solidFill>
          </a:ln>
        </p:spPr>
      </p:sp>
      <p:sp>
        <p:nvSpPr>
          <p:cNvPr id="128" name="ColorName 9"/>
          <p:cNvSpPr/>
          <p:nvPr/>
        </p:nvSpPr>
        <p:spPr>
          <a:xfrm>
            <a:off x="8231880" y="4535840"/>
            <a:ext cx="3170000" cy="32000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Warm White</a:t>
            </a:r>
            <a:endParaRPr lang="en-US" sz="1300" dirty="0"/>
          </a:p>
        </p:txBody>
      </p:sp>
      <p:sp>
        <p:nvSpPr>
          <p:cNvPr id="129" name="ColorMeta 9"/>
          <p:cNvSpPr/>
          <p:nvPr/>
        </p:nvSpPr>
        <p:spPr>
          <a:xfrm>
            <a:off x="8231880" y="4875840"/>
            <a:ext cx="3170000" cy="274320"/>
          </a:xfrm>
          <a:prstGeom prst="rect">
            <a:avLst/>
          </a:prstGeom>
          <a:noFill/>
          <a:ln/>
        </p:spPr>
        <p:txBody>
          <a:bodyPr wrap="square" lIns="0" tIns="0" rIns="0" bIns="0" rtlCol="0" anchor="ctr"/>
          <a:lstStyle/>
          <a:p>
            <a:pPr indent="0" marL="0">
              <a:buNone/>
            </a:pPr>
            <a:r>
              <a:rPr lang="en-US" sz="900" dirty="0">
                <a:solidFill>
                  <a:srgbClr val="66756D"/>
                </a:solidFill>
                <a:latin typeface="Consolas" pitchFamily="34" charset="0"/>
                <a:ea typeface="Consolas" pitchFamily="34" charset="-122"/>
                <a:cs typeface="Consolas" pitchFamily="34" charset="-120"/>
              </a:rPr>
              <a:t>#FAFCF9  </a:t>
            </a:r>
            <a:r>
              <a:rPr lang="en-US" sz="900" dirty="0">
                <a:solidFill>
                  <a:srgbClr val="66756D"/>
                </a:solidFill>
                <a:latin typeface="Inter" pitchFamily="34" charset="0"/>
                <a:ea typeface="Inter" pitchFamily="34" charset="-122"/>
                <a:cs typeface="Inter" pitchFamily="34" charset="-120"/>
              </a:rPr>
              <a:t>· Main Canvas · ~100%</a:t>
            </a:r>
            <a:endParaRPr lang="en-US" sz="900" dirty="0"/>
          </a:p>
        </p:txBody>
      </p:sp>
      <p:sp>
        <p:nvSpPr>
          <p:cNvPr id="30" name="Text 28"/>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Colors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Proportions &amp; Usage</a:t>
            </a:r>
            <a:endParaRPr lang="en-US" sz="1100" dirty="0"/>
          </a:p>
        </p:txBody>
      </p:sp>
      <p:sp>
        <p:nvSpPr>
          <p:cNvPr id="4" name="Text 2"/>
          <p:cNvSpPr/>
          <p:nvPr/>
        </p:nvSpPr>
        <p:spPr>
          <a:xfrm>
            <a:off x="457200" y="1005840"/>
            <a:ext cx="2834640" cy="2377440"/>
          </a:xfrm>
          <a:prstGeom prst="rect">
            <a:avLst/>
          </a:prstGeom>
          <a:noFill/>
          <a:ln/>
        </p:spPr>
        <p:txBody>
          <a:bodyPr wrap="square" lIns="0" tIns="0" rIns="0" bIns="0" rtlCol="0" anchor="ctr"/>
          <a:lstStyle/>
          <a:p>
            <a:pPr indent="0" marL="0">
              <a:lnSpc>
                <a:spcPct val="130000"/>
              </a:lnSpc>
              <a:buNone/>
            </a:pPr>
            <a:r>
              <a:rPr lang="en-US" sz="1250" dirty="0">
                <a:solidFill>
                  <a:srgbClr val="18231E"/>
                </a:solidFill>
                <a:latin typeface="Inter" pitchFamily="34" charset="0"/>
                <a:ea typeface="Inter" pitchFamily="34" charset="-122"/>
                <a:cs typeface="Inter" pitchFamily="34" charset="-120"/>
              </a:rPr>
              <a:t>We use a lot of negative space and soft neutrals to keep layouts calm and legible. Orena Green is used sparingly to draw attention to headlines and core actions. Lime marks only the most important highlights.</a:t>
            </a:r>
            <a:endParaRPr lang="en-US" sz="1250" dirty="0"/>
          </a:p>
        </p:txBody>
      </p:sp>
      <p:sp>
        <p:nvSpPr>
          <p:cNvPr id="5" name="Shape 3"/>
          <p:cNvSpPr/>
          <p:nvPr/>
        </p:nvSpPr>
        <p:spPr>
          <a:xfrm>
            <a:off x="3611880" y="960120"/>
            <a:ext cx="8138160" cy="5394960"/>
          </a:xfrm>
          <a:prstGeom prst="roundRect">
            <a:avLst>
              <a:gd name="adj" fmla="val 1017"/>
            </a:avLst>
          </a:prstGeom>
          <a:solidFill>
            <a:srgbClr val="FFFFFF"/>
          </a:solidFill>
          <a:ln w="12700">
            <a:solidFill>
              <a:srgbClr val="E8F4EE"/>
            </a:solidFill>
            <a:prstDash val="solid"/>
          </a:ln>
        </p:spPr>
      </p:sp>
      <p:sp>
        <p:nvSpPr>
          <p:cNvPr id="6" name="Text 4"/>
          <p:cNvSpPr/>
          <p:nvPr/>
        </p:nvSpPr>
        <p:spPr>
          <a:xfrm>
            <a:off x="3840480" y="1143000"/>
            <a:ext cx="2743200" cy="32004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Warm White</a:t>
            </a:r>
            <a:endParaRPr lang="en-US" sz="1300" dirty="0"/>
          </a:p>
        </p:txBody>
      </p:sp>
      <p:sp>
        <p:nvSpPr>
          <p:cNvPr id="7" name="Text 5"/>
          <p:cNvSpPr/>
          <p:nvPr/>
        </p:nvSpPr>
        <p:spPr>
          <a:xfrm>
            <a:off x="3840480" y="1444752"/>
            <a:ext cx="4572000" cy="274320"/>
          </a:xfrm>
          <a:prstGeom prst="rect">
            <a:avLst/>
          </a:prstGeom>
          <a:noFill/>
          <a:ln/>
        </p:spPr>
        <p:txBody>
          <a:bodyPr wrap="square" lIns="0" tIns="0" rIns="0" bIns="0" rtlCol="0" anchor="ctr"/>
          <a:lstStyle/>
          <a:p>
            <a:pPr indent="0" marL="0">
              <a:buNone/>
            </a:pPr>
            <a:r>
              <a:rPr lang="en-US" sz="950" i="1" dirty="0">
                <a:solidFill>
                  <a:srgbClr val="66756D"/>
                </a:solidFill>
                <a:latin typeface="Inter" pitchFamily="34" charset="0"/>
                <a:ea typeface="Inter" pitchFamily="34" charset="-122"/>
                <a:cs typeface="Inter" pitchFamily="34" charset="-120"/>
              </a:rPr>
              <a:t>Base canvas for pages and documents</a:t>
            </a:r>
            <a:endParaRPr lang="en-US" sz="950" dirty="0"/>
          </a:p>
        </p:txBody>
      </p:sp>
      <p:sp>
        <p:nvSpPr>
          <p:cNvPr id="8" name="Shape 6"/>
          <p:cNvSpPr/>
          <p:nvPr/>
        </p:nvSpPr>
        <p:spPr>
          <a:xfrm>
            <a:off x="4023360" y="1874520"/>
            <a:ext cx="7269480" cy="4206240"/>
          </a:xfrm>
          <a:prstGeom prst="roundRect">
            <a:avLst>
              <a:gd name="adj" fmla="val 1304"/>
            </a:avLst>
          </a:prstGeom>
          <a:solidFill>
            <a:srgbClr val="E8F4EE"/>
          </a:solidFill>
          <a:ln/>
        </p:spPr>
      </p:sp>
      <p:sp>
        <p:nvSpPr>
          <p:cNvPr id="9" name="Text 7"/>
          <p:cNvSpPr/>
          <p:nvPr/>
        </p:nvSpPr>
        <p:spPr>
          <a:xfrm>
            <a:off x="4251960" y="2057400"/>
            <a:ext cx="2743200" cy="320040"/>
          </a:xfrm>
          <a:prstGeom prst="rect">
            <a:avLst/>
          </a:prstGeom>
          <a:noFill/>
          <a:ln/>
        </p:spPr>
        <p:txBody>
          <a:bodyPr wrap="square" lIns="0" tIns="0" rIns="0" bIns="0" rtlCol="0" anchor="ctr"/>
          <a:lstStyle/>
          <a:p>
            <a:pPr indent="0" marL="0">
              <a:buNone/>
            </a:pPr>
            <a:r>
              <a:rPr lang="en-US" sz="1300" b="1" dirty="0">
                <a:solidFill>
                  <a:srgbClr val="18231E"/>
                </a:solidFill>
                <a:latin typeface="Inter" pitchFamily="34" charset="0"/>
                <a:ea typeface="Inter" pitchFamily="34" charset="-122"/>
                <a:cs typeface="Inter" pitchFamily="34" charset="-120"/>
              </a:rPr>
              <a:t>Pale Mint</a:t>
            </a:r>
            <a:endParaRPr lang="en-US" sz="1300" dirty="0"/>
          </a:p>
        </p:txBody>
      </p:sp>
      <p:sp>
        <p:nvSpPr>
          <p:cNvPr id="10" name="Text 8"/>
          <p:cNvSpPr/>
          <p:nvPr/>
        </p:nvSpPr>
        <p:spPr>
          <a:xfrm>
            <a:off x="4251960" y="2359152"/>
            <a:ext cx="4572000" cy="274320"/>
          </a:xfrm>
          <a:prstGeom prst="rect">
            <a:avLst/>
          </a:prstGeom>
          <a:noFill/>
          <a:ln/>
        </p:spPr>
        <p:txBody>
          <a:bodyPr wrap="square" lIns="0" tIns="0" rIns="0" bIns="0" rtlCol="0" anchor="ctr"/>
          <a:lstStyle/>
          <a:p>
            <a:pPr indent="0" marL="0">
              <a:buNone/>
            </a:pPr>
            <a:r>
              <a:rPr lang="en-US" sz="950" i="1" dirty="0">
                <a:solidFill>
                  <a:srgbClr val="66756D"/>
                </a:solidFill>
                <a:latin typeface="Inter" pitchFamily="34" charset="0"/>
                <a:ea typeface="Inter" pitchFamily="34" charset="-122"/>
                <a:cs typeface="Inter" pitchFamily="34" charset="-120"/>
              </a:rPr>
              <a:t>Frames content and breaks up sections</a:t>
            </a:r>
            <a:endParaRPr lang="en-US" sz="950" dirty="0"/>
          </a:p>
        </p:txBody>
      </p:sp>
      <p:sp>
        <p:nvSpPr>
          <p:cNvPr id="11" name="Shape 9"/>
          <p:cNvSpPr/>
          <p:nvPr/>
        </p:nvSpPr>
        <p:spPr>
          <a:xfrm>
            <a:off x="4434840" y="2788920"/>
            <a:ext cx="6309360" cy="3063240"/>
          </a:xfrm>
          <a:prstGeom prst="roundRect">
            <a:avLst>
              <a:gd name="adj" fmla="val 1791"/>
            </a:avLst>
          </a:prstGeom>
          <a:solidFill>
            <a:srgbClr val="0D7043"/>
          </a:solidFill>
          <a:ln/>
        </p:spPr>
      </p:sp>
      <p:sp>
        <p:nvSpPr>
          <p:cNvPr id="12" name="Text 10"/>
          <p:cNvSpPr/>
          <p:nvPr/>
        </p:nvSpPr>
        <p:spPr>
          <a:xfrm>
            <a:off x="4663440" y="2971800"/>
            <a:ext cx="3108960" cy="320040"/>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Orena Green</a:t>
            </a:r>
            <a:endParaRPr lang="en-US" sz="1300" dirty="0"/>
          </a:p>
        </p:txBody>
      </p:sp>
      <p:sp>
        <p:nvSpPr>
          <p:cNvPr id="13" name="Text 11"/>
          <p:cNvSpPr/>
          <p:nvPr/>
        </p:nvSpPr>
        <p:spPr>
          <a:xfrm>
            <a:off x="4663440" y="3273552"/>
            <a:ext cx="3657600" cy="274320"/>
          </a:xfrm>
          <a:prstGeom prst="rect">
            <a:avLst/>
          </a:prstGeom>
          <a:noFill/>
          <a:ln/>
        </p:spPr>
        <p:txBody>
          <a:bodyPr wrap="square" lIns="0" tIns="0" rIns="0" bIns="0" rtlCol="0" anchor="ctr"/>
          <a:lstStyle/>
          <a:p>
            <a:pPr indent="0" marL="0">
              <a:buNone/>
            </a:pPr>
            <a:r>
              <a:rPr lang="en-US" sz="950" i="1" dirty="0">
                <a:solidFill>
                  <a:srgbClr val="D7E9DF"/>
                </a:solidFill>
                <a:latin typeface="Inter" pitchFamily="34" charset="0"/>
                <a:ea typeface="Inter" pitchFamily="34" charset="-122"/>
                <a:cs typeface="Inter" pitchFamily="34" charset="-120"/>
              </a:rPr>
              <a:t>Headlines, typography and icons</a:t>
            </a:r>
            <a:endParaRPr lang="en-US" sz="950" dirty="0"/>
          </a:p>
        </p:txBody>
      </p:sp>
      <p:sp>
        <p:nvSpPr>
          <p:cNvPr id="14" name="Shape 12"/>
          <p:cNvSpPr/>
          <p:nvPr/>
        </p:nvSpPr>
        <p:spPr>
          <a:xfrm>
            <a:off x="7818120" y="4251960"/>
            <a:ext cx="2651760" cy="1417320"/>
          </a:xfrm>
          <a:prstGeom prst="roundRect">
            <a:avLst>
              <a:gd name="adj" fmla="val 3871"/>
            </a:avLst>
          </a:prstGeom>
          <a:solidFill>
            <a:srgbClr val="B5D60C"/>
          </a:solidFill>
          <a:ln/>
        </p:spPr>
      </p:sp>
      <p:sp>
        <p:nvSpPr>
          <p:cNvPr id="15" name="Text 13"/>
          <p:cNvSpPr/>
          <p:nvPr/>
        </p:nvSpPr>
        <p:spPr>
          <a:xfrm>
            <a:off x="8001000" y="4407408"/>
            <a:ext cx="2286000" cy="32004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Lime Spark</a:t>
            </a:r>
            <a:endParaRPr lang="en-US" sz="1250" dirty="0"/>
          </a:p>
        </p:txBody>
      </p:sp>
      <p:sp>
        <p:nvSpPr>
          <p:cNvPr id="16" name="Text 14"/>
          <p:cNvSpPr/>
          <p:nvPr/>
        </p:nvSpPr>
        <p:spPr>
          <a:xfrm>
            <a:off x="8001000" y="4700016"/>
            <a:ext cx="2286000" cy="457200"/>
          </a:xfrm>
          <a:prstGeom prst="rect">
            <a:avLst/>
          </a:prstGeom>
          <a:noFill/>
          <a:ln/>
        </p:spPr>
        <p:txBody>
          <a:bodyPr wrap="square" lIns="0" tIns="0" rIns="0" bIns="0" rtlCol="0" anchor="ctr"/>
          <a:lstStyle/>
          <a:p>
            <a:pPr indent="0" marL="0">
              <a:lnSpc>
                <a:spcPct val="115000"/>
              </a:lnSpc>
              <a:buNone/>
            </a:pPr>
            <a:r>
              <a:rPr lang="en-US" sz="900" i="1" dirty="0">
                <a:solidFill>
                  <a:srgbClr val="18231E"/>
                </a:solidFill>
                <a:latin typeface="Inter" pitchFamily="34" charset="0"/>
                <a:ea typeface="Inter" pitchFamily="34" charset="-122"/>
                <a:cs typeface="Inter" pitchFamily="34" charset="-120"/>
              </a:rPr>
              <a:t>Buttons &amp; highlights</a:t>
            </a:r>
            <a:endParaRPr lang="en-US" sz="900" dirty="0"/>
          </a:p>
        </p:txBody>
      </p:sp>
      <p:sp>
        <p:nvSpPr>
          <p:cNvPr id="17" name="Text 15"/>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Orena Solutions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E8F4EE"/>
                </a:solidFill>
                <a:latin typeface="Inter" pitchFamily="34" charset="0"/>
                <a:ea typeface="Inter" pitchFamily="34" charset="-122"/>
                <a:cs typeface="Inter" pitchFamily="34" charset="-120"/>
              </a:rPr>
              <a:t>Brand Playbook</a:t>
            </a:r>
            <a:endParaRPr lang="en-US" sz="1100" dirty="0"/>
          </a:p>
        </p:txBody>
      </p:sp>
      <p:sp>
        <p:nvSpPr>
          <p:cNvPr id="4" name="Text 2"/>
          <p:cNvSpPr/>
          <p:nvPr/>
        </p:nvSpPr>
        <p:spPr>
          <a:xfrm>
            <a:off x="457200" y="2651760"/>
            <a:ext cx="10058400" cy="1463040"/>
          </a:xfrm>
          <a:prstGeom prst="rect">
            <a:avLst/>
          </a:prstGeom>
          <a:noFill/>
          <a:ln/>
        </p:spPr>
        <p:txBody>
          <a:bodyPr wrap="square" lIns="0" tIns="0" rIns="0" bIns="0" rtlCol="0" anchor="ctr"/>
          <a:lstStyle/>
          <a:p>
            <a:pPr indent="0" marL="0">
              <a:buNone/>
            </a:pPr>
            <a:r>
              <a:rPr lang="en-US" sz="5400" b="1" dirty="0">
                <a:solidFill>
                  <a:srgbClr val="FFFFFF"/>
                </a:solidFill>
                <a:latin typeface="Poppins" pitchFamily="34" charset="0"/>
                <a:ea typeface="Poppins" pitchFamily="34" charset="-122"/>
                <a:cs typeface="Poppins" pitchFamily="34" charset="-120"/>
              </a:rPr>
              <a:t>Logo &amp; Symbol</a:t>
            </a:r>
            <a:endParaRPr lang="en-US" sz="5400" dirty="0"/>
          </a:p>
        </p:txBody>
      </p:sp>
      <p:sp>
        <p:nvSpPr>
          <p:cNvPr id="5" name="Text 3"/>
          <p:cNvSpPr/>
          <p:nvPr/>
        </p:nvSpPr>
        <p:spPr>
          <a:xfrm>
            <a:off x="457200" y="5806440"/>
            <a:ext cx="8229600" cy="457200"/>
          </a:xfrm>
          <a:prstGeom prst="rect">
            <a:avLst/>
          </a:prstGeom>
          <a:noFill/>
          <a:ln/>
        </p:spPr>
        <p:txBody>
          <a:bodyPr wrap="square" lIns="0" tIns="0" rIns="0" bIns="0" rtlCol="0" anchor="ctr"/>
          <a:lstStyle/>
          <a:p>
            <a:pPr indent="0" marL="0">
              <a:buNone/>
            </a:pPr>
            <a:r>
              <a:rPr lang="en-US" sz="1400" i="1" dirty="0">
                <a:solidFill>
                  <a:srgbClr val="48B855"/>
                </a:solidFill>
                <a:latin typeface="Inter" pitchFamily="34" charset="0"/>
                <a:ea typeface="Inter" pitchFamily="34" charset="-122"/>
                <a:cs typeface="Inter" pitchFamily="34" charset="-120"/>
              </a:rPr>
              <a:t>Variations, do's and don'ts.</a:t>
            </a:r>
            <a:endParaRPr lang="en-US" sz="1400" dirty="0"/>
          </a:p>
        </p:txBody>
      </p:sp>
      <p:sp>
        <p:nvSpPr>
          <p:cNvPr id="6" name="Text 4"/>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Logo &amp; Symbol</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Logo</a:t>
            </a:r>
            <a:endParaRPr lang="en-US" sz="1100" dirty="0"/>
          </a:p>
        </p:txBody>
      </p:sp>
      <p:sp>
        <p:nvSpPr>
          <p:cNvPr id="4" name="Text 2"/>
          <p:cNvSpPr/>
          <p:nvPr/>
        </p:nvSpPr>
        <p:spPr>
          <a:xfrm>
            <a:off x="457200" y="1005840"/>
            <a:ext cx="2834640" cy="731520"/>
          </a:xfrm>
          <a:prstGeom prst="rect">
            <a:avLst/>
          </a:prstGeom>
          <a:noFill/>
          <a:ln/>
        </p:spPr>
        <p:txBody>
          <a:bodyPr wrap="square" lIns="0" tIns="0" rIns="0" bIns="0" rtlCol="0" anchor="ctr"/>
          <a:lstStyle/>
          <a:p>
            <a:pPr indent="0" marL="0">
              <a:lnSpc>
                <a:spcPct val="130000"/>
              </a:lnSpc>
              <a:buNone/>
            </a:pPr>
            <a:r>
              <a:rPr lang="en-US" sz="1250" dirty="0">
                <a:solidFill>
                  <a:srgbClr val="18231E"/>
                </a:solidFill>
                <a:latin typeface="Inter" pitchFamily="34" charset="0"/>
                <a:ea typeface="Inter" pitchFamily="34" charset="-122"/>
                <a:cs typeface="Inter" pitchFamily="34" charset="-120"/>
              </a:rPr>
              <a:t>The primary visual of the Orena identity.</a:t>
            </a:r>
            <a:endParaRPr lang="en-US" sz="1250" dirty="0"/>
          </a:p>
        </p:txBody>
      </p:sp>
      <p:sp>
        <p:nvSpPr>
          <p:cNvPr id="5" name="Text 3"/>
          <p:cNvSpPr/>
          <p:nvPr/>
        </p:nvSpPr>
        <p:spPr>
          <a:xfrm>
            <a:off x="457200" y="1783080"/>
            <a:ext cx="2834640" cy="1005840"/>
          </a:xfrm>
          <a:prstGeom prst="rect">
            <a:avLst/>
          </a:prstGeom>
          <a:noFill/>
          <a:ln/>
        </p:spPr>
        <p:txBody>
          <a:bodyPr wrap="square" lIns="0" tIns="0" rIns="0" bIns="0" rtlCol="0" anchor="ctr"/>
          <a:lstStyle/>
          <a:p>
            <a:pPr indent="0" marL="0">
              <a:lnSpc>
                <a:spcPct val="130000"/>
              </a:lnSpc>
              <a:buNone/>
            </a:pPr>
            <a:r>
              <a:rPr lang="en-US" sz="1250" dirty="0">
                <a:solidFill>
                  <a:srgbClr val="18231E"/>
                </a:solidFill>
                <a:latin typeface="Inter" pitchFamily="34" charset="0"/>
                <a:ea typeface="Inter" pitchFamily="34" charset="-122"/>
                <a:cs typeface="Inter" pitchFamily="34" charset="-120"/>
              </a:rPr>
              <a:t>Always use with adequate white space around the mark, as indicated by the guides.</a:t>
            </a:r>
            <a:endParaRPr lang="en-US" sz="1250" dirty="0"/>
          </a:p>
        </p:txBody>
      </p:sp>
      <p:sp>
        <p:nvSpPr>
          <p:cNvPr id="6" name="Shape 4"/>
          <p:cNvSpPr/>
          <p:nvPr/>
        </p:nvSpPr>
        <p:spPr>
          <a:xfrm>
            <a:off x="3611880" y="960120"/>
            <a:ext cx="8138160" cy="5394960"/>
          </a:xfrm>
          <a:prstGeom prst="roundRect">
            <a:avLst>
              <a:gd name="adj" fmla="val 847"/>
            </a:avLst>
          </a:prstGeom>
          <a:solidFill>
            <a:srgbClr val="0D7043"/>
          </a:solidFill>
          <a:ln/>
        </p:spPr>
      </p:sp>
      <p:sp>
        <p:nvSpPr>
          <p:cNvPr id="7" name="Shape 5"/>
          <p:cNvSpPr/>
          <p:nvPr/>
        </p:nvSpPr>
        <p:spPr>
          <a:xfrm>
            <a:off x="4754880" y="1188720"/>
            <a:ext cx="0" cy="4937760"/>
          </a:xfrm>
          <a:prstGeom prst="line">
            <a:avLst/>
          </a:prstGeom>
          <a:noFill/>
          <a:ln w="9525">
            <a:solidFill>
              <a:srgbClr val="00AF63"/>
            </a:solidFill>
            <a:prstDash val="dash"/>
          </a:ln>
        </p:spPr>
      </p:sp>
      <p:sp>
        <p:nvSpPr>
          <p:cNvPr id="8" name="Shape 6"/>
          <p:cNvSpPr/>
          <p:nvPr/>
        </p:nvSpPr>
        <p:spPr>
          <a:xfrm>
            <a:off x="7680960" y="1188720"/>
            <a:ext cx="0" cy="4937760"/>
          </a:xfrm>
          <a:prstGeom prst="line">
            <a:avLst/>
          </a:prstGeom>
          <a:noFill/>
          <a:ln w="9525">
            <a:solidFill>
              <a:srgbClr val="00AF63"/>
            </a:solidFill>
            <a:prstDash val="dash"/>
          </a:ln>
        </p:spPr>
      </p:sp>
      <p:sp>
        <p:nvSpPr>
          <p:cNvPr id="9" name="Shape 7"/>
          <p:cNvSpPr/>
          <p:nvPr/>
        </p:nvSpPr>
        <p:spPr>
          <a:xfrm>
            <a:off x="3840480" y="2286000"/>
            <a:ext cx="7680960" cy="0"/>
          </a:xfrm>
          <a:prstGeom prst="line">
            <a:avLst/>
          </a:prstGeom>
          <a:noFill/>
          <a:ln w="9525">
            <a:solidFill>
              <a:srgbClr val="00AF63"/>
            </a:solidFill>
            <a:prstDash val="dash"/>
          </a:ln>
        </p:spPr>
      </p:sp>
      <p:sp>
        <p:nvSpPr>
          <p:cNvPr id="10" name="Shape 8"/>
          <p:cNvSpPr/>
          <p:nvPr/>
        </p:nvSpPr>
        <p:spPr>
          <a:xfrm>
            <a:off x="3840480" y="5074920"/>
            <a:ext cx="7680960" cy="0"/>
          </a:xfrm>
          <a:prstGeom prst="line">
            <a:avLst/>
          </a:prstGeom>
          <a:noFill/>
          <a:ln w="9525">
            <a:solidFill>
              <a:srgbClr val="00AF63"/>
            </a:solidFill>
            <a:prstDash val="dash"/>
          </a:ln>
        </p:spPr>
      </p:sp>
      <p:pic>
        <p:nvPicPr>
          <p:cNvPr id="11" name="Image 0" descr="assets/logo_white.png">    </p:cNvPr>
          <p:cNvPicPr>
            <a:picLocks noChangeAspect="1"/>
          </p:cNvPicPr>
          <p:nvPr/>
        </p:nvPicPr>
        <p:blipFill>
          <a:blip r:embed="rId1"/>
          <a:stretch>
            <a:fillRect/>
          </a:stretch>
        </p:blipFill>
        <p:spPr>
          <a:xfrm>
            <a:off x="5874040" y="2880360"/>
            <a:ext cx="2105081" cy="1673352"/>
          </a:xfrm>
          <a:prstGeom prst="rect">
            <a:avLst/>
          </a:prstGeom>
        </p:spPr>
      </p:pic>
      <p:sp>
        <p:nvSpPr>
          <p:cNvPr id="12" name="Text 9"/>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Logo &amp; Symbol</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Symbol</a:t>
            </a:r>
            <a:endParaRPr lang="en-US" sz="1100" dirty="0"/>
          </a:p>
        </p:txBody>
      </p:sp>
      <p:sp>
        <p:nvSpPr>
          <p:cNvPr id="4" name="Text 2"/>
          <p:cNvSpPr/>
          <p:nvPr/>
        </p:nvSpPr>
        <p:spPr>
          <a:xfrm>
            <a:off x="457200" y="1005840"/>
            <a:ext cx="2834640" cy="822960"/>
          </a:xfrm>
          <a:prstGeom prst="rect">
            <a:avLst/>
          </a:prstGeom>
          <a:noFill/>
          <a:ln/>
        </p:spPr>
        <p:txBody>
          <a:bodyPr wrap="square" lIns="0" tIns="0" rIns="0" bIns="0" rtlCol="0" anchor="ctr"/>
          <a:lstStyle/>
          <a:p>
            <a:pPr indent="0" marL="0">
              <a:lnSpc>
                <a:spcPct val="130000"/>
              </a:lnSpc>
              <a:buNone/>
            </a:pPr>
            <a:r>
              <a:rPr lang="en-US" sz="1250" dirty="0">
                <a:solidFill>
                  <a:srgbClr val="18231E"/>
                </a:solidFill>
                <a:latin typeface="Inter" pitchFamily="34" charset="0"/>
                <a:ea typeface="Inter" pitchFamily="34" charset="-122"/>
                <a:cs typeface="Inter" pitchFamily="34" charset="-120"/>
              </a:rPr>
              <a:t>For compact use — avatars, favicons, or where space is limited.</a:t>
            </a:r>
            <a:endParaRPr lang="en-US" sz="1250" dirty="0"/>
          </a:p>
        </p:txBody>
      </p:sp>
      <p:sp>
        <p:nvSpPr>
          <p:cNvPr id="5" name="Text 3"/>
          <p:cNvSpPr/>
          <p:nvPr/>
        </p:nvSpPr>
        <p:spPr>
          <a:xfrm>
            <a:off x="457200" y="1828800"/>
            <a:ext cx="2834640" cy="914400"/>
          </a:xfrm>
          <a:prstGeom prst="rect">
            <a:avLst/>
          </a:prstGeom>
          <a:noFill/>
          <a:ln/>
        </p:spPr>
        <p:txBody>
          <a:bodyPr wrap="square" lIns="0" tIns="0" rIns="0" bIns="0" rtlCol="0" anchor="ctr"/>
          <a:lstStyle/>
          <a:p>
            <a:pPr indent="0" marL="0">
              <a:lnSpc>
                <a:spcPct val="130000"/>
              </a:lnSpc>
              <a:buNone/>
            </a:pPr>
            <a:r>
              <a:rPr lang="en-US" sz="1250" dirty="0">
                <a:solidFill>
                  <a:srgbClr val="18231E"/>
                </a:solidFill>
                <a:latin typeface="Inter" pitchFamily="34" charset="0"/>
                <a:ea typeface="Inter" pitchFamily="34" charset="-122"/>
                <a:cs typeface="Inter" pitchFamily="34" charset="-120"/>
              </a:rPr>
              <a:t>Provide sufficient white space. Always shown within an app-icon shape.</a:t>
            </a:r>
            <a:endParaRPr lang="en-US" sz="1250" dirty="0"/>
          </a:p>
        </p:txBody>
      </p:sp>
      <p:sp>
        <p:nvSpPr>
          <p:cNvPr id="6" name="Shape 4"/>
          <p:cNvSpPr/>
          <p:nvPr/>
        </p:nvSpPr>
        <p:spPr>
          <a:xfrm>
            <a:off x="3611880" y="960120"/>
            <a:ext cx="8138160" cy="5394960"/>
          </a:xfrm>
          <a:prstGeom prst="roundRect">
            <a:avLst>
              <a:gd name="adj" fmla="val 847"/>
            </a:avLst>
          </a:prstGeom>
          <a:solidFill>
            <a:srgbClr val="E8F4EE"/>
          </a:solidFill>
          <a:ln/>
        </p:spPr>
      </p:sp>
      <p:sp>
        <p:nvSpPr>
          <p:cNvPr id="7" name="Shape 5"/>
          <p:cNvSpPr/>
          <p:nvPr/>
        </p:nvSpPr>
        <p:spPr>
          <a:xfrm>
            <a:off x="6922008" y="2450592"/>
            <a:ext cx="1527048" cy="1947672"/>
          </a:xfrm>
          <a:prstGeom prst="roundRect">
            <a:avLst>
              <a:gd name="adj" fmla="val 16766"/>
            </a:avLst>
          </a:prstGeom>
          <a:solidFill>
            <a:srgbClr val="0D7043"/>
          </a:solidFill>
          <a:ln/>
        </p:spPr>
      </p:sp>
      <p:pic>
        <p:nvPicPr>
          <p:cNvPr id="8" name="Image 0" descr="assets/mark_white.png">    </p:cNvPr>
          <p:cNvPicPr>
            <a:picLocks noChangeAspect="1"/>
          </p:cNvPicPr>
          <p:nvPr/>
        </p:nvPicPr>
        <p:blipFill>
          <a:blip r:embed="rId1"/>
          <a:stretch>
            <a:fillRect/>
          </a:stretch>
        </p:blipFill>
        <p:spPr>
          <a:xfrm>
            <a:off x="7309030" y="2697480"/>
            <a:ext cx="396389" cy="1133856"/>
          </a:xfrm>
          <a:prstGeom prst="rect">
            <a:avLst/>
          </a:prstGeom>
        </p:spPr>
      </p:pic>
      <p:sp>
        <p:nvSpPr>
          <p:cNvPr id="9" name="Text 6"/>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Logo &amp; Symbol</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General Guidelines</a:t>
            </a:r>
            <a:endParaRPr lang="en-US" sz="1100" dirty="0"/>
          </a:p>
        </p:txBody>
      </p:sp>
      <p:sp>
        <p:nvSpPr>
          <p:cNvPr id="4" name="Text 2"/>
          <p:cNvSpPr/>
          <p:nvPr/>
        </p:nvSpPr>
        <p:spPr>
          <a:xfrm>
            <a:off x="457200" y="1005840"/>
            <a:ext cx="2834640" cy="2103120"/>
          </a:xfrm>
          <a:prstGeom prst="rect">
            <a:avLst/>
          </a:prstGeom>
          <a:noFill/>
          <a:ln/>
        </p:spPr>
        <p:txBody>
          <a:bodyPr wrap="square" lIns="0" tIns="0" rIns="0" bIns="0" rtlCol="0" anchor="ctr"/>
          <a:lstStyle/>
          <a:p>
            <a:pPr indent="0" marL="0">
              <a:lnSpc>
                <a:spcPct val="130000"/>
              </a:lnSpc>
              <a:buNone/>
            </a:pPr>
            <a:r>
              <a:rPr lang="en-US" sz="1200" dirty="0">
                <a:solidFill>
                  <a:srgbClr val="18231E"/>
                </a:solidFill>
                <a:latin typeface="Inter" pitchFamily="34" charset="0"/>
                <a:ea typeface="Inter" pitchFamily="34" charset="-122"/>
                <a:cs typeface="Inter" pitchFamily="34" charset="-120"/>
              </a:rPr>
              <a:t>Our logo is our identity and should be treated with respect. It can be used in Orena Green or white.</a:t>
            </a:r>
            <a:endParaRPr lang="en-US" sz="1200" dirty="0"/>
          </a:p>
          <a:p>
            <a:pPr indent="0" marL="0">
              <a:lnSpc>
                <a:spcPct val="130000"/>
              </a:lnSpc>
              <a:buNone/>
            </a:pPr>
            <a:endParaRPr lang="en-US" sz="1200" dirty="0"/>
          </a:p>
          <a:p>
            <a:pPr indent="0" marL="0">
              <a:lnSpc>
                <a:spcPct val="130000"/>
              </a:lnSpc>
              <a:buNone/>
            </a:pPr>
            <a:r>
              <a:rPr lang="en-US" sz="1200" dirty="0">
                <a:solidFill>
                  <a:srgbClr val="18231E"/>
                </a:solidFill>
                <a:latin typeface="Inter" pitchFamily="34" charset="0"/>
                <a:ea typeface="Inter" pitchFamily="34" charset="-122"/>
                <a:cs typeface="Inter" pitchFamily="34" charset="-120"/>
              </a:rPr>
              <a:t>If the background is light, use the full-color mark. If the background is dark, use the logo in white.</a:t>
            </a:r>
            <a:endParaRPr lang="en-US" sz="1200" dirty="0"/>
          </a:p>
        </p:txBody>
      </p:sp>
      <p:sp>
        <p:nvSpPr>
          <p:cNvPr id="5" name="Text 3"/>
          <p:cNvSpPr/>
          <p:nvPr/>
        </p:nvSpPr>
        <p:spPr>
          <a:xfrm>
            <a:off x="457200" y="4114800"/>
            <a:ext cx="2743200" cy="320040"/>
          </a:xfrm>
          <a:prstGeom prst="rect">
            <a:avLst/>
          </a:prstGeom>
          <a:noFill/>
          <a:ln/>
        </p:spPr>
        <p:txBody>
          <a:bodyPr wrap="square" lIns="0" tIns="0" rIns="0" bIns="0" rtlCol="0" anchor="ctr"/>
          <a:lstStyle/>
          <a:p>
            <a:pPr indent="0" marL="0">
              <a:buNone/>
            </a:pPr>
            <a:r>
              <a:rPr lang="en-US" sz="1250" b="1" dirty="0">
                <a:solidFill>
                  <a:srgbClr val="18231E"/>
                </a:solidFill>
                <a:latin typeface="Inter" pitchFamily="34" charset="0"/>
                <a:ea typeface="Inter" pitchFamily="34" charset="-122"/>
                <a:cs typeface="Inter" pitchFamily="34" charset="-120"/>
              </a:rPr>
              <a:t>The don'ts</a:t>
            </a:r>
            <a:endParaRPr lang="en-US" sz="1250" dirty="0"/>
          </a:p>
        </p:txBody>
      </p:sp>
      <p:sp>
        <p:nvSpPr>
          <p:cNvPr id="6" name="Text 4"/>
          <p:cNvSpPr/>
          <p:nvPr/>
        </p:nvSpPr>
        <p:spPr>
          <a:xfrm>
            <a:off x="457200" y="4480560"/>
            <a:ext cx="2834640" cy="1280160"/>
          </a:xfrm>
          <a:prstGeom prst="rect">
            <a:avLst/>
          </a:prstGeom>
          <a:noFill/>
          <a:ln/>
        </p:spPr>
        <p:txBody>
          <a:bodyPr wrap="square" lIns="0" tIns="0" rIns="0" bIns="0" rtlCol="0" anchor="ctr"/>
          <a:lstStyle/>
          <a:p>
            <a:pPr indent="0" marL="0">
              <a:lnSpc>
                <a:spcPct val="135000"/>
              </a:lnSpc>
              <a:buNone/>
            </a:pPr>
            <a:r>
              <a:rPr lang="en-US" sz="1100" dirty="0">
                <a:solidFill>
                  <a:srgbClr val="66756D"/>
                </a:solidFill>
                <a:latin typeface="Inter" pitchFamily="34" charset="0"/>
                <a:ea typeface="Inter" pitchFamily="34" charset="-122"/>
                <a:cs typeface="Inter" pitchFamily="34" charset="-120"/>
              </a:rPr>
              <a:t>Don't recolor it. Don't add a gradient.</a:t>
            </a:r>
            <a:endParaRPr lang="en-US" sz="1100" dirty="0"/>
          </a:p>
          <a:p>
            <a:pPr indent="0" marL="0">
              <a:lnSpc>
                <a:spcPct val="135000"/>
              </a:lnSpc>
              <a:buNone/>
            </a:pPr>
            <a:r>
              <a:rPr lang="en-US" sz="1100" dirty="0">
                <a:solidFill>
                  <a:srgbClr val="66756D"/>
                </a:solidFill>
                <a:latin typeface="Inter" pitchFamily="34" charset="0"/>
                <a:ea typeface="Inter" pitchFamily="34" charset="-122"/>
                <a:cs typeface="Inter" pitchFamily="34" charset="-120"/>
              </a:rPr>
              <a:t>Don't stretch it. Don't add a stroke.</a:t>
            </a:r>
            <a:endParaRPr lang="en-US" sz="1100" dirty="0"/>
          </a:p>
          <a:p>
            <a:pPr indent="0" marL="0">
              <a:lnSpc>
                <a:spcPct val="135000"/>
              </a:lnSpc>
              <a:buNone/>
            </a:pPr>
            <a:r>
              <a:rPr lang="en-US" sz="1100" dirty="0">
                <a:solidFill>
                  <a:srgbClr val="66756D"/>
                </a:solidFill>
                <a:latin typeface="Inter" pitchFamily="34" charset="0"/>
                <a:ea typeface="Inter" pitchFamily="34" charset="-122"/>
                <a:cs typeface="Inter" pitchFamily="34" charset="-120"/>
              </a:rPr>
              <a:t>Don't place it on low-contrast backgrounds.</a:t>
            </a:r>
            <a:endParaRPr lang="en-US" sz="1100" dirty="0"/>
          </a:p>
        </p:txBody>
      </p:sp>
      <p:sp>
        <p:nvSpPr>
          <p:cNvPr id="7" name="Shape 5"/>
          <p:cNvSpPr/>
          <p:nvPr/>
        </p:nvSpPr>
        <p:spPr>
          <a:xfrm>
            <a:off x="3611880" y="960120"/>
            <a:ext cx="3977640" cy="2606040"/>
          </a:xfrm>
          <a:prstGeom prst="roundRect">
            <a:avLst>
              <a:gd name="adj" fmla="val 1754"/>
            </a:avLst>
          </a:prstGeom>
          <a:solidFill>
            <a:srgbClr val="0D7043"/>
          </a:solidFill>
          <a:ln/>
        </p:spPr>
      </p:sp>
      <p:pic>
        <p:nvPicPr>
          <p:cNvPr id="8" name="Image 0" descr="assets/logo_white.png">    </p:cNvPr>
          <p:cNvPicPr>
            <a:picLocks noChangeAspect="1"/>
          </p:cNvPicPr>
          <p:nvPr/>
        </p:nvPicPr>
        <p:blipFill>
          <a:blip r:embed="rId1"/>
          <a:stretch>
            <a:fillRect/>
          </a:stretch>
        </p:blipFill>
        <p:spPr>
          <a:xfrm>
            <a:off x="5117566" y="1879092"/>
            <a:ext cx="966267" cy="768096"/>
          </a:xfrm>
          <a:prstGeom prst="rect">
            <a:avLst/>
          </a:prstGeom>
        </p:spPr>
      </p:pic>
      <p:sp>
        <p:nvSpPr>
          <p:cNvPr id="9" name="Shape 6"/>
          <p:cNvSpPr/>
          <p:nvPr/>
        </p:nvSpPr>
        <p:spPr>
          <a:xfrm>
            <a:off x="7772400" y="960120"/>
            <a:ext cx="3977640" cy="2606040"/>
          </a:xfrm>
          <a:prstGeom prst="roundRect">
            <a:avLst>
              <a:gd name="adj" fmla="val 1754"/>
            </a:avLst>
          </a:prstGeom>
          <a:solidFill>
            <a:srgbClr val="E8F4EE"/>
          </a:solidFill>
          <a:ln/>
        </p:spPr>
      </p:sp>
      <p:pic>
        <p:nvPicPr>
          <p:cNvPr id="10" name="Image 1" descr="assets/logo_green_transparent.png">    </p:cNvPr>
          <p:cNvPicPr>
            <a:picLocks noChangeAspect="1"/>
          </p:cNvPicPr>
          <p:nvPr/>
        </p:nvPicPr>
        <p:blipFill>
          <a:blip r:embed="rId2"/>
          <a:stretch>
            <a:fillRect/>
          </a:stretch>
        </p:blipFill>
        <p:spPr>
          <a:xfrm>
            <a:off x="9278086" y="1879092"/>
            <a:ext cx="966267" cy="768096"/>
          </a:xfrm>
          <a:prstGeom prst="rect">
            <a:avLst/>
          </a:prstGeom>
        </p:spPr>
      </p:pic>
      <p:sp>
        <p:nvSpPr>
          <p:cNvPr id="11" name="Shape 7"/>
          <p:cNvSpPr/>
          <p:nvPr/>
        </p:nvSpPr>
        <p:spPr>
          <a:xfrm>
            <a:off x="3611880" y="3749040"/>
            <a:ext cx="3977640" cy="2606040"/>
          </a:xfrm>
          <a:prstGeom prst="roundRect">
            <a:avLst>
              <a:gd name="adj" fmla="val 1754"/>
            </a:avLst>
          </a:prstGeom>
          <a:solidFill>
            <a:srgbClr val="FFFFFF"/>
          </a:solidFill>
          <a:ln w="12700">
            <a:solidFill>
              <a:srgbClr val="E8F4EE"/>
            </a:solidFill>
            <a:prstDash val="solid"/>
          </a:ln>
        </p:spPr>
      </p:sp>
      <p:pic>
        <p:nvPicPr>
          <p:cNvPr id="12" name="Image 2" descr="assets/logo_green_transparent.png">    </p:cNvPr>
          <p:cNvPicPr>
            <a:picLocks noChangeAspect="1"/>
          </p:cNvPicPr>
          <p:nvPr/>
        </p:nvPicPr>
        <p:blipFill>
          <a:blip r:embed="rId3"/>
          <a:stretch>
            <a:fillRect/>
          </a:stretch>
        </p:blipFill>
        <p:spPr>
          <a:xfrm>
            <a:off x="5117566" y="4668012"/>
            <a:ext cx="966267" cy="768096"/>
          </a:xfrm>
          <a:prstGeom prst="rect">
            <a:avLst/>
          </a:prstGeom>
        </p:spPr>
      </p:pic>
      <p:sp>
        <p:nvSpPr>
          <p:cNvPr id="13" name="Shape 8"/>
          <p:cNvSpPr/>
          <p:nvPr/>
        </p:nvSpPr>
        <p:spPr>
          <a:xfrm>
            <a:off x="7772400" y="3749040"/>
            <a:ext cx="3977640" cy="2606040"/>
          </a:xfrm>
          <a:prstGeom prst="roundRect">
            <a:avLst>
              <a:gd name="adj" fmla="val 1754"/>
            </a:avLst>
          </a:prstGeom>
          <a:solidFill>
            <a:srgbClr val="B5D60C"/>
          </a:solidFill>
          <a:ln/>
        </p:spPr>
      </p:sp>
      <p:pic>
        <p:nvPicPr>
          <p:cNvPr id="14" name="Image 3" descr="assets/logo_white.png">    </p:cNvPr>
          <p:cNvPicPr>
            <a:picLocks noChangeAspect="1"/>
          </p:cNvPicPr>
          <p:nvPr/>
        </p:nvPicPr>
        <p:blipFill>
          <a:blip r:embed="rId4"/>
          <a:stretch>
            <a:fillRect/>
          </a:stretch>
        </p:blipFill>
        <p:spPr>
          <a:xfrm>
            <a:off x="9278086" y="4668012"/>
            <a:ext cx="966267" cy="768096"/>
          </a:xfrm>
          <a:prstGeom prst="rect">
            <a:avLst/>
          </a:prstGeom>
        </p:spPr>
      </p:pic>
      <p:sp>
        <p:nvSpPr>
          <p:cNvPr id="15" name="Text 9"/>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Orena Solutions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E8F4EE"/>
                </a:solidFill>
                <a:latin typeface="Inter" pitchFamily="34" charset="0"/>
                <a:ea typeface="Inter" pitchFamily="34" charset="-122"/>
                <a:cs typeface="Inter" pitchFamily="34" charset="-120"/>
              </a:rPr>
              <a:t>Brand Playbook</a:t>
            </a:r>
            <a:endParaRPr lang="en-US" sz="1100" dirty="0"/>
          </a:p>
        </p:txBody>
      </p:sp>
      <p:sp>
        <p:nvSpPr>
          <p:cNvPr id="4" name="Text 2"/>
          <p:cNvSpPr/>
          <p:nvPr/>
        </p:nvSpPr>
        <p:spPr>
          <a:xfrm>
            <a:off x="457200" y="2651760"/>
            <a:ext cx="10058400" cy="1463040"/>
          </a:xfrm>
          <a:prstGeom prst="rect">
            <a:avLst/>
          </a:prstGeom>
          <a:noFill/>
          <a:ln/>
        </p:spPr>
        <p:txBody>
          <a:bodyPr wrap="square" lIns="0" tIns="0" rIns="0" bIns="0" rtlCol="0" anchor="ctr"/>
          <a:lstStyle/>
          <a:p>
            <a:pPr indent="0" marL="0">
              <a:buNone/>
            </a:pPr>
            <a:r>
              <a:rPr lang="en-US" sz="5400" b="1" dirty="0">
                <a:solidFill>
                  <a:srgbClr val="FFFFFF"/>
                </a:solidFill>
                <a:latin typeface="Poppins" pitchFamily="34" charset="0"/>
                <a:ea typeface="Poppins" pitchFamily="34" charset="-122"/>
                <a:cs typeface="Poppins" pitchFamily="34" charset="-120"/>
              </a:rPr>
              <a:t>Typography</a:t>
            </a:r>
            <a:endParaRPr lang="en-US" sz="5400" dirty="0"/>
          </a:p>
        </p:txBody>
      </p:sp>
      <p:sp>
        <p:nvSpPr>
          <p:cNvPr id="5" name="Text 3"/>
          <p:cNvSpPr/>
          <p:nvPr/>
        </p:nvSpPr>
        <p:spPr>
          <a:xfrm>
            <a:off x="457200" y="5806440"/>
            <a:ext cx="8229600" cy="457200"/>
          </a:xfrm>
          <a:prstGeom prst="rect">
            <a:avLst/>
          </a:prstGeom>
          <a:noFill/>
          <a:ln/>
        </p:spPr>
        <p:txBody>
          <a:bodyPr wrap="square" lIns="0" tIns="0" rIns="0" bIns="0" rtlCol="0" anchor="ctr"/>
          <a:lstStyle/>
          <a:p>
            <a:pPr indent="0" marL="0">
              <a:buNone/>
            </a:pPr>
            <a:r>
              <a:rPr lang="en-US" sz="1400" i="1" dirty="0">
                <a:solidFill>
                  <a:srgbClr val="48B855"/>
                </a:solidFill>
                <a:latin typeface="Inter" pitchFamily="34" charset="0"/>
                <a:ea typeface="Inter" pitchFamily="34" charset="-122"/>
                <a:cs typeface="Inter" pitchFamily="34" charset="-120"/>
              </a:rPr>
              <a:t>The type system that makes our communication feel effortless.</a:t>
            </a:r>
            <a:endParaRPr lang="en-US" sz="1400" dirty="0"/>
          </a:p>
        </p:txBody>
      </p:sp>
      <p:sp>
        <p:nvSpPr>
          <p:cNvPr id="6" name="Text 4"/>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Typography</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Typefaces</a:t>
            </a:r>
            <a:endParaRPr lang="en-US" sz="1100" dirty="0"/>
          </a:p>
        </p:txBody>
      </p:sp>
      <p:sp>
        <p:nvSpPr>
          <p:cNvPr id="4" name="Text 2"/>
          <p:cNvSpPr/>
          <p:nvPr/>
        </p:nvSpPr>
        <p:spPr>
          <a:xfrm>
            <a:off x="457200" y="1005840"/>
            <a:ext cx="2834640" cy="1188720"/>
          </a:xfrm>
          <a:prstGeom prst="rect">
            <a:avLst/>
          </a:prstGeom>
          <a:noFill/>
          <a:ln/>
        </p:spPr>
        <p:txBody>
          <a:bodyPr wrap="square" lIns="0" tIns="0" rIns="0" bIns="0" rtlCol="0" anchor="ctr"/>
          <a:lstStyle/>
          <a:p>
            <a:pPr indent="0" marL="0">
              <a:lnSpc>
                <a:spcPct val="130000"/>
              </a:lnSpc>
              <a:buNone/>
            </a:pPr>
            <a:r>
              <a:rPr lang="en-US" sz="1200" dirty="0">
                <a:solidFill>
                  <a:srgbClr val="18231E"/>
                </a:solidFill>
                <a:latin typeface="Inter" pitchFamily="34" charset="0"/>
                <a:ea typeface="Inter" pitchFamily="34" charset="-122"/>
                <a:cs typeface="Inter" pitchFamily="34" charset="-120"/>
              </a:rPr>
              <a:t>Our primary typeface is Poppins, a geometric sans that feels modern and confident.</a:t>
            </a:r>
            <a:endParaRPr lang="en-US" sz="1200" dirty="0"/>
          </a:p>
        </p:txBody>
      </p:sp>
      <p:sp>
        <p:nvSpPr>
          <p:cNvPr id="5" name="Text 3"/>
          <p:cNvSpPr/>
          <p:nvPr/>
        </p:nvSpPr>
        <p:spPr>
          <a:xfrm>
            <a:off x="457200" y="3657600"/>
            <a:ext cx="2834640" cy="1188720"/>
          </a:xfrm>
          <a:prstGeom prst="rect">
            <a:avLst/>
          </a:prstGeom>
          <a:noFill/>
          <a:ln/>
        </p:spPr>
        <p:txBody>
          <a:bodyPr wrap="square" lIns="0" tIns="0" rIns="0" bIns="0" rtlCol="0" anchor="ctr"/>
          <a:lstStyle/>
          <a:p>
            <a:pPr indent="0" marL="0">
              <a:lnSpc>
                <a:spcPct val="130000"/>
              </a:lnSpc>
              <a:buNone/>
            </a:pPr>
            <a:r>
              <a:rPr lang="en-US" sz="1200" dirty="0">
                <a:solidFill>
                  <a:srgbClr val="18231E"/>
                </a:solidFill>
                <a:latin typeface="Inter" pitchFamily="34" charset="0"/>
                <a:ea typeface="Inter" pitchFamily="34" charset="-122"/>
                <a:cs typeface="Inter" pitchFamily="34" charset="-120"/>
              </a:rPr>
              <a:t>Inter is our secondary typeface, used for body copy, labels and UI text.</a:t>
            </a:r>
            <a:endParaRPr lang="en-US" sz="1200" dirty="0"/>
          </a:p>
        </p:txBody>
      </p:sp>
      <p:sp>
        <p:nvSpPr>
          <p:cNvPr id="6" name="Shape 4"/>
          <p:cNvSpPr/>
          <p:nvPr/>
        </p:nvSpPr>
        <p:spPr>
          <a:xfrm>
            <a:off x="3611880" y="960120"/>
            <a:ext cx="8138160" cy="2606040"/>
          </a:xfrm>
          <a:prstGeom prst="roundRect">
            <a:avLst>
              <a:gd name="adj" fmla="val 1754"/>
            </a:avLst>
          </a:prstGeom>
          <a:solidFill>
            <a:srgbClr val="FFFFFF"/>
          </a:solidFill>
          <a:ln w="12700">
            <a:solidFill>
              <a:srgbClr val="E8F4EE"/>
            </a:solidFill>
            <a:prstDash val="solid"/>
          </a:ln>
        </p:spPr>
      </p:sp>
      <p:sp>
        <p:nvSpPr>
          <p:cNvPr id="7" name="Text 5"/>
          <p:cNvSpPr/>
          <p:nvPr/>
        </p:nvSpPr>
        <p:spPr>
          <a:xfrm>
            <a:off x="3886200" y="1143000"/>
            <a:ext cx="7589520" cy="1051560"/>
          </a:xfrm>
          <a:prstGeom prst="rect">
            <a:avLst/>
          </a:prstGeom>
          <a:noFill/>
          <a:ln/>
        </p:spPr>
        <p:txBody>
          <a:bodyPr wrap="square" lIns="0" tIns="0" rIns="0" bIns="0" rtlCol="0" anchor="ctr"/>
          <a:lstStyle/>
          <a:p>
            <a:pPr indent="0" marL="0">
              <a:buNone/>
            </a:pPr>
            <a:r>
              <a:rPr lang="en-US" sz="5200" b="1" dirty="0">
                <a:solidFill>
                  <a:srgbClr val="0D7043"/>
                </a:solidFill>
                <a:latin typeface="Poppins" pitchFamily="34" charset="0"/>
                <a:ea typeface="Poppins" pitchFamily="34" charset="-122"/>
                <a:cs typeface="Poppins" pitchFamily="34" charset="-120"/>
              </a:rPr>
              <a:t>Poppins</a:t>
            </a:r>
            <a:endParaRPr lang="en-US" sz="5200" dirty="0"/>
          </a:p>
        </p:txBody>
      </p:sp>
      <p:sp>
        <p:nvSpPr>
          <p:cNvPr id="8" name="Text 6"/>
          <p:cNvSpPr/>
          <p:nvPr/>
        </p:nvSpPr>
        <p:spPr>
          <a:xfrm>
            <a:off x="3886200" y="2148840"/>
            <a:ext cx="7589520" cy="320040"/>
          </a:xfrm>
          <a:prstGeom prst="rect">
            <a:avLst/>
          </a:prstGeom>
          <a:noFill/>
          <a:ln/>
        </p:spPr>
        <p:txBody>
          <a:bodyPr wrap="square" lIns="0" tIns="0" rIns="0" bIns="0" rtlCol="0" anchor="ctr"/>
          <a:lstStyle/>
          <a:p>
            <a:pPr indent="0" marL="0">
              <a:buNone/>
            </a:pPr>
            <a:r>
              <a:rPr lang="en-US" sz="1050" i="1" dirty="0">
                <a:solidFill>
                  <a:srgbClr val="66756D"/>
                </a:solidFill>
                <a:latin typeface="Inter" pitchFamily="34" charset="0"/>
                <a:ea typeface="Inter" pitchFamily="34" charset="-122"/>
                <a:cs typeface="Inter" pitchFamily="34" charset="-120"/>
              </a:rPr>
              <a:t>Document titles &amp; section headers — Bold / Semi Bold, Orena Green</a:t>
            </a:r>
            <a:endParaRPr lang="en-US" sz="1050" dirty="0"/>
          </a:p>
        </p:txBody>
      </p:sp>
      <p:sp>
        <p:nvSpPr>
          <p:cNvPr id="9" name="Text 7"/>
          <p:cNvSpPr/>
          <p:nvPr/>
        </p:nvSpPr>
        <p:spPr>
          <a:xfrm>
            <a:off x="3886200" y="2560320"/>
            <a:ext cx="7589520" cy="822960"/>
          </a:xfrm>
          <a:prstGeom prst="rect">
            <a:avLst/>
          </a:prstGeom>
          <a:noFill/>
          <a:ln/>
        </p:spPr>
        <p:txBody>
          <a:bodyPr wrap="square" lIns="0" tIns="0" rIns="0" bIns="0" rtlCol="0" anchor="ctr"/>
          <a:lstStyle/>
          <a:p>
            <a:pPr indent="0" marL="0">
              <a:buNone/>
            </a:pPr>
            <a:r>
              <a:rPr lang="en-US" sz="2200" dirty="0">
                <a:solidFill>
                  <a:srgbClr val="18231E"/>
                </a:solidFill>
                <a:latin typeface="Poppins" pitchFamily="34" charset="0"/>
                <a:ea typeface="Poppins" pitchFamily="34" charset="-122"/>
                <a:cs typeface="Poppins" pitchFamily="34" charset="-120"/>
              </a:rPr>
              <a:t>Crafting Preferred Engineers</a:t>
            </a:r>
            <a:endParaRPr lang="en-US" sz="2200" dirty="0"/>
          </a:p>
        </p:txBody>
      </p:sp>
      <p:sp>
        <p:nvSpPr>
          <p:cNvPr id="10" name="Shape 8"/>
          <p:cNvSpPr/>
          <p:nvPr/>
        </p:nvSpPr>
        <p:spPr>
          <a:xfrm>
            <a:off x="3611880" y="3703320"/>
            <a:ext cx="8138160" cy="2651760"/>
          </a:xfrm>
          <a:prstGeom prst="roundRect">
            <a:avLst>
              <a:gd name="adj" fmla="val 1724"/>
            </a:avLst>
          </a:prstGeom>
          <a:solidFill>
            <a:srgbClr val="FFFFFF"/>
          </a:solidFill>
          <a:ln w="12700">
            <a:solidFill>
              <a:srgbClr val="E8F4EE"/>
            </a:solidFill>
            <a:prstDash val="solid"/>
          </a:ln>
        </p:spPr>
      </p:sp>
      <p:sp>
        <p:nvSpPr>
          <p:cNvPr id="11" name="Text 9"/>
          <p:cNvSpPr/>
          <p:nvPr/>
        </p:nvSpPr>
        <p:spPr>
          <a:xfrm>
            <a:off x="3886200" y="3886200"/>
            <a:ext cx="7589520" cy="1005840"/>
          </a:xfrm>
          <a:prstGeom prst="rect">
            <a:avLst/>
          </a:prstGeom>
          <a:noFill/>
          <a:ln/>
        </p:spPr>
        <p:txBody>
          <a:bodyPr wrap="square" lIns="0" tIns="0" rIns="0" bIns="0" rtlCol="0" anchor="ctr"/>
          <a:lstStyle/>
          <a:p>
            <a:pPr indent="0" marL="0">
              <a:buNone/>
            </a:pPr>
            <a:r>
              <a:rPr lang="en-US" sz="5000" b="1" dirty="0">
                <a:solidFill>
                  <a:srgbClr val="0D7043"/>
                </a:solidFill>
                <a:latin typeface="Inter" pitchFamily="34" charset="0"/>
                <a:ea typeface="Inter" pitchFamily="34" charset="-122"/>
                <a:cs typeface="Inter" pitchFamily="34" charset="-120"/>
              </a:rPr>
              <a:t>Inter</a:t>
            </a:r>
            <a:endParaRPr lang="en-US" sz="5000" dirty="0"/>
          </a:p>
        </p:txBody>
      </p:sp>
      <p:sp>
        <p:nvSpPr>
          <p:cNvPr id="12" name="Text 10"/>
          <p:cNvSpPr/>
          <p:nvPr/>
        </p:nvSpPr>
        <p:spPr>
          <a:xfrm>
            <a:off x="3886200" y="4846320"/>
            <a:ext cx="7589520" cy="320040"/>
          </a:xfrm>
          <a:prstGeom prst="rect">
            <a:avLst/>
          </a:prstGeom>
          <a:noFill/>
          <a:ln/>
        </p:spPr>
        <p:txBody>
          <a:bodyPr wrap="square" lIns="0" tIns="0" rIns="0" bIns="0" rtlCol="0" anchor="ctr"/>
          <a:lstStyle/>
          <a:p>
            <a:pPr indent="0" marL="0">
              <a:buNone/>
            </a:pPr>
            <a:r>
              <a:rPr lang="en-US" sz="1050" i="1" dirty="0">
                <a:solidFill>
                  <a:srgbClr val="66756D"/>
                </a:solidFill>
                <a:latin typeface="Inter" pitchFamily="34" charset="0"/>
                <a:ea typeface="Inter" pitchFamily="34" charset="-122"/>
                <a:cs typeface="Inter" pitchFamily="34" charset="-120"/>
              </a:rPr>
              <a:t>Body text &amp; captions — Regular, Charcoal / Muted Green Grey</a:t>
            </a:r>
            <a:endParaRPr lang="en-US" sz="1050" dirty="0"/>
          </a:p>
        </p:txBody>
      </p:sp>
      <p:sp>
        <p:nvSpPr>
          <p:cNvPr id="13" name="Text 11"/>
          <p:cNvSpPr/>
          <p:nvPr/>
        </p:nvSpPr>
        <p:spPr>
          <a:xfrm>
            <a:off x="3886200" y="5230368"/>
            <a:ext cx="7589520" cy="457200"/>
          </a:xfrm>
          <a:prstGeom prst="rect">
            <a:avLst/>
          </a:prstGeom>
          <a:noFill/>
          <a:ln/>
        </p:spPr>
        <p:txBody>
          <a:bodyPr wrap="square" lIns="0" tIns="0" rIns="0" bIns="0" rtlCol="0" anchor="ctr"/>
          <a:lstStyle/>
          <a:p>
            <a:pPr indent="0" marL="0">
              <a:buNone/>
            </a:pPr>
            <a:r>
              <a:rPr lang="en-US" sz="1400" dirty="0">
                <a:solidFill>
                  <a:srgbClr val="18231E"/>
                </a:solidFill>
                <a:latin typeface="Inter" pitchFamily="34" charset="0"/>
                <a:ea typeface="Inter" pitchFamily="34" charset="-122"/>
                <a:cs typeface="Inter" pitchFamily="34" charset="-120"/>
              </a:rPr>
              <a:t>Engineering excellence. Building a better tomorrow.</a:t>
            </a:r>
            <a:endParaRPr lang="en-US" sz="1400" dirty="0"/>
          </a:p>
        </p:txBody>
      </p:sp>
      <p:sp>
        <p:nvSpPr>
          <p:cNvPr id="14" name="Text 12"/>
          <p:cNvSpPr/>
          <p:nvPr/>
        </p:nvSpPr>
        <p:spPr>
          <a:xfrm>
            <a:off x="3886200" y="5623560"/>
            <a:ext cx="7589520" cy="320040"/>
          </a:xfrm>
          <a:prstGeom prst="rect">
            <a:avLst/>
          </a:prstGeom>
          <a:noFill/>
          <a:ln/>
        </p:spPr>
        <p:txBody>
          <a:bodyPr wrap="square" lIns="0" tIns="0" rIns="0" bIns="0" rtlCol="0" anchor="ctr"/>
          <a:lstStyle/>
          <a:p>
            <a:pPr indent="0" marL="0">
              <a:buNone/>
            </a:pPr>
            <a:r>
              <a:rPr lang="en-US" sz="1050" i="1" dirty="0">
                <a:solidFill>
                  <a:srgbClr val="66756D"/>
                </a:solidFill>
                <a:latin typeface="Inter" pitchFamily="34" charset="0"/>
                <a:ea typeface="Inter" pitchFamily="34" charset="-122"/>
                <a:cs typeface="Inter" pitchFamily="34" charset="-120"/>
              </a:rPr>
              <a:t>Captions &amp; labels</a:t>
            </a:r>
            <a:endParaRPr lang="en-US" sz="1050" dirty="0"/>
          </a:p>
        </p:txBody>
      </p:sp>
      <p:sp>
        <p:nvSpPr>
          <p:cNvPr id="15" name="Text 13"/>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Typography</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Hierarchy</a:t>
            </a:r>
            <a:endParaRPr lang="en-US" sz="1100" dirty="0"/>
          </a:p>
        </p:txBody>
      </p:sp>
      <p:sp>
        <p:nvSpPr>
          <p:cNvPr id="4" name="Text 2"/>
          <p:cNvSpPr/>
          <p:nvPr/>
        </p:nvSpPr>
        <p:spPr>
          <a:xfrm>
            <a:off x="457200" y="1005840"/>
            <a:ext cx="2834640" cy="1188720"/>
          </a:xfrm>
          <a:prstGeom prst="rect">
            <a:avLst/>
          </a:prstGeom>
          <a:noFill/>
          <a:ln/>
        </p:spPr>
        <p:txBody>
          <a:bodyPr wrap="square" lIns="0" tIns="0" rIns="0" bIns="0" rtlCol="0" anchor="ctr"/>
          <a:lstStyle/>
          <a:p>
            <a:pPr indent="0" marL="0">
              <a:lnSpc>
                <a:spcPct val="130000"/>
              </a:lnSpc>
              <a:buNone/>
            </a:pPr>
            <a:r>
              <a:rPr lang="en-US" sz="1200" dirty="0">
                <a:solidFill>
                  <a:srgbClr val="18231E"/>
                </a:solidFill>
                <a:latin typeface="Inter" pitchFamily="34" charset="0"/>
                <a:ea typeface="Inter" pitchFamily="34" charset="-122"/>
                <a:cs typeface="Inter" pitchFamily="34" charset="-120"/>
              </a:rPr>
              <a:t>Whenever we write and design with copy, please follow these hierarchy principles.</a:t>
            </a:r>
            <a:endParaRPr lang="en-US" sz="1200" dirty="0"/>
          </a:p>
        </p:txBody>
      </p:sp>
      <p:sp>
        <p:nvSpPr>
          <p:cNvPr id="5" name="Text 3"/>
          <p:cNvSpPr/>
          <p:nvPr/>
        </p:nvSpPr>
        <p:spPr>
          <a:xfrm>
            <a:off x="3611880" y="960120"/>
            <a:ext cx="3017520" cy="274320"/>
          </a:xfrm>
          <a:prstGeom prst="rect">
            <a:avLst/>
          </a:prstGeom>
          <a:noFill/>
          <a:ln/>
        </p:spPr>
        <p:txBody>
          <a:bodyPr wrap="square" lIns="0" tIns="0" rIns="0" bIns="0" rtlCol="0" anchor="ctr"/>
          <a:lstStyle/>
          <a:p>
            <a:pPr indent="0" marL="0">
              <a:buNone/>
            </a:pPr>
            <a:r>
              <a:rPr lang="en-US" sz="1050" dirty="0">
                <a:solidFill>
                  <a:srgbClr val="66756D"/>
                </a:solidFill>
                <a:latin typeface="Inter" pitchFamily="34" charset="0"/>
                <a:ea typeface="Inter" pitchFamily="34" charset="-122"/>
                <a:cs typeface="Inter" pitchFamily="34" charset="-120"/>
              </a:rPr>
              <a:t>Document Titles</a:t>
            </a:r>
            <a:endParaRPr lang="en-US" sz="1050" dirty="0"/>
          </a:p>
        </p:txBody>
      </p:sp>
      <p:sp>
        <p:nvSpPr>
          <p:cNvPr id="6" name="Text 4"/>
          <p:cNvSpPr/>
          <p:nvPr/>
        </p:nvSpPr>
        <p:spPr>
          <a:xfrm>
            <a:off x="3611880" y="1216152"/>
            <a:ext cx="3017520" cy="457200"/>
          </a:xfrm>
          <a:prstGeom prst="rect">
            <a:avLst/>
          </a:prstGeom>
          <a:noFill/>
          <a:ln/>
        </p:spPr>
        <p:txBody>
          <a:bodyPr wrap="square" lIns="0" tIns="0" rIns="0" bIns="0" rtlCol="0" anchor="ctr"/>
          <a:lstStyle/>
          <a:p>
            <a:pPr indent="0" marL="0">
              <a:lnSpc>
                <a:spcPct val="115000"/>
              </a:lnSpc>
              <a:buNone/>
            </a:pPr>
            <a:r>
              <a:rPr lang="en-US" sz="900" dirty="0">
                <a:solidFill>
                  <a:srgbClr val="66756D"/>
                </a:solidFill>
                <a:latin typeface="Inter" pitchFamily="34" charset="0"/>
                <a:ea typeface="Inter" pitchFamily="34" charset="-122"/>
                <a:cs typeface="Inter" pitchFamily="34" charset="-120"/>
              </a:rPr>
              <a:t>40pt Bold · Poppins · Orena Green</a:t>
            </a:r>
            <a:endParaRPr lang="en-US" sz="900" dirty="0"/>
          </a:p>
        </p:txBody>
      </p:sp>
      <p:sp>
        <p:nvSpPr>
          <p:cNvPr id="7" name="Text 5"/>
          <p:cNvSpPr/>
          <p:nvPr/>
        </p:nvSpPr>
        <p:spPr>
          <a:xfrm>
            <a:off x="6720840" y="960120"/>
            <a:ext cx="5029200" cy="1051560"/>
          </a:xfrm>
          <a:prstGeom prst="rect">
            <a:avLst/>
          </a:prstGeom>
          <a:noFill/>
          <a:ln/>
        </p:spPr>
        <p:txBody>
          <a:bodyPr wrap="square" lIns="0" tIns="0" rIns="0" bIns="0" rtlCol="0" anchor="t"/>
          <a:lstStyle/>
          <a:p>
            <a:pPr indent="0" marL="0">
              <a:lnSpc>
                <a:spcPct val="115000"/>
              </a:lnSpc>
              <a:buNone/>
            </a:pPr>
            <a:r>
              <a:rPr lang="en-US" sz="3000" b="1" dirty="0">
                <a:solidFill>
                  <a:srgbClr val="0D7043"/>
                </a:solidFill>
                <a:latin typeface="Poppins" pitchFamily="34" charset="0"/>
                <a:ea typeface="Poppins" pitchFamily="34" charset="-122"/>
                <a:cs typeface="Poppins" pitchFamily="34" charset="-120"/>
              </a:rPr>
              <a:t>Crafting Preferred Engineers</a:t>
            </a:r>
            <a:endParaRPr lang="en-US" sz="3000" dirty="0"/>
          </a:p>
        </p:txBody>
      </p:sp>
      <p:sp>
        <p:nvSpPr>
          <p:cNvPr id="8" name="Shape 6"/>
          <p:cNvSpPr/>
          <p:nvPr/>
        </p:nvSpPr>
        <p:spPr>
          <a:xfrm>
            <a:off x="3611880" y="2185416"/>
            <a:ext cx="8138160" cy="0"/>
          </a:xfrm>
          <a:prstGeom prst="line">
            <a:avLst/>
          </a:prstGeom>
          <a:noFill/>
          <a:ln w="12700">
            <a:solidFill>
              <a:srgbClr val="E8F4EE"/>
            </a:solidFill>
            <a:prstDash val="solid"/>
          </a:ln>
        </p:spPr>
      </p:sp>
      <p:sp>
        <p:nvSpPr>
          <p:cNvPr id="9" name="Text 7"/>
          <p:cNvSpPr/>
          <p:nvPr/>
        </p:nvSpPr>
        <p:spPr>
          <a:xfrm>
            <a:off x="3611880" y="2258568"/>
            <a:ext cx="3017520" cy="274320"/>
          </a:xfrm>
          <a:prstGeom prst="rect">
            <a:avLst/>
          </a:prstGeom>
          <a:noFill/>
          <a:ln/>
        </p:spPr>
        <p:txBody>
          <a:bodyPr wrap="square" lIns="0" tIns="0" rIns="0" bIns="0" rtlCol="0" anchor="ctr"/>
          <a:lstStyle/>
          <a:p>
            <a:pPr indent="0" marL="0">
              <a:buNone/>
            </a:pPr>
            <a:r>
              <a:rPr lang="en-US" sz="1050" dirty="0">
                <a:solidFill>
                  <a:srgbClr val="66756D"/>
                </a:solidFill>
                <a:latin typeface="Inter" pitchFamily="34" charset="0"/>
                <a:ea typeface="Inter" pitchFamily="34" charset="-122"/>
                <a:cs typeface="Inter" pitchFamily="34" charset="-120"/>
              </a:rPr>
              <a:t>Section Headers</a:t>
            </a:r>
            <a:endParaRPr lang="en-US" sz="1050" dirty="0"/>
          </a:p>
        </p:txBody>
      </p:sp>
      <p:sp>
        <p:nvSpPr>
          <p:cNvPr id="10" name="Text 8"/>
          <p:cNvSpPr/>
          <p:nvPr/>
        </p:nvSpPr>
        <p:spPr>
          <a:xfrm>
            <a:off x="3611880" y="2514600"/>
            <a:ext cx="3017520" cy="457200"/>
          </a:xfrm>
          <a:prstGeom prst="rect">
            <a:avLst/>
          </a:prstGeom>
          <a:noFill/>
          <a:ln/>
        </p:spPr>
        <p:txBody>
          <a:bodyPr wrap="square" lIns="0" tIns="0" rIns="0" bIns="0" rtlCol="0" anchor="ctr"/>
          <a:lstStyle/>
          <a:p>
            <a:pPr indent="0" marL="0">
              <a:lnSpc>
                <a:spcPct val="115000"/>
              </a:lnSpc>
              <a:buNone/>
            </a:pPr>
            <a:r>
              <a:rPr lang="en-US" sz="900" dirty="0">
                <a:solidFill>
                  <a:srgbClr val="66756D"/>
                </a:solidFill>
                <a:latin typeface="Inter" pitchFamily="34" charset="0"/>
                <a:ea typeface="Inter" pitchFamily="34" charset="-122"/>
                <a:cs typeface="Inter" pitchFamily="34" charset="-120"/>
              </a:rPr>
              <a:t>24pt Semi Bold · Poppins · Orena Green</a:t>
            </a:r>
            <a:endParaRPr lang="en-US" sz="900" dirty="0"/>
          </a:p>
        </p:txBody>
      </p:sp>
      <p:sp>
        <p:nvSpPr>
          <p:cNvPr id="11" name="Text 9"/>
          <p:cNvSpPr/>
          <p:nvPr/>
        </p:nvSpPr>
        <p:spPr>
          <a:xfrm>
            <a:off x="6720840" y="2258568"/>
            <a:ext cx="5029200" cy="1051560"/>
          </a:xfrm>
          <a:prstGeom prst="rect">
            <a:avLst/>
          </a:prstGeom>
          <a:noFill/>
          <a:ln/>
        </p:spPr>
        <p:txBody>
          <a:bodyPr wrap="square" lIns="0" tIns="0" rIns="0" bIns="0" rtlCol="0" anchor="t"/>
          <a:lstStyle/>
          <a:p>
            <a:pPr indent="0" marL="0">
              <a:lnSpc>
                <a:spcPct val="115000"/>
              </a:lnSpc>
              <a:buNone/>
            </a:pPr>
            <a:r>
              <a:rPr lang="en-US" sz="2000" b="1" dirty="0">
                <a:solidFill>
                  <a:srgbClr val="0D7043"/>
                </a:solidFill>
                <a:latin typeface="Poppins" pitchFamily="34" charset="0"/>
                <a:ea typeface="Poppins" pitchFamily="34" charset="-122"/>
                <a:cs typeface="Poppins" pitchFamily="34" charset="-120"/>
              </a:rPr>
              <a:t>Purpose &amp; Values</a:t>
            </a:r>
            <a:endParaRPr lang="en-US" sz="2000" dirty="0"/>
          </a:p>
        </p:txBody>
      </p:sp>
      <p:sp>
        <p:nvSpPr>
          <p:cNvPr id="12" name="Shape 10"/>
          <p:cNvSpPr/>
          <p:nvPr/>
        </p:nvSpPr>
        <p:spPr>
          <a:xfrm>
            <a:off x="3611880" y="3483864"/>
            <a:ext cx="8138160" cy="0"/>
          </a:xfrm>
          <a:prstGeom prst="line">
            <a:avLst/>
          </a:prstGeom>
          <a:noFill/>
          <a:ln w="12700">
            <a:solidFill>
              <a:srgbClr val="E8F4EE"/>
            </a:solidFill>
            <a:prstDash val="solid"/>
          </a:ln>
        </p:spPr>
      </p:sp>
      <p:sp>
        <p:nvSpPr>
          <p:cNvPr id="13" name="Text 11"/>
          <p:cNvSpPr/>
          <p:nvPr/>
        </p:nvSpPr>
        <p:spPr>
          <a:xfrm>
            <a:off x="3611880" y="3557016"/>
            <a:ext cx="3017520" cy="274320"/>
          </a:xfrm>
          <a:prstGeom prst="rect">
            <a:avLst/>
          </a:prstGeom>
          <a:noFill/>
          <a:ln/>
        </p:spPr>
        <p:txBody>
          <a:bodyPr wrap="square" lIns="0" tIns="0" rIns="0" bIns="0" rtlCol="0" anchor="ctr"/>
          <a:lstStyle/>
          <a:p>
            <a:pPr indent="0" marL="0">
              <a:buNone/>
            </a:pPr>
            <a:r>
              <a:rPr lang="en-US" sz="1050" dirty="0">
                <a:solidFill>
                  <a:srgbClr val="66756D"/>
                </a:solidFill>
                <a:latin typeface="Inter" pitchFamily="34" charset="0"/>
                <a:ea typeface="Inter" pitchFamily="34" charset="-122"/>
                <a:cs typeface="Inter" pitchFamily="34" charset="-120"/>
              </a:rPr>
              <a:t>Body Text</a:t>
            </a:r>
            <a:endParaRPr lang="en-US" sz="1050" dirty="0"/>
          </a:p>
        </p:txBody>
      </p:sp>
      <p:sp>
        <p:nvSpPr>
          <p:cNvPr id="14" name="Text 12"/>
          <p:cNvSpPr/>
          <p:nvPr/>
        </p:nvSpPr>
        <p:spPr>
          <a:xfrm>
            <a:off x="3611880" y="3813048"/>
            <a:ext cx="3017520" cy="457200"/>
          </a:xfrm>
          <a:prstGeom prst="rect">
            <a:avLst/>
          </a:prstGeom>
          <a:noFill/>
          <a:ln/>
        </p:spPr>
        <p:txBody>
          <a:bodyPr wrap="square" lIns="0" tIns="0" rIns="0" bIns="0" rtlCol="0" anchor="ctr"/>
          <a:lstStyle/>
          <a:p>
            <a:pPr indent="0" marL="0">
              <a:lnSpc>
                <a:spcPct val="115000"/>
              </a:lnSpc>
              <a:buNone/>
            </a:pPr>
            <a:r>
              <a:rPr lang="en-US" sz="900" dirty="0">
                <a:solidFill>
                  <a:srgbClr val="66756D"/>
                </a:solidFill>
                <a:latin typeface="Inter" pitchFamily="34" charset="0"/>
                <a:ea typeface="Inter" pitchFamily="34" charset="-122"/>
                <a:cs typeface="Inter" pitchFamily="34" charset="-120"/>
              </a:rPr>
              <a:t>16pt Regular · Inter · Charcoal</a:t>
            </a:r>
            <a:endParaRPr lang="en-US" sz="900" dirty="0"/>
          </a:p>
        </p:txBody>
      </p:sp>
      <p:sp>
        <p:nvSpPr>
          <p:cNvPr id="15" name="Text 13"/>
          <p:cNvSpPr/>
          <p:nvPr/>
        </p:nvSpPr>
        <p:spPr>
          <a:xfrm>
            <a:off x="6720840" y="3557016"/>
            <a:ext cx="5029200" cy="1051560"/>
          </a:xfrm>
          <a:prstGeom prst="rect">
            <a:avLst/>
          </a:prstGeom>
          <a:noFill/>
          <a:ln/>
        </p:spPr>
        <p:txBody>
          <a:bodyPr wrap="square" lIns="0" tIns="0" rIns="0" bIns="0" rtlCol="0" anchor="t"/>
          <a:lstStyle/>
          <a:p>
            <a:pPr indent="0" marL="0">
              <a:lnSpc>
                <a:spcPct val="115000"/>
              </a:lnSpc>
              <a:buNone/>
            </a:pPr>
            <a:r>
              <a:rPr lang="en-US" sz="1300" dirty="0">
                <a:solidFill>
                  <a:srgbClr val="18231E"/>
                </a:solidFill>
                <a:latin typeface="Inter" pitchFamily="34" charset="0"/>
                <a:ea typeface="Inter" pitchFamily="34" charset="-122"/>
                <a:cs typeface="Inter" pitchFamily="34" charset="-120"/>
              </a:rPr>
              <a:t>We engineer solutions that create lasting value for people and organizations alike.</a:t>
            </a:r>
            <a:endParaRPr lang="en-US" sz="1300" dirty="0"/>
          </a:p>
        </p:txBody>
      </p:sp>
      <p:sp>
        <p:nvSpPr>
          <p:cNvPr id="16" name="Shape 14"/>
          <p:cNvSpPr/>
          <p:nvPr/>
        </p:nvSpPr>
        <p:spPr>
          <a:xfrm>
            <a:off x="3611880" y="4782312"/>
            <a:ext cx="8138160" cy="0"/>
          </a:xfrm>
          <a:prstGeom prst="line">
            <a:avLst/>
          </a:prstGeom>
          <a:noFill/>
          <a:ln w="12700">
            <a:solidFill>
              <a:srgbClr val="E8F4EE"/>
            </a:solidFill>
            <a:prstDash val="solid"/>
          </a:ln>
        </p:spPr>
      </p:sp>
      <p:sp>
        <p:nvSpPr>
          <p:cNvPr id="17" name="Text 15"/>
          <p:cNvSpPr/>
          <p:nvPr/>
        </p:nvSpPr>
        <p:spPr>
          <a:xfrm>
            <a:off x="3611880" y="4855464"/>
            <a:ext cx="3017520" cy="274320"/>
          </a:xfrm>
          <a:prstGeom prst="rect">
            <a:avLst/>
          </a:prstGeom>
          <a:noFill/>
          <a:ln/>
        </p:spPr>
        <p:txBody>
          <a:bodyPr wrap="square" lIns="0" tIns="0" rIns="0" bIns="0" rtlCol="0" anchor="ctr"/>
          <a:lstStyle/>
          <a:p>
            <a:pPr indent="0" marL="0">
              <a:buNone/>
            </a:pPr>
            <a:r>
              <a:rPr lang="en-US" sz="1050" dirty="0">
                <a:solidFill>
                  <a:srgbClr val="66756D"/>
                </a:solidFill>
                <a:latin typeface="Inter" pitchFamily="34" charset="0"/>
                <a:ea typeface="Inter" pitchFamily="34" charset="-122"/>
                <a:cs typeface="Inter" pitchFamily="34" charset="-120"/>
              </a:rPr>
              <a:t>Captions &amp; Labels</a:t>
            </a:r>
            <a:endParaRPr lang="en-US" sz="1050" dirty="0"/>
          </a:p>
        </p:txBody>
      </p:sp>
      <p:sp>
        <p:nvSpPr>
          <p:cNvPr id="18" name="Text 16"/>
          <p:cNvSpPr/>
          <p:nvPr/>
        </p:nvSpPr>
        <p:spPr>
          <a:xfrm>
            <a:off x="3611880" y="5111496"/>
            <a:ext cx="3017520" cy="457200"/>
          </a:xfrm>
          <a:prstGeom prst="rect">
            <a:avLst/>
          </a:prstGeom>
          <a:noFill/>
          <a:ln/>
        </p:spPr>
        <p:txBody>
          <a:bodyPr wrap="square" lIns="0" tIns="0" rIns="0" bIns="0" rtlCol="0" anchor="ctr"/>
          <a:lstStyle/>
          <a:p>
            <a:pPr indent="0" marL="0">
              <a:lnSpc>
                <a:spcPct val="115000"/>
              </a:lnSpc>
              <a:buNone/>
            </a:pPr>
            <a:r>
              <a:rPr lang="en-US" sz="900" dirty="0">
                <a:solidFill>
                  <a:srgbClr val="66756D"/>
                </a:solidFill>
                <a:latin typeface="Inter" pitchFamily="34" charset="0"/>
                <a:ea typeface="Inter" pitchFamily="34" charset="-122"/>
                <a:cs typeface="Inter" pitchFamily="34" charset="-120"/>
              </a:rPr>
              <a:t>12pt Regular · Inter · Muted Green Grey</a:t>
            </a:r>
            <a:endParaRPr lang="en-US" sz="900" dirty="0"/>
          </a:p>
        </p:txBody>
      </p:sp>
      <p:sp>
        <p:nvSpPr>
          <p:cNvPr id="19" name="Text 17"/>
          <p:cNvSpPr/>
          <p:nvPr/>
        </p:nvSpPr>
        <p:spPr>
          <a:xfrm>
            <a:off x="6720840" y="4855464"/>
            <a:ext cx="5029200" cy="1051560"/>
          </a:xfrm>
          <a:prstGeom prst="rect">
            <a:avLst/>
          </a:prstGeom>
          <a:noFill/>
          <a:ln/>
        </p:spPr>
        <p:txBody>
          <a:bodyPr wrap="square" lIns="0" tIns="0" rIns="0" bIns="0" rtlCol="0" anchor="t"/>
          <a:lstStyle/>
          <a:p>
            <a:pPr indent="0" marL="0">
              <a:lnSpc>
                <a:spcPct val="115000"/>
              </a:lnSpc>
              <a:buNone/>
            </a:pPr>
            <a:r>
              <a:rPr lang="en-US" sz="1200" dirty="0">
                <a:solidFill>
                  <a:srgbClr val="66756D"/>
                </a:solidFill>
                <a:latin typeface="Inter" pitchFamily="34" charset="0"/>
                <a:ea typeface="Inter" pitchFamily="34" charset="-122"/>
                <a:cs typeface="Inter" pitchFamily="34" charset="-120"/>
              </a:rPr>
              <a:t>Engineering excellence, building a better tomorrow.</a:t>
            </a:r>
            <a:endParaRPr lang="en-US" sz="1050" dirty="0"/>
          </a:p>
        </p:txBody>
      </p:sp>
      <p:sp>
        <p:nvSpPr>
          <p:cNvPr id="20" name="Text 18"/>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7043"/>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E8F4EE"/>
                </a:solidFill>
                <a:latin typeface="Inter" pitchFamily="34" charset="0"/>
                <a:ea typeface="Inter" pitchFamily="34" charset="-122"/>
                <a:cs typeface="Inter" pitchFamily="34" charset="-120"/>
              </a:rPr>
              <a:t>Orena Solutions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E8F4EE"/>
                </a:solidFill>
                <a:latin typeface="Inter" pitchFamily="34" charset="0"/>
                <a:ea typeface="Inter" pitchFamily="34" charset="-122"/>
                <a:cs typeface="Inter" pitchFamily="34" charset="-120"/>
              </a:rPr>
              <a:t>Brand Playbook</a:t>
            </a:r>
            <a:endParaRPr lang="en-US" sz="1100" dirty="0"/>
          </a:p>
        </p:txBody>
      </p:sp>
      <p:sp>
        <p:nvSpPr>
          <p:cNvPr id="4" name="Text 2"/>
          <p:cNvSpPr/>
          <p:nvPr/>
        </p:nvSpPr>
        <p:spPr>
          <a:xfrm>
            <a:off x="457200" y="2651760"/>
            <a:ext cx="10058400" cy="1463040"/>
          </a:xfrm>
          <a:prstGeom prst="rect">
            <a:avLst/>
          </a:prstGeom>
          <a:noFill/>
          <a:ln/>
        </p:spPr>
        <p:txBody>
          <a:bodyPr wrap="square" lIns="0" tIns="0" rIns="0" bIns="0" rtlCol="0" anchor="ctr"/>
          <a:lstStyle/>
          <a:p>
            <a:pPr indent="0" marL="0">
              <a:buNone/>
            </a:pPr>
            <a:r>
              <a:rPr lang="en-US" sz="5400" b="1" dirty="0">
                <a:solidFill>
                  <a:srgbClr val="FFFFFF"/>
                </a:solidFill>
                <a:latin typeface="Poppins" pitchFamily="34" charset="0"/>
                <a:ea typeface="Poppins" pitchFamily="34" charset="-122"/>
                <a:cs typeface="Poppins" pitchFamily="34" charset="-120"/>
              </a:rPr>
              <a:t>Visual Devices</a:t>
            </a:r>
            <a:endParaRPr lang="en-US" sz="5400" dirty="0"/>
          </a:p>
        </p:txBody>
      </p:sp>
      <p:sp>
        <p:nvSpPr>
          <p:cNvPr id="5" name="Text 3"/>
          <p:cNvSpPr/>
          <p:nvPr/>
        </p:nvSpPr>
        <p:spPr>
          <a:xfrm>
            <a:off x="457200" y="5806440"/>
            <a:ext cx="8229600" cy="457200"/>
          </a:xfrm>
          <a:prstGeom prst="rect">
            <a:avLst/>
          </a:prstGeom>
          <a:noFill/>
          <a:ln/>
        </p:spPr>
        <p:txBody>
          <a:bodyPr wrap="square" lIns="0" tIns="0" rIns="0" bIns="0" rtlCol="0" anchor="ctr"/>
          <a:lstStyle/>
          <a:p>
            <a:pPr indent="0" marL="0">
              <a:buNone/>
            </a:pPr>
            <a:r>
              <a:rPr lang="en-US" sz="1400" i="1" dirty="0">
                <a:solidFill>
                  <a:srgbClr val="48B855"/>
                </a:solidFill>
                <a:latin typeface="Inter" pitchFamily="34" charset="0"/>
                <a:ea typeface="Inter" pitchFamily="34" charset="-122"/>
                <a:cs typeface="Inter" pitchFamily="34" charset="-120"/>
              </a:rPr>
              <a:t>How we add craft and clarity to our brand.</a:t>
            </a:r>
            <a:endParaRPr lang="en-US" sz="1400" dirty="0"/>
          </a:p>
        </p:txBody>
      </p:sp>
      <p:sp>
        <p:nvSpPr>
          <p:cNvPr id="6" name="Text 4"/>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48B855"/>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Visual Devices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Iconography &amp; Shapes</a:t>
            </a:r>
            <a:endParaRPr lang="en-US" sz="1100" dirty="0"/>
          </a:p>
        </p:txBody>
      </p:sp>
      <p:sp>
        <p:nvSpPr>
          <p:cNvPr id="4" name="Text 2"/>
          <p:cNvSpPr/>
          <p:nvPr/>
        </p:nvSpPr>
        <p:spPr>
          <a:xfrm>
            <a:off x="457200" y="1005840"/>
            <a:ext cx="2834640" cy="1188720"/>
          </a:xfrm>
          <a:prstGeom prst="rect">
            <a:avLst/>
          </a:prstGeom>
          <a:noFill/>
          <a:ln/>
        </p:spPr>
        <p:txBody>
          <a:bodyPr wrap="square" lIns="0" tIns="0" rIns="0" bIns="0" rtlCol="0" anchor="ctr"/>
          <a:lstStyle/>
          <a:p>
            <a:pPr indent="0" marL="0">
              <a:lnSpc>
                <a:spcPct val="130000"/>
              </a:lnSpc>
              <a:buNone/>
            </a:pPr>
            <a:r>
              <a:rPr lang="en-US" sz="1200" dirty="0">
                <a:solidFill>
                  <a:srgbClr val="18231E"/>
                </a:solidFill>
                <a:latin typeface="Inter" pitchFamily="34" charset="0"/>
                <a:ea typeface="Inter" pitchFamily="34" charset="-122"/>
                <a:cs typeface="Inter" pitchFamily="34" charset="-120"/>
              </a:rPr>
              <a:t>A consistent line-and-form icon set covers our core themes — quality, growth and connection.</a:t>
            </a:r>
            <a:endParaRPr lang="en-US" sz="1200" dirty="0"/>
          </a:p>
        </p:txBody>
      </p:sp>
      <p:sp>
        <p:nvSpPr>
          <p:cNvPr id="5" name="Text 3"/>
          <p:cNvSpPr/>
          <p:nvPr/>
        </p:nvSpPr>
        <p:spPr>
          <a:xfrm>
            <a:off x="457200" y="4572000"/>
            <a:ext cx="2834640" cy="1188720"/>
          </a:xfrm>
          <a:prstGeom prst="rect">
            <a:avLst/>
          </a:prstGeom>
          <a:noFill/>
          <a:ln/>
        </p:spPr>
        <p:txBody>
          <a:bodyPr wrap="square" lIns="0" tIns="0" rIns="0" bIns="0" rtlCol="0" anchor="ctr"/>
          <a:lstStyle/>
          <a:p>
            <a:pPr indent="0" marL="0">
              <a:lnSpc>
                <a:spcPct val="130000"/>
              </a:lnSpc>
              <a:buNone/>
            </a:pPr>
            <a:r>
              <a:rPr lang="en-US" sz="1200" dirty="0">
                <a:solidFill>
                  <a:srgbClr val="18231E"/>
                </a:solidFill>
                <a:latin typeface="Inter" pitchFamily="34" charset="0"/>
                <a:ea typeface="Inter" pitchFamily="34" charset="-122"/>
                <a:cs typeface="Inter" pitchFamily="34" charset="-120"/>
              </a:rPr>
              <a:t>Half-circle motifs and dot clusters echo the mark across backgrounds and dividers.</a:t>
            </a:r>
            <a:endParaRPr lang="en-US" sz="1200" dirty="0"/>
          </a:p>
        </p:txBody>
      </p:sp>
      <p:sp>
        <p:nvSpPr>
          <p:cNvPr id="6" name="Shape 4"/>
          <p:cNvSpPr/>
          <p:nvPr/>
        </p:nvSpPr>
        <p:spPr>
          <a:xfrm>
            <a:off x="3611880" y="960120"/>
            <a:ext cx="1481328" cy="1234440"/>
          </a:xfrm>
          <a:prstGeom prst="roundRect">
            <a:avLst>
              <a:gd name="adj" fmla="val 4444"/>
            </a:avLst>
          </a:prstGeom>
          <a:solidFill>
            <a:srgbClr val="FFFFFF"/>
          </a:solidFill>
          <a:ln w="12700">
            <a:solidFill>
              <a:srgbClr val="E8F4EE"/>
            </a:solidFill>
            <a:prstDash val="solid"/>
          </a:ln>
        </p:spPr>
      </p:sp>
      <p:pic>
        <p:nvPicPr>
          <p:cNvPr id="7" name="Image 0" descr="assets/icons/shield_green.png">    </p:cNvPr>
          <p:cNvPicPr>
            <a:picLocks noChangeAspect="1"/>
          </p:cNvPicPr>
          <p:nvPr/>
        </p:nvPicPr>
        <p:blipFill>
          <a:blip r:embed="rId1"/>
          <a:stretch>
            <a:fillRect/>
          </a:stretch>
        </p:blipFill>
        <p:spPr>
          <a:xfrm>
            <a:off x="4142232" y="1124712"/>
            <a:ext cx="420624" cy="420624"/>
          </a:xfrm>
          <a:prstGeom prst="rect">
            <a:avLst/>
          </a:prstGeom>
        </p:spPr>
      </p:pic>
      <p:sp>
        <p:nvSpPr>
          <p:cNvPr id="8" name="Text 5"/>
          <p:cNvSpPr/>
          <p:nvPr/>
        </p:nvSpPr>
        <p:spPr>
          <a:xfrm>
            <a:off x="3611880" y="1618488"/>
            <a:ext cx="1481328" cy="457200"/>
          </a:xfrm>
          <a:prstGeom prst="rect">
            <a:avLst/>
          </a:prstGeom>
          <a:noFill/>
          <a:ln/>
        </p:spPr>
        <p:txBody>
          <a:bodyPr wrap="square" lIns="0" tIns="0" rIns="0" bIns="0" rtlCol="0" anchor="ctr"/>
          <a:lstStyle/>
          <a:p>
            <a:pPr algn="ctr" indent="0" marL="0">
              <a:buNone/>
            </a:pPr>
            <a:r>
              <a:rPr lang="en-US" sz="850" dirty="0">
                <a:solidFill>
                  <a:srgbClr val="18231E"/>
                </a:solidFill>
                <a:latin typeface="Inter" pitchFamily="34" charset="0"/>
                <a:ea typeface="Inter" pitchFamily="34" charset="-122"/>
                <a:cs typeface="Inter" pitchFamily="34" charset="-120"/>
              </a:rPr>
              <a:t>Quality</a:t>
            </a:r>
            <a:endParaRPr lang="en-US" sz="850" dirty="0"/>
          </a:p>
        </p:txBody>
      </p:sp>
      <p:sp>
        <p:nvSpPr>
          <p:cNvPr id="9" name="Shape 6"/>
          <p:cNvSpPr/>
          <p:nvPr/>
        </p:nvSpPr>
        <p:spPr>
          <a:xfrm>
            <a:off x="5239512" y="960120"/>
            <a:ext cx="1481328" cy="1234440"/>
          </a:xfrm>
          <a:prstGeom prst="roundRect">
            <a:avLst>
              <a:gd name="adj" fmla="val 4444"/>
            </a:avLst>
          </a:prstGeom>
          <a:solidFill>
            <a:srgbClr val="FFFFFF"/>
          </a:solidFill>
          <a:ln w="12700">
            <a:solidFill>
              <a:srgbClr val="E8F4EE"/>
            </a:solidFill>
            <a:prstDash val="solid"/>
          </a:ln>
        </p:spPr>
      </p:sp>
      <p:pic>
        <p:nvPicPr>
          <p:cNvPr id="10" name="Image 1" descr="assets/icons/users_green.png">    </p:cNvPr>
          <p:cNvPicPr>
            <a:picLocks noChangeAspect="1"/>
          </p:cNvPicPr>
          <p:nvPr/>
        </p:nvPicPr>
        <p:blipFill>
          <a:blip r:embed="rId2"/>
          <a:stretch>
            <a:fillRect/>
          </a:stretch>
        </p:blipFill>
        <p:spPr>
          <a:xfrm>
            <a:off x="5769864" y="1124712"/>
            <a:ext cx="420624" cy="420624"/>
          </a:xfrm>
          <a:prstGeom prst="rect">
            <a:avLst/>
          </a:prstGeom>
        </p:spPr>
      </p:pic>
      <p:sp>
        <p:nvSpPr>
          <p:cNvPr id="11" name="Text 7"/>
          <p:cNvSpPr/>
          <p:nvPr/>
        </p:nvSpPr>
        <p:spPr>
          <a:xfrm>
            <a:off x="5239512" y="1618488"/>
            <a:ext cx="1481328" cy="457200"/>
          </a:xfrm>
          <a:prstGeom prst="rect">
            <a:avLst/>
          </a:prstGeom>
          <a:noFill/>
          <a:ln/>
        </p:spPr>
        <p:txBody>
          <a:bodyPr wrap="square" lIns="0" tIns="0" rIns="0" bIns="0" rtlCol="0" anchor="ctr"/>
          <a:lstStyle/>
          <a:p>
            <a:pPr algn="ctr" indent="0" marL="0">
              <a:buNone/>
            </a:pPr>
            <a:r>
              <a:rPr lang="en-US" sz="850" dirty="0">
                <a:solidFill>
                  <a:srgbClr val="18231E"/>
                </a:solidFill>
                <a:latin typeface="Inter" pitchFamily="34" charset="0"/>
                <a:ea typeface="Inter" pitchFamily="34" charset="-122"/>
                <a:cs typeface="Inter" pitchFamily="34" charset="-120"/>
              </a:rPr>
              <a:t>Teamwork</a:t>
            </a:r>
            <a:endParaRPr lang="en-US" sz="850" dirty="0"/>
          </a:p>
        </p:txBody>
      </p:sp>
      <p:sp>
        <p:nvSpPr>
          <p:cNvPr id="12" name="Shape 8"/>
          <p:cNvSpPr/>
          <p:nvPr/>
        </p:nvSpPr>
        <p:spPr>
          <a:xfrm>
            <a:off x="6867144" y="960120"/>
            <a:ext cx="1481328" cy="1234440"/>
          </a:xfrm>
          <a:prstGeom prst="roundRect">
            <a:avLst>
              <a:gd name="adj" fmla="val 4444"/>
            </a:avLst>
          </a:prstGeom>
          <a:solidFill>
            <a:srgbClr val="FFFFFF"/>
          </a:solidFill>
          <a:ln w="12700">
            <a:solidFill>
              <a:srgbClr val="E8F4EE"/>
            </a:solidFill>
            <a:prstDash val="solid"/>
          </a:ln>
        </p:spPr>
      </p:sp>
      <p:pic>
        <p:nvPicPr>
          <p:cNvPr id="13" name="Image 2" descr="assets/icons/compass_green.png">    </p:cNvPr>
          <p:cNvPicPr>
            <a:picLocks noChangeAspect="1"/>
          </p:cNvPicPr>
          <p:nvPr/>
        </p:nvPicPr>
        <p:blipFill>
          <a:blip r:embed="rId3"/>
          <a:stretch>
            <a:fillRect/>
          </a:stretch>
        </p:blipFill>
        <p:spPr>
          <a:xfrm>
            <a:off x="7397496" y="1124712"/>
            <a:ext cx="420624" cy="420624"/>
          </a:xfrm>
          <a:prstGeom prst="rect">
            <a:avLst/>
          </a:prstGeom>
        </p:spPr>
      </p:pic>
      <p:sp>
        <p:nvSpPr>
          <p:cNvPr id="14" name="Text 9"/>
          <p:cNvSpPr/>
          <p:nvPr/>
        </p:nvSpPr>
        <p:spPr>
          <a:xfrm>
            <a:off x="6867144" y="1618488"/>
            <a:ext cx="1481328" cy="457200"/>
          </a:xfrm>
          <a:prstGeom prst="rect">
            <a:avLst/>
          </a:prstGeom>
          <a:noFill/>
          <a:ln/>
        </p:spPr>
        <p:txBody>
          <a:bodyPr wrap="square" lIns="0" tIns="0" rIns="0" bIns="0" rtlCol="0" anchor="ctr"/>
          <a:lstStyle/>
          <a:p>
            <a:pPr algn="ctr" indent="0" marL="0">
              <a:buNone/>
            </a:pPr>
            <a:r>
              <a:rPr lang="en-US" sz="850" dirty="0">
                <a:solidFill>
                  <a:srgbClr val="18231E"/>
                </a:solidFill>
                <a:latin typeface="Inter" pitchFamily="34" charset="0"/>
                <a:ea typeface="Inter" pitchFamily="34" charset="-122"/>
                <a:cs typeface="Inter" pitchFamily="34" charset="-120"/>
              </a:rPr>
              <a:t>Strategy</a:t>
            </a:r>
            <a:endParaRPr lang="en-US" sz="850" dirty="0"/>
          </a:p>
        </p:txBody>
      </p:sp>
      <p:sp>
        <p:nvSpPr>
          <p:cNvPr id="15" name="Shape 10"/>
          <p:cNvSpPr/>
          <p:nvPr/>
        </p:nvSpPr>
        <p:spPr>
          <a:xfrm>
            <a:off x="8494776" y="960120"/>
            <a:ext cx="1481328" cy="1234440"/>
          </a:xfrm>
          <a:prstGeom prst="roundRect">
            <a:avLst>
              <a:gd name="adj" fmla="val 4444"/>
            </a:avLst>
          </a:prstGeom>
          <a:solidFill>
            <a:srgbClr val="FFFFFF"/>
          </a:solidFill>
          <a:ln w="12700">
            <a:solidFill>
              <a:srgbClr val="E8F4EE"/>
            </a:solidFill>
            <a:prstDash val="solid"/>
          </a:ln>
        </p:spPr>
      </p:sp>
      <p:pic>
        <p:nvPicPr>
          <p:cNvPr id="16" name="Image 3" descr="assets/icons/trending_green.png">    </p:cNvPr>
          <p:cNvPicPr>
            <a:picLocks noChangeAspect="1"/>
          </p:cNvPicPr>
          <p:nvPr/>
        </p:nvPicPr>
        <p:blipFill>
          <a:blip r:embed="rId4"/>
          <a:stretch>
            <a:fillRect/>
          </a:stretch>
        </p:blipFill>
        <p:spPr>
          <a:xfrm>
            <a:off x="9025128" y="1124712"/>
            <a:ext cx="420624" cy="420624"/>
          </a:xfrm>
          <a:prstGeom prst="rect">
            <a:avLst/>
          </a:prstGeom>
        </p:spPr>
      </p:pic>
      <p:sp>
        <p:nvSpPr>
          <p:cNvPr id="17" name="Text 11"/>
          <p:cNvSpPr/>
          <p:nvPr/>
        </p:nvSpPr>
        <p:spPr>
          <a:xfrm>
            <a:off x="8494776" y="1618488"/>
            <a:ext cx="1481328" cy="457200"/>
          </a:xfrm>
          <a:prstGeom prst="rect">
            <a:avLst/>
          </a:prstGeom>
          <a:noFill/>
          <a:ln/>
        </p:spPr>
        <p:txBody>
          <a:bodyPr wrap="square" lIns="0" tIns="0" rIns="0" bIns="0" rtlCol="0" anchor="ctr"/>
          <a:lstStyle/>
          <a:p>
            <a:pPr algn="ctr" indent="0" marL="0">
              <a:buNone/>
            </a:pPr>
            <a:r>
              <a:rPr lang="en-US" sz="850" dirty="0">
                <a:solidFill>
                  <a:srgbClr val="18231E"/>
                </a:solidFill>
                <a:latin typeface="Inter" pitchFamily="34" charset="0"/>
                <a:ea typeface="Inter" pitchFamily="34" charset="-122"/>
                <a:cs typeface="Inter" pitchFamily="34" charset="-120"/>
              </a:rPr>
              <a:t>Growth</a:t>
            </a:r>
            <a:endParaRPr lang="en-US" sz="850" dirty="0"/>
          </a:p>
        </p:txBody>
      </p:sp>
      <p:sp>
        <p:nvSpPr>
          <p:cNvPr id="18" name="Shape 12"/>
          <p:cNvSpPr/>
          <p:nvPr/>
        </p:nvSpPr>
        <p:spPr>
          <a:xfrm>
            <a:off x="10122408" y="960120"/>
            <a:ext cx="1481328" cy="1234440"/>
          </a:xfrm>
          <a:prstGeom prst="roundRect">
            <a:avLst>
              <a:gd name="adj" fmla="val 4444"/>
            </a:avLst>
          </a:prstGeom>
          <a:solidFill>
            <a:srgbClr val="FFFFFF"/>
          </a:solidFill>
          <a:ln w="12700">
            <a:solidFill>
              <a:srgbClr val="E8F4EE"/>
            </a:solidFill>
            <a:prstDash val="solid"/>
          </a:ln>
        </p:spPr>
      </p:sp>
      <p:pic>
        <p:nvPicPr>
          <p:cNvPr id="19" name="Image 4" descr="assets/icons/award_green.png">    </p:cNvPr>
          <p:cNvPicPr>
            <a:picLocks noChangeAspect="1"/>
          </p:cNvPicPr>
          <p:nvPr/>
        </p:nvPicPr>
        <p:blipFill>
          <a:blip r:embed="rId5"/>
          <a:stretch>
            <a:fillRect/>
          </a:stretch>
        </p:blipFill>
        <p:spPr>
          <a:xfrm>
            <a:off x="10652760" y="1124712"/>
            <a:ext cx="420624" cy="420624"/>
          </a:xfrm>
          <a:prstGeom prst="rect">
            <a:avLst/>
          </a:prstGeom>
        </p:spPr>
      </p:pic>
      <p:sp>
        <p:nvSpPr>
          <p:cNvPr id="20" name="Text 13"/>
          <p:cNvSpPr/>
          <p:nvPr/>
        </p:nvSpPr>
        <p:spPr>
          <a:xfrm>
            <a:off x="10122408" y="1618488"/>
            <a:ext cx="1481328" cy="457200"/>
          </a:xfrm>
          <a:prstGeom prst="rect">
            <a:avLst/>
          </a:prstGeom>
          <a:noFill/>
          <a:ln/>
        </p:spPr>
        <p:txBody>
          <a:bodyPr wrap="square" lIns="0" tIns="0" rIns="0" bIns="0" rtlCol="0" anchor="ctr"/>
          <a:lstStyle/>
          <a:p>
            <a:pPr algn="ctr" indent="0" marL="0">
              <a:buNone/>
            </a:pPr>
            <a:r>
              <a:rPr lang="en-US" sz="850" dirty="0">
                <a:solidFill>
                  <a:srgbClr val="18231E"/>
                </a:solidFill>
                <a:latin typeface="Inter" pitchFamily="34" charset="0"/>
                <a:ea typeface="Inter" pitchFamily="34" charset="-122"/>
                <a:cs typeface="Inter" pitchFamily="34" charset="-120"/>
              </a:rPr>
              <a:t>Excellence</a:t>
            </a:r>
            <a:endParaRPr lang="en-US" sz="850" dirty="0"/>
          </a:p>
        </p:txBody>
      </p:sp>
      <p:sp>
        <p:nvSpPr>
          <p:cNvPr id="21" name="Shape 14"/>
          <p:cNvSpPr/>
          <p:nvPr/>
        </p:nvSpPr>
        <p:spPr>
          <a:xfrm>
            <a:off x="3611880" y="2377440"/>
            <a:ext cx="1481328" cy="1234440"/>
          </a:xfrm>
          <a:prstGeom prst="roundRect">
            <a:avLst>
              <a:gd name="adj" fmla="val 4444"/>
            </a:avLst>
          </a:prstGeom>
          <a:solidFill>
            <a:srgbClr val="FFFFFF"/>
          </a:solidFill>
          <a:ln w="12700">
            <a:solidFill>
              <a:srgbClr val="E8F4EE"/>
            </a:solidFill>
            <a:prstDash val="solid"/>
          </a:ln>
        </p:spPr>
      </p:sp>
      <p:pic>
        <p:nvPicPr>
          <p:cNvPr id="22" name="Image 5" descr="assets/icons/book_green.png">    </p:cNvPr>
          <p:cNvPicPr>
            <a:picLocks noChangeAspect="1"/>
          </p:cNvPicPr>
          <p:nvPr/>
        </p:nvPicPr>
        <p:blipFill>
          <a:blip r:embed="rId6"/>
          <a:stretch>
            <a:fillRect/>
          </a:stretch>
        </p:blipFill>
        <p:spPr>
          <a:xfrm>
            <a:off x="4142232" y="2542032"/>
            <a:ext cx="420624" cy="420624"/>
          </a:xfrm>
          <a:prstGeom prst="rect">
            <a:avLst/>
          </a:prstGeom>
        </p:spPr>
      </p:pic>
      <p:sp>
        <p:nvSpPr>
          <p:cNvPr id="23" name="Text 15"/>
          <p:cNvSpPr/>
          <p:nvPr/>
        </p:nvSpPr>
        <p:spPr>
          <a:xfrm>
            <a:off x="3611880" y="3035808"/>
            <a:ext cx="1481328" cy="457200"/>
          </a:xfrm>
          <a:prstGeom prst="rect">
            <a:avLst/>
          </a:prstGeom>
          <a:noFill/>
          <a:ln/>
        </p:spPr>
        <p:txBody>
          <a:bodyPr wrap="square" lIns="0" tIns="0" rIns="0" bIns="0" rtlCol="0" anchor="ctr"/>
          <a:lstStyle/>
          <a:p>
            <a:pPr algn="ctr" indent="0" marL="0">
              <a:buNone/>
            </a:pPr>
            <a:r>
              <a:rPr lang="en-US" sz="850" dirty="0">
                <a:solidFill>
                  <a:srgbClr val="18231E"/>
                </a:solidFill>
                <a:latin typeface="Inter" pitchFamily="34" charset="0"/>
                <a:ea typeface="Inter" pitchFamily="34" charset="-122"/>
                <a:cs typeface="Inter" pitchFamily="34" charset="-120"/>
              </a:rPr>
              <a:t>Learning</a:t>
            </a:r>
            <a:endParaRPr lang="en-US" sz="850" dirty="0"/>
          </a:p>
        </p:txBody>
      </p:sp>
      <p:sp>
        <p:nvSpPr>
          <p:cNvPr id="24" name="Shape 16"/>
          <p:cNvSpPr/>
          <p:nvPr/>
        </p:nvSpPr>
        <p:spPr>
          <a:xfrm>
            <a:off x="5239512" y="2377440"/>
            <a:ext cx="1481328" cy="1234440"/>
          </a:xfrm>
          <a:prstGeom prst="roundRect">
            <a:avLst>
              <a:gd name="adj" fmla="val 4444"/>
            </a:avLst>
          </a:prstGeom>
          <a:solidFill>
            <a:srgbClr val="FFFFFF"/>
          </a:solidFill>
          <a:ln w="12700">
            <a:solidFill>
              <a:srgbClr val="E8F4EE"/>
            </a:solidFill>
            <a:prstDash val="solid"/>
          </a:ln>
        </p:spPr>
      </p:sp>
      <p:pic>
        <p:nvPicPr>
          <p:cNvPr id="25" name="Image 6" descr="assets/icons/puzzle_green.png">    </p:cNvPr>
          <p:cNvPicPr>
            <a:picLocks noChangeAspect="1"/>
          </p:cNvPicPr>
          <p:nvPr/>
        </p:nvPicPr>
        <p:blipFill>
          <a:blip r:embed="rId7"/>
          <a:stretch>
            <a:fillRect/>
          </a:stretch>
        </p:blipFill>
        <p:spPr>
          <a:xfrm>
            <a:off x="5769864" y="2542032"/>
            <a:ext cx="420624" cy="420624"/>
          </a:xfrm>
          <a:prstGeom prst="rect">
            <a:avLst/>
          </a:prstGeom>
        </p:spPr>
      </p:pic>
      <p:sp>
        <p:nvSpPr>
          <p:cNvPr id="26" name="Text 17"/>
          <p:cNvSpPr/>
          <p:nvPr/>
        </p:nvSpPr>
        <p:spPr>
          <a:xfrm>
            <a:off x="5239512" y="3035808"/>
            <a:ext cx="1481328" cy="457200"/>
          </a:xfrm>
          <a:prstGeom prst="rect">
            <a:avLst/>
          </a:prstGeom>
          <a:noFill/>
          <a:ln/>
        </p:spPr>
        <p:txBody>
          <a:bodyPr wrap="square" lIns="0" tIns="0" rIns="0" bIns="0" rtlCol="0" anchor="ctr"/>
          <a:lstStyle/>
          <a:p>
            <a:pPr algn="ctr" indent="0" marL="0">
              <a:buNone/>
            </a:pPr>
            <a:r>
              <a:rPr lang="en-US" sz="850" dirty="0">
                <a:solidFill>
                  <a:srgbClr val="18231E"/>
                </a:solidFill>
                <a:latin typeface="Inter" pitchFamily="34" charset="0"/>
                <a:ea typeface="Inter" pitchFamily="34" charset="-122"/>
                <a:cs typeface="Inter" pitchFamily="34" charset="-120"/>
              </a:rPr>
              <a:t>Solutions</a:t>
            </a:r>
            <a:endParaRPr lang="en-US" sz="850" dirty="0"/>
          </a:p>
        </p:txBody>
      </p:sp>
      <p:sp>
        <p:nvSpPr>
          <p:cNvPr id="27" name="Shape 18"/>
          <p:cNvSpPr/>
          <p:nvPr/>
        </p:nvSpPr>
        <p:spPr>
          <a:xfrm>
            <a:off x="6867144" y="2377440"/>
            <a:ext cx="1481328" cy="1234440"/>
          </a:xfrm>
          <a:prstGeom prst="roundRect">
            <a:avLst>
              <a:gd name="adj" fmla="val 4444"/>
            </a:avLst>
          </a:prstGeom>
          <a:solidFill>
            <a:srgbClr val="FFFFFF"/>
          </a:solidFill>
          <a:ln w="12700">
            <a:solidFill>
              <a:srgbClr val="E8F4EE"/>
            </a:solidFill>
            <a:prstDash val="solid"/>
          </a:ln>
        </p:spPr>
      </p:sp>
      <p:pic>
        <p:nvPicPr>
          <p:cNvPr id="28" name="Image 7" descr="assets/icons/handshake_green.png">    </p:cNvPr>
          <p:cNvPicPr>
            <a:picLocks noChangeAspect="1"/>
          </p:cNvPicPr>
          <p:nvPr/>
        </p:nvPicPr>
        <p:blipFill>
          <a:blip r:embed="rId8"/>
          <a:stretch>
            <a:fillRect/>
          </a:stretch>
        </p:blipFill>
        <p:spPr>
          <a:xfrm>
            <a:off x="7397496" y="2542032"/>
            <a:ext cx="420624" cy="420624"/>
          </a:xfrm>
          <a:prstGeom prst="rect">
            <a:avLst/>
          </a:prstGeom>
        </p:spPr>
      </p:pic>
      <p:sp>
        <p:nvSpPr>
          <p:cNvPr id="29" name="Text 19"/>
          <p:cNvSpPr/>
          <p:nvPr/>
        </p:nvSpPr>
        <p:spPr>
          <a:xfrm>
            <a:off x="6867144" y="3035808"/>
            <a:ext cx="1481328" cy="457200"/>
          </a:xfrm>
          <a:prstGeom prst="rect">
            <a:avLst/>
          </a:prstGeom>
          <a:noFill/>
          <a:ln/>
        </p:spPr>
        <p:txBody>
          <a:bodyPr wrap="square" lIns="0" tIns="0" rIns="0" bIns="0" rtlCol="0" anchor="ctr"/>
          <a:lstStyle/>
          <a:p>
            <a:pPr algn="ctr" indent="0" marL="0">
              <a:buNone/>
            </a:pPr>
            <a:r>
              <a:rPr lang="en-US" sz="850" dirty="0">
                <a:solidFill>
                  <a:srgbClr val="18231E"/>
                </a:solidFill>
                <a:latin typeface="Inter" pitchFamily="34" charset="0"/>
                <a:ea typeface="Inter" pitchFamily="34" charset="-122"/>
                <a:cs typeface="Inter" pitchFamily="34" charset="-120"/>
              </a:rPr>
              <a:t>Partnership</a:t>
            </a:r>
            <a:endParaRPr lang="en-US" sz="850" dirty="0"/>
          </a:p>
        </p:txBody>
      </p:sp>
      <p:sp>
        <p:nvSpPr>
          <p:cNvPr id="30" name="Shape 20"/>
          <p:cNvSpPr/>
          <p:nvPr/>
        </p:nvSpPr>
        <p:spPr>
          <a:xfrm>
            <a:off x="8494776" y="2377440"/>
            <a:ext cx="1481328" cy="1234440"/>
          </a:xfrm>
          <a:prstGeom prst="roundRect">
            <a:avLst>
              <a:gd name="adj" fmla="val 4444"/>
            </a:avLst>
          </a:prstGeom>
          <a:solidFill>
            <a:srgbClr val="FFFFFF"/>
          </a:solidFill>
          <a:ln w="12700">
            <a:solidFill>
              <a:srgbClr val="E8F4EE"/>
            </a:solidFill>
            <a:prstDash val="solid"/>
          </a:ln>
        </p:spPr>
      </p:sp>
      <p:pic>
        <p:nvPicPr>
          <p:cNvPr id="31" name="Image 8" descr="assets/icons/globe_green.png">    </p:cNvPr>
          <p:cNvPicPr>
            <a:picLocks noChangeAspect="1"/>
          </p:cNvPicPr>
          <p:nvPr/>
        </p:nvPicPr>
        <p:blipFill>
          <a:blip r:embed="rId9"/>
          <a:stretch>
            <a:fillRect/>
          </a:stretch>
        </p:blipFill>
        <p:spPr>
          <a:xfrm>
            <a:off x="9025128" y="2542032"/>
            <a:ext cx="420624" cy="420624"/>
          </a:xfrm>
          <a:prstGeom prst="rect">
            <a:avLst/>
          </a:prstGeom>
        </p:spPr>
      </p:pic>
      <p:sp>
        <p:nvSpPr>
          <p:cNvPr id="32" name="Text 21"/>
          <p:cNvSpPr/>
          <p:nvPr/>
        </p:nvSpPr>
        <p:spPr>
          <a:xfrm>
            <a:off x="8494776" y="3035808"/>
            <a:ext cx="1481328" cy="457200"/>
          </a:xfrm>
          <a:prstGeom prst="rect">
            <a:avLst/>
          </a:prstGeom>
          <a:noFill/>
          <a:ln/>
        </p:spPr>
        <p:txBody>
          <a:bodyPr wrap="square" lIns="0" tIns="0" rIns="0" bIns="0" rtlCol="0" anchor="ctr"/>
          <a:lstStyle/>
          <a:p>
            <a:pPr algn="ctr" indent="0" marL="0">
              <a:buNone/>
            </a:pPr>
            <a:r>
              <a:rPr lang="en-US" sz="850" dirty="0">
                <a:solidFill>
                  <a:srgbClr val="18231E"/>
                </a:solidFill>
                <a:latin typeface="Inter" pitchFamily="34" charset="0"/>
                <a:ea typeface="Inter" pitchFamily="34" charset="-122"/>
                <a:cs typeface="Inter" pitchFamily="34" charset="-120"/>
              </a:rPr>
              <a:t>Global</a:t>
            </a:r>
            <a:endParaRPr lang="en-US" sz="850" dirty="0"/>
          </a:p>
        </p:txBody>
      </p:sp>
      <p:sp>
        <p:nvSpPr>
          <p:cNvPr id="33" name="Shape 22"/>
          <p:cNvSpPr/>
          <p:nvPr/>
        </p:nvSpPr>
        <p:spPr>
          <a:xfrm>
            <a:off x="3611880" y="4526280"/>
            <a:ext cx="3931920" cy="1828800"/>
          </a:xfrm>
          <a:prstGeom prst="roundRect">
            <a:avLst>
              <a:gd name="adj" fmla="val 3000"/>
            </a:avLst>
          </a:prstGeom>
          <a:solidFill>
            <a:srgbClr val="0D7043"/>
          </a:solidFill>
          <a:ln/>
        </p:spPr>
      </p:sp>
      <p:sp>
        <p:nvSpPr>
          <p:cNvPr id="34" name="Shape 23"/>
          <p:cNvSpPr/>
          <p:nvPr/>
        </p:nvSpPr>
        <p:spPr>
          <a:xfrm>
            <a:off x="4160520" y="4709160"/>
            <a:ext cx="1463040" cy="1463040"/>
          </a:xfrm>
          <a:prstGeom prst="pie">
            <a:avLst>
              <a:gd name="adj1" fmla="val 5400000"/>
              <a:gd name="adj2" fmla="val 16200000"/>
            </a:avLst>
          </a:prstGeom>
          <a:solidFill>
            <a:srgbClr val="48B855"/>
          </a:solidFill>
          <a:ln/>
        </p:spPr>
      </p:sp>
      <p:sp>
        <p:nvSpPr>
          <p:cNvPr id="35" name="Shape 24"/>
          <p:cNvSpPr/>
          <p:nvPr/>
        </p:nvSpPr>
        <p:spPr>
          <a:xfrm>
            <a:off x="7680960" y="4526280"/>
            <a:ext cx="4069080" cy="1828800"/>
          </a:xfrm>
          <a:prstGeom prst="roundRect">
            <a:avLst>
              <a:gd name="adj" fmla="val 3000"/>
            </a:avLst>
          </a:prstGeom>
          <a:solidFill>
            <a:srgbClr val="E8F4EE"/>
          </a:solidFill>
          <a:ln/>
        </p:spPr>
      </p:sp>
      <p:sp>
        <p:nvSpPr>
          <p:cNvPr id="36" name="Shape 25"/>
          <p:cNvSpPr/>
          <p:nvPr/>
        </p:nvSpPr>
        <p:spPr>
          <a:xfrm>
            <a:off x="7909560" y="4754880"/>
            <a:ext cx="73152" cy="73152"/>
          </a:xfrm>
          <a:prstGeom prst="ellipse">
            <a:avLst/>
          </a:prstGeom>
          <a:solidFill>
            <a:srgbClr val="0D7043">
              <a:alpha val="70000"/>
            </a:srgbClr>
          </a:solidFill>
          <a:ln/>
        </p:spPr>
      </p:sp>
      <p:sp>
        <p:nvSpPr>
          <p:cNvPr id="37" name="Shape 26"/>
          <p:cNvSpPr/>
          <p:nvPr/>
        </p:nvSpPr>
        <p:spPr>
          <a:xfrm>
            <a:off x="8293608" y="4754880"/>
            <a:ext cx="73152" cy="73152"/>
          </a:xfrm>
          <a:prstGeom prst="ellipse">
            <a:avLst/>
          </a:prstGeom>
          <a:solidFill>
            <a:srgbClr val="0D7043">
              <a:alpha val="70000"/>
            </a:srgbClr>
          </a:solidFill>
          <a:ln/>
        </p:spPr>
      </p:sp>
      <p:sp>
        <p:nvSpPr>
          <p:cNvPr id="38" name="Shape 27"/>
          <p:cNvSpPr/>
          <p:nvPr/>
        </p:nvSpPr>
        <p:spPr>
          <a:xfrm>
            <a:off x="8677656" y="4754880"/>
            <a:ext cx="73152" cy="73152"/>
          </a:xfrm>
          <a:prstGeom prst="ellipse">
            <a:avLst/>
          </a:prstGeom>
          <a:solidFill>
            <a:srgbClr val="0D7043">
              <a:alpha val="70000"/>
            </a:srgbClr>
          </a:solidFill>
          <a:ln/>
        </p:spPr>
      </p:sp>
      <p:sp>
        <p:nvSpPr>
          <p:cNvPr id="39" name="Shape 28"/>
          <p:cNvSpPr/>
          <p:nvPr/>
        </p:nvSpPr>
        <p:spPr>
          <a:xfrm>
            <a:off x="9061704" y="4754880"/>
            <a:ext cx="73152" cy="73152"/>
          </a:xfrm>
          <a:prstGeom prst="ellipse">
            <a:avLst/>
          </a:prstGeom>
          <a:solidFill>
            <a:srgbClr val="0D7043">
              <a:alpha val="70000"/>
            </a:srgbClr>
          </a:solidFill>
          <a:ln/>
        </p:spPr>
      </p:sp>
      <p:sp>
        <p:nvSpPr>
          <p:cNvPr id="40" name="Shape 29"/>
          <p:cNvSpPr/>
          <p:nvPr/>
        </p:nvSpPr>
        <p:spPr>
          <a:xfrm>
            <a:off x="9445752" y="4754880"/>
            <a:ext cx="73152" cy="73152"/>
          </a:xfrm>
          <a:prstGeom prst="ellipse">
            <a:avLst/>
          </a:prstGeom>
          <a:solidFill>
            <a:srgbClr val="0D7043">
              <a:alpha val="70000"/>
            </a:srgbClr>
          </a:solidFill>
          <a:ln/>
        </p:spPr>
      </p:sp>
      <p:sp>
        <p:nvSpPr>
          <p:cNvPr id="41" name="Shape 30"/>
          <p:cNvSpPr/>
          <p:nvPr/>
        </p:nvSpPr>
        <p:spPr>
          <a:xfrm>
            <a:off x="9829800" y="4754880"/>
            <a:ext cx="73152" cy="73152"/>
          </a:xfrm>
          <a:prstGeom prst="ellipse">
            <a:avLst/>
          </a:prstGeom>
          <a:solidFill>
            <a:srgbClr val="0D7043">
              <a:alpha val="70000"/>
            </a:srgbClr>
          </a:solidFill>
          <a:ln/>
        </p:spPr>
      </p:sp>
      <p:sp>
        <p:nvSpPr>
          <p:cNvPr id="42" name="Shape 31"/>
          <p:cNvSpPr/>
          <p:nvPr/>
        </p:nvSpPr>
        <p:spPr>
          <a:xfrm>
            <a:off x="10213848" y="4754880"/>
            <a:ext cx="73152" cy="73152"/>
          </a:xfrm>
          <a:prstGeom prst="ellipse">
            <a:avLst/>
          </a:prstGeom>
          <a:solidFill>
            <a:srgbClr val="0D7043">
              <a:alpha val="70000"/>
            </a:srgbClr>
          </a:solidFill>
          <a:ln/>
        </p:spPr>
      </p:sp>
      <p:sp>
        <p:nvSpPr>
          <p:cNvPr id="43" name="Shape 32"/>
          <p:cNvSpPr/>
          <p:nvPr/>
        </p:nvSpPr>
        <p:spPr>
          <a:xfrm>
            <a:off x="10597896" y="4754880"/>
            <a:ext cx="73152" cy="73152"/>
          </a:xfrm>
          <a:prstGeom prst="ellipse">
            <a:avLst/>
          </a:prstGeom>
          <a:solidFill>
            <a:srgbClr val="0D7043">
              <a:alpha val="70000"/>
            </a:srgbClr>
          </a:solidFill>
          <a:ln/>
        </p:spPr>
      </p:sp>
      <p:sp>
        <p:nvSpPr>
          <p:cNvPr id="44" name="Shape 33"/>
          <p:cNvSpPr/>
          <p:nvPr/>
        </p:nvSpPr>
        <p:spPr>
          <a:xfrm>
            <a:off x="7909560" y="5120640"/>
            <a:ext cx="73152" cy="73152"/>
          </a:xfrm>
          <a:prstGeom prst="ellipse">
            <a:avLst/>
          </a:prstGeom>
          <a:solidFill>
            <a:srgbClr val="0D7043">
              <a:alpha val="70000"/>
            </a:srgbClr>
          </a:solidFill>
          <a:ln/>
        </p:spPr>
      </p:sp>
      <p:sp>
        <p:nvSpPr>
          <p:cNvPr id="45" name="Shape 34"/>
          <p:cNvSpPr/>
          <p:nvPr/>
        </p:nvSpPr>
        <p:spPr>
          <a:xfrm>
            <a:off x="8293608" y="5120640"/>
            <a:ext cx="73152" cy="73152"/>
          </a:xfrm>
          <a:prstGeom prst="ellipse">
            <a:avLst/>
          </a:prstGeom>
          <a:solidFill>
            <a:srgbClr val="0D7043">
              <a:alpha val="70000"/>
            </a:srgbClr>
          </a:solidFill>
          <a:ln/>
        </p:spPr>
      </p:sp>
      <p:sp>
        <p:nvSpPr>
          <p:cNvPr id="46" name="Shape 35"/>
          <p:cNvSpPr/>
          <p:nvPr/>
        </p:nvSpPr>
        <p:spPr>
          <a:xfrm>
            <a:off x="8677656" y="5120640"/>
            <a:ext cx="73152" cy="73152"/>
          </a:xfrm>
          <a:prstGeom prst="ellipse">
            <a:avLst/>
          </a:prstGeom>
          <a:solidFill>
            <a:srgbClr val="0D7043">
              <a:alpha val="70000"/>
            </a:srgbClr>
          </a:solidFill>
          <a:ln/>
        </p:spPr>
      </p:sp>
      <p:sp>
        <p:nvSpPr>
          <p:cNvPr id="47" name="Shape 36"/>
          <p:cNvSpPr/>
          <p:nvPr/>
        </p:nvSpPr>
        <p:spPr>
          <a:xfrm>
            <a:off x="9061704" y="5120640"/>
            <a:ext cx="73152" cy="73152"/>
          </a:xfrm>
          <a:prstGeom prst="ellipse">
            <a:avLst/>
          </a:prstGeom>
          <a:solidFill>
            <a:srgbClr val="0D7043">
              <a:alpha val="70000"/>
            </a:srgbClr>
          </a:solidFill>
          <a:ln/>
        </p:spPr>
      </p:sp>
      <p:sp>
        <p:nvSpPr>
          <p:cNvPr id="48" name="Shape 37"/>
          <p:cNvSpPr/>
          <p:nvPr/>
        </p:nvSpPr>
        <p:spPr>
          <a:xfrm>
            <a:off x="9445752" y="5120640"/>
            <a:ext cx="73152" cy="73152"/>
          </a:xfrm>
          <a:prstGeom prst="ellipse">
            <a:avLst/>
          </a:prstGeom>
          <a:solidFill>
            <a:srgbClr val="0D7043">
              <a:alpha val="70000"/>
            </a:srgbClr>
          </a:solidFill>
          <a:ln/>
        </p:spPr>
      </p:sp>
      <p:sp>
        <p:nvSpPr>
          <p:cNvPr id="49" name="Shape 38"/>
          <p:cNvSpPr/>
          <p:nvPr/>
        </p:nvSpPr>
        <p:spPr>
          <a:xfrm>
            <a:off x="9829800" y="5120640"/>
            <a:ext cx="73152" cy="73152"/>
          </a:xfrm>
          <a:prstGeom prst="ellipse">
            <a:avLst/>
          </a:prstGeom>
          <a:solidFill>
            <a:srgbClr val="0D7043">
              <a:alpha val="70000"/>
            </a:srgbClr>
          </a:solidFill>
          <a:ln/>
        </p:spPr>
      </p:sp>
      <p:sp>
        <p:nvSpPr>
          <p:cNvPr id="50" name="Shape 39"/>
          <p:cNvSpPr/>
          <p:nvPr/>
        </p:nvSpPr>
        <p:spPr>
          <a:xfrm>
            <a:off x="10213848" y="5120640"/>
            <a:ext cx="73152" cy="73152"/>
          </a:xfrm>
          <a:prstGeom prst="ellipse">
            <a:avLst/>
          </a:prstGeom>
          <a:solidFill>
            <a:srgbClr val="0D7043">
              <a:alpha val="70000"/>
            </a:srgbClr>
          </a:solidFill>
          <a:ln/>
        </p:spPr>
      </p:sp>
      <p:sp>
        <p:nvSpPr>
          <p:cNvPr id="51" name="Shape 40"/>
          <p:cNvSpPr/>
          <p:nvPr/>
        </p:nvSpPr>
        <p:spPr>
          <a:xfrm>
            <a:off x="10597896" y="5120640"/>
            <a:ext cx="73152" cy="73152"/>
          </a:xfrm>
          <a:prstGeom prst="ellipse">
            <a:avLst/>
          </a:prstGeom>
          <a:solidFill>
            <a:srgbClr val="0D7043">
              <a:alpha val="70000"/>
            </a:srgbClr>
          </a:solidFill>
          <a:ln/>
        </p:spPr>
      </p:sp>
      <p:sp>
        <p:nvSpPr>
          <p:cNvPr id="52" name="Shape 41"/>
          <p:cNvSpPr/>
          <p:nvPr/>
        </p:nvSpPr>
        <p:spPr>
          <a:xfrm>
            <a:off x="7909560" y="5486400"/>
            <a:ext cx="73152" cy="73152"/>
          </a:xfrm>
          <a:prstGeom prst="ellipse">
            <a:avLst/>
          </a:prstGeom>
          <a:solidFill>
            <a:srgbClr val="0D7043">
              <a:alpha val="70000"/>
            </a:srgbClr>
          </a:solidFill>
          <a:ln/>
        </p:spPr>
      </p:sp>
      <p:sp>
        <p:nvSpPr>
          <p:cNvPr id="53" name="Shape 42"/>
          <p:cNvSpPr/>
          <p:nvPr/>
        </p:nvSpPr>
        <p:spPr>
          <a:xfrm>
            <a:off x="8293608" y="5486400"/>
            <a:ext cx="73152" cy="73152"/>
          </a:xfrm>
          <a:prstGeom prst="ellipse">
            <a:avLst/>
          </a:prstGeom>
          <a:solidFill>
            <a:srgbClr val="0D7043">
              <a:alpha val="70000"/>
            </a:srgbClr>
          </a:solidFill>
          <a:ln/>
        </p:spPr>
      </p:sp>
      <p:sp>
        <p:nvSpPr>
          <p:cNvPr id="54" name="Shape 43"/>
          <p:cNvSpPr/>
          <p:nvPr/>
        </p:nvSpPr>
        <p:spPr>
          <a:xfrm>
            <a:off x="8677656" y="5486400"/>
            <a:ext cx="73152" cy="73152"/>
          </a:xfrm>
          <a:prstGeom prst="ellipse">
            <a:avLst/>
          </a:prstGeom>
          <a:solidFill>
            <a:srgbClr val="0D7043">
              <a:alpha val="70000"/>
            </a:srgbClr>
          </a:solidFill>
          <a:ln/>
        </p:spPr>
      </p:sp>
      <p:sp>
        <p:nvSpPr>
          <p:cNvPr id="55" name="Shape 44"/>
          <p:cNvSpPr/>
          <p:nvPr/>
        </p:nvSpPr>
        <p:spPr>
          <a:xfrm>
            <a:off x="9061704" y="5486400"/>
            <a:ext cx="73152" cy="73152"/>
          </a:xfrm>
          <a:prstGeom prst="ellipse">
            <a:avLst/>
          </a:prstGeom>
          <a:solidFill>
            <a:srgbClr val="0D7043">
              <a:alpha val="70000"/>
            </a:srgbClr>
          </a:solidFill>
          <a:ln/>
        </p:spPr>
      </p:sp>
      <p:sp>
        <p:nvSpPr>
          <p:cNvPr id="56" name="Shape 45"/>
          <p:cNvSpPr/>
          <p:nvPr/>
        </p:nvSpPr>
        <p:spPr>
          <a:xfrm>
            <a:off x="9445752" y="5486400"/>
            <a:ext cx="73152" cy="73152"/>
          </a:xfrm>
          <a:prstGeom prst="ellipse">
            <a:avLst/>
          </a:prstGeom>
          <a:solidFill>
            <a:srgbClr val="0D7043">
              <a:alpha val="70000"/>
            </a:srgbClr>
          </a:solidFill>
          <a:ln/>
        </p:spPr>
      </p:sp>
      <p:sp>
        <p:nvSpPr>
          <p:cNvPr id="57" name="Shape 46"/>
          <p:cNvSpPr/>
          <p:nvPr/>
        </p:nvSpPr>
        <p:spPr>
          <a:xfrm>
            <a:off x="9829800" y="5486400"/>
            <a:ext cx="73152" cy="73152"/>
          </a:xfrm>
          <a:prstGeom prst="ellipse">
            <a:avLst/>
          </a:prstGeom>
          <a:solidFill>
            <a:srgbClr val="0D7043">
              <a:alpha val="70000"/>
            </a:srgbClr>
          </a:solidFill>
          <a:ln/>
        </p:spPr>
      </p:sp>
      <p:sp>
        <p:nvSpPr>
          <p:cNvPr id="58" name="Shape 47"/>
          <p:cNvSpPr/>
          <p:nvPr/>
        </p:nvSpPr>
        <p:spPr>
          <a:xfrm>
            <a:off x="10213848" y="5486400"/>
            <a:ext cx="73152" cy="73152"/>
          </a:xfrm>
          <a:prstGeom prst="ellipse">
            <a:avLst/>
          </a:prstGeom>
          <a:solidFill>
            <a:srgbClr val="0D7043">
              <a:alpha val="70000"/>
            </a:srgbClr>
          </a:solidFill>
          <a:ln/>
        </p:spPr>
      </p:sp>
      <p:sp>
        <p:nvSpPr>
          <p:cNvPr id="59" name="Shape 48"/>
          <p:cNvSpPr/>
          <p:nvPr/>
        </p:nvSpPr>
        <p:spPr>
          <a:xfrm>
            <a:off x="10597896" y="5486400"/>
            <a:ext cx="73152" cy="73152"/>
          </a:xfrm>
          <a:prstGeom prst="ellipse">
            <a:avLst/>
          </a:prstGeom>
          <a:solidFill>
            <a:srgbClr val="0D7043">
              <a:alpha val="70000"/>
            </a:srgbClr>
          </a:solidFill>
          <a:ln/>
        </p:spPr>
      </p:sp>
      <p:sp>
        <p:nvSpPr>
          <p:cNvPr id="60" name="Shape 49"/>
          <p:cNvSpPr/>
          <p:nvPr/>
        </p:nvSpPr>
        <p:spPr>
          <a:xfrm>
            <a:off x="7909560" y="5852160"/>
            <a:ext cx="73152" cy="73152"/>
          </a:xfrm>
          <a:prstGeom prst="ellipse">
            <a:avLst/>
          </a:prstGeom>
          <a:solidFill>
            <a:srgbClr val="0D7043">
              <a:alpha val="70000"/>
            </a:srgbClr>
          </a:solidFill>
          <a:ln/>
        </p:spPr>
      </p:sp>
      <p:sp>
        <p:nvSpPr>
          <p:cNvPr id="61" name="Shape 50"/>
          <p:cNvSpPr/>
          <p:nvPr/>
        </p:nvSpPr>
        <p:spPr>
          <a:xfrm>
            <a:off x="8293608" y="5852160"/>
            <a:ext cx="73152" cy="73152"/>
          </a:xfrm>
          <a:prstGeom prst="ellipse">
            <a:avLst/>
          </a:prstGeom>
          <a:solidFill>
            <a:srgbClr val="0D7043">
              <a:alpha val="70000"/>
            </a:srgbClr>
          </a:solidFill>
          <a:ln/>
        </p:spPr>
      </p:sp>
      <p:sp>
        <p:nvSpPr>
          <p:cNvPr id="62" name="Shape 51"/>
          <p:cNvSpPr/>
          <p:nvPr/>
        </p:nvSpPr>
        <p:spPr>
          <a:xfrm>
            <a:off x="8677656" y="5852160"/>
            <a:ext cx="73152" cy="73152"/>
          </a:xfrm>
          <a:prstGeom prst="ellipse">
            <a:avLst/>
          </a:prstGeom>
          <a:solidFill>
            <a:srgbClr val="0D7043">
              <a:alpha val="70000"/>
            </a:srgbClr>
          </a:solidFill>
          <a:ln/>
        </p:spPr>
      </p:sp>
      <p:sp>
        <p:nvSpPr>
          <p:cNvPr id="63" name="Shape 52"/>
          <p:cNvSpPr/>
          <p:nvPr/>
        </p:nvSpPr>
        <p:spPr>
          <a:xfrm>
            <a:off x="9061704" y="5852160"/>
            <a:ext cx="73152" cy="73152"/>
          </a:xfrm>
          <a:prstGeom prst="ellipse">
            <a:avLst/>
          </a:prstGeom>
          <a:solidFill>
            <a:srgbClr val="0D7043">
              <a:alpha val="70000"/>
            </a:srgbClr>
          </a:solidFill>
          <a:ln/>
        </p:spPr>
      </p:sp>
      <p:sp>
        <p:nvSpPr>
          <p:cNvPr id="64" name="Shape 53"/>
          <p:cNvSpPr/>
          <p:nvPr/>
        </p:nvSpPr>
        <p:spPr>
          <a:xfrm>
            <a:off x="9445752" y="5852160"/>
            <a:ext cx="73152" cy="73152"/>
          </a:xfrm>
          <a:prstGeom prst="ellipse">
            <a:avLst/>
          </a:prstGeom>
          <a:solidFill>
            <a:srgbClr val="0D7043">
              <a:alpha val="70000"/>
            </a:srgbClr>
          </a:solidFill>
          <a:ln/>
        </p:spPr>
      </p:sp>
      <p:sp>
        <p:nvSpPr>
          <p:cNvPr id="65" name="Shape 54"/>
          <p:cNvSpPr/>
          <p:nvPr/>
        </p:nvSpPr>
        <p:spPr>
          <a:xfrm>
            <a:off x="9829800" y="5852160"/>
            <a:ext cx="73152" cy="73152"/>
          </a:xfrm>
          <a:prstGeom prst="ellipse">
            <a:avLst/>
          </a:prstGeom>
          <a:solidFill>
            <a:srgbClr val="0D7043">
              <a:alpha val="70000"/>
            </a:srgbClr>
          </a:solidFill>
          <a:ln/>
        </p:spPr>
      </p:sp>
      <p:sp>
        <p:nvSpPr>
          <p:cNvPr id="66" name="Shape 55"/>
          <p:cNvSpPr/>
          <p:nvPr/>
        </p:nvSpPr>
        <p:spPr>
          <a:xfrm>
            <a:off x="10213848" y="5852160"/>
            <a:ext cx="73152" cy="73152"/>
          </a:xfrm>
          <a:prstGeom prst="ellipse">
            <a:avLst/>
          </a:prstGeom>
          <a:solidFill>
            <a:srgbClr val="0D7043">
              <a:alpha val="70000"/>
            </a:srgbClr>
          </a:solidFill>
          <a:ln/>
        </p:spPr>
      </p:sp>
      <p:sp>
        <p:nvSpPr>
          <p:cNvPr id="67" name="Shape 56"/>
          <p:cNvSpPr/>
          <p:nvPr/>
        </p:nvSpPr>
        <p:spPr>
          <a:xfrm>
            <a:off x="10597896" y="5852160"/>
            <a:ext cx="73152" cy="73152"/>
          </a:xfrm>
          <a:prstGeom prst="ellipse">
            <a:avLst/>
          </a:prstGeom>
          <a:solidFill>
            <a:srgbClr val="0D7043">
              <a:alpha val="70000"/>
            </a:srgbClr>
          </a:solidFill>
          <a:ln/>
        </p:spPr>
      </p:sp>
      <p:sp>
        <p:nvSpPr>
          <p:cNvPr id="68" name="Text 57"/>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Visual Devices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Buttons, UI &amp; Elements</a:t>
            </a:r>
            <a:endParaRPr lang="en-US" sz="1100" dirty="0"/>
          </a:p>
        </p:txBody>
      </p:sp>
      <p:sp>
        <p:nvSpPr>
          <p:cNvPr id="4" name="Text 2"/>
          <p:cNvSpPr/>
          <p:nvPr/>
        </p:nvSpPr>
        <p:spPr>
          <a:xfrm>
            <a:off x="457200" y="1005840"/>
            <a:ext cx="3200400" cy="274320"/>
          </a:xfrm>
          <a:prstGeom prst="rect">
            <a:avLst/>
          </a:prstGeom>
          <a:noFill/>
          <a:ln/>
        </p:spPr>
        <p:txBody>
          <a:bodyPr wrap="square" lIns="0" tIns="0" rIns="0" bIns="0" rtlCol="0" anchor="ctr"/>
          <a:lstStyle/>
          <a:p>
            <a:pPr indent="0" marL="0">
              <a:buNone/>
            </a:pPr>
            <a:r>
              <a:rPr lang="en-US" sz="1000" b="1" spc="100" kern="0" dirty="0">
                <a:solidFill>
                  <a:srgbClr val="66756D"/>
                </a:solidFill>
                <a:latin typeface="Inter" pitchFamily="34" charset="0"/>
                <a:ea typeface="Inter" pitchFamily="34" charset="-122"/>
                <a:cs typeface="Inter" pitchFamily="34" charset="-120"/>
              </a:rPr>
              <a:t>BUTTON STYLES</a:t>
            </a:r>
            <a:endParaRPr lang="en-US" sz="1000" dirty="0"/>
          </a:p>
        </p:txBody>
      </p:sp>
      <p:sp>
        <p:nvSpPr>
          <p:cNvPr id="5" name="Shape 3"/>
          <p:cNvSpPr/>
          <p:nvPr/>
        </p:nvSpPr>
        <p:spPr>
          <a:xfrm>
            <a:off x="457200" y="1371600"/>
            <a:ext cx="2834640" cy="502920"/>
          </a:xfrm>
          <a:prstGeom prst="roundRect">
            <a:avLst>
              <a:gd name="adj" fmla="val 50909"/>
            </a:avLst>
          </a:prstGeom>
          <a:solidFill>
            <a:srgbClr val="0D7043"/>
          </a:solidFill>
          <a:ln/>
        </p:spPr>
      </p:sp>
      <p:sp>
        <p:nvSpPr>
          <p:cNvPr id="6" name="Text 4"/>
          <p:cNvSpPr/>
          <p:nvPr/>
        </p:nvSpPr>
        <p:spPr>
          <a:xfrm>
            <a:off x="457200" y="1371600"/>
            <a:ext cx="283464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Inter" pitchFamily="34" charset="0"/>
                <a:ea typeface="Inter" pitchFamily="34" charset="-122"/>
                <a:cs typeface="Inter" pitchFamily="34" charset="-120"/>
              </a:rPr>
              <a:t>Primary Button</a:t>
            </a:r>
            <a:endParaRPr lang="en-US" sz="1150" dirty="0"/>
          </a:p>
        </p:txBody>
      </p:sp>
      <p:sp>
        <p:nvSpPr>
          <p:cNvPr id="7" name="Shape 5"/>
          <p:cNvSpPr/>
          <p:nvPr/>
        </p:nvSpPr>
        <p:spPr>
          <a:xfrm>
            <a:off x="457200" y="2011680"/>
            <a:ext cx="2834640" cy="502920"/>
          </a:xfrm>
          <a:prstGeom prst="roundRect">
            <a:avLst>
              <a:gd name="adj" fmla="val 50909"/>
            </a:avLst>
          </a:prstGeom>
          <a:solidFill>
            <a:srgbClr val="48B855"/>
          </a:solidFill>
          <a:ln/>
        </p:spPr>
      </p:sp>
      <p:sp>
        <p:nvSpPr>
          <p:cNvPr id="8" name="Text 6"/>
          <p:cNvSpPr/>
          <p:nvPr/>
        </p:nvSpPr>
        <p:spPr>
          <a:xfrm>
            <a:off x="457200" y="2011680"/>
            <a:ext cx="2834640" cy="502920"/>
          </a:xfrm>
          <a:prstGeom prst="rect">
            <a:avLst/>
          </a:prstGeom>
          <a:noFill/>
          <a:ln/>
        </p:spPr>
        <p:txBody>
          <a:bodyPr wrap="square" lIns="0" tIns="0" rIns="0" bIns="0" rtlCol="0" anchor="ctr"/>
          <a:lstStyle/>
          <a:p>
            <a:pPr algn="ctr" indent="0" marL="0">
              <a:buNone/>
            </a:pPr>
            <a:r>
              <a:rPr lang="en-US" sz="1150" dirty="0">
                <a:solidFill>
                  <a:srgbClr val="0F5B37"/>
                </a:solidFill>
                <a:latin typeface="Inter" pitchFamily="34" charset="0"/>
                <a:ea typeface="Inter" pitchFamily="34" charset="-122"/>
                <a:cs typeface="Inter" pitchFamily="34" charset="-120"/>
              </a:rPr>
              <a:t>Secondary Button</a:t>
            </a:r>
            <a:endParaRPr lang="en-US" sz="1150" dirty="0"/>
          </a:p>
        </p:txBody>
      </p:sp>
      <p:sp>
        <p:nvSpPr>
          <p:cNvPr id="9" name="Shape 7"/>
          <p:cNvSpPr/>
          <p:nvPr/>
        </p:nvSpPr>
        <p:spPr>
          <a:xfrm>
            <a:off x="457200" y="2651760"/>
            <a:ext cx="2834640" cy="502920"/>
          </a:xfrm>
          <a:prstGeom prst="roundRect">
            <a:avLst>
              <a:gd name="adj" fmla="val 50909"/>
            </a:avLst>
          </a:prstGeom>
          <a:solidFill>
            <a:srgbClr val="FFFFFF"/>
          </a:solidFill>
          <a:ln w="15875">
            <a:solidFill>
              <a:srgbClr val="0D7043"/>
            </a:solidFill>
            <a:prstDash val="solid"/>
          </a:ln>
        </p:spPr>
      </p:sp>
      <p:sp>
        <p:nvSpPr>
          <p:cNvPr id="10" name="Text 8"/>
          <p:cNvSpPr/>
          <p:nvPr/>
        </p:nvSpPr>
        <p:spPr>
          <a:xfrm>
            <a:off x="457200" y="2651760"/>
            <a:ext cx="2834640" cy="502920"/>
          </a:xfrm>
          <a:prstGeom prst="rect">
            <a:avLst/>
          </a:prstGeom>
          <a:noFill/>
          <a:ln/>
        </p:spPr>
        <p:txBody>
          <a:bodyPr wrap="square" lIns="0" tIns="0" rIns="0" bIns="0" rtlCol="0" anchor="ctr"/>
          <a:lstStyle/>
          <a:p>
            <a:pPr algn="ctr" indent="0" marL="0">
              <a:buNone/>
            </a:pPr>
            <a:r>
              <a:rPr lang="en-US" sz="1150" dirty="0">
                <a:solidFill>
                  <a:srgbClr val="0D7043"/>
                </a:solidFill>
                <a:latin typeface="Inter" pitchFamily="34" charset="0"/>
                <a:ea typeface="Inter" pitchFamily="34" charset="-122"/>
                <a:cs typeface="Inter" pitchFamily="34" charset="-120"/>
              </a:rPr>
              <a:t>Tertiary Button</a:t>
            </a:r>
            <a:endParaRPr lang="en-US" sz="1150" dirty="0"/>
          </a:p>
        </p:txBody>
      </p:sp>
      <p:sp>
        <p:nvSpPr>
          <p:cNvPr id="11" name="Text 9"/>
          <p:cNvSpPr/>
          <p:nvPr/>
        </p:nvSpPr>
        <p:spPr>
          <a:xfrm>
            <a:off x="457200" y="3429000"/>
            <a:ext cx="3200400" cy="274320"/>
          </a:xfrm>
          <a:prstGeom prst="rect">
            <a:avLst/>
          </a:prstGeom>
          <a:noFill/>
          <a:ln/>
        </p:spPr>
        <p:txBody>
          <a:bodyPr wrap="square" lIns="0" tIns="0" rIns="0" bIns="0" rtlCol="0" anchor="ctr"/>
          <a:lstStyle/>
          <a:p>
            <a:pPr indent="0" marL="0">
              <a:buNone/>
            </a:pPr>
            <a:r>
              <a:rPr lang="en-US" sz="1000" b="1" spc="100" kern="0" dirty="0">
                <a:solidFill>
                  <a:srgbClr val="66756D"/>
                </a:solidFill>
                <a:latin typeface="Inter" pitchFamily="34" charset="0"/>
                <a:ea typeface="Inter" pitchFamily="34" charset="-122"/>
                <a:cs typeface="Inter" pitchFamily="34" charset="-120"/>
              </a:rPr>
              <a:t>BADGES &amp; TAGS</a:t>
            </a:r>
            <a:endParaRPr lang="en-US" sz="1000" dirty="0"/>
          </a:p>
        </p:txBody>
      </p:sp>
      <p:sp>
        <p:nvSpPr>
          <p:cNvPr id="12" name="Shape 10"/>
          <p:cNvSpPr/>
          <p:nvPr/>
        </p:nvSpPr>
        <p:spPr>
          <a:xfrm>
            <a:off x="457200" y="3749040"/>
            <a:ext cx="502920" cy="502920"/>
          </a:xfrm>
          <a:prstGeom prst="ellipse">
            <a:avLst/>
          </a:prstGeom>
          <a:solidFill>
            <a:srgbClr val="FFFFFF"/>
          </a:solidFill>
          <a:ln w="19050">
            <a:solidFill>
              <a:srgbClr val="0D7043"/>
            </a:solidFill>
            <a:prstDash val="solid"/>
          </a:ln>
        </p:spPr>
      </p:sp>
      <p:pic>
        <p:nvPicPr>
          <p:cNvPr id="13" name="Image 0" descr="assets/icons/check_green.png">    </p:cNvPr>
          <p:cNvPicPr>
            <a:picLocks noChangeAspect="1"/>
          </p:cNvPicPr>
          <p:nvPr/>
        </p:nvPicPr>
        <p:blipFill>
          <a:blip r:embed="rId1"/>
          <a:stretch>
            <a:fillRect/>
          </a:stretch>
        </p:blipFill>
        <p:spPr>
          <a:xfrm>
            <a:off x="576072" y="3867912"/>
            <a:ext cx="265176" cy="265176"/>
          </a:xfrm>
          <a:prstGeom prst="rect">
            <a:avLst/>
          </a:prstGeom>
        </p:spPr>
      </p:pic>
      <p:sp>
        <p:nvSpPr>
          <p:cNvPr id="14" name="Shape 11"/>
          <p:cNvSpPr/>
          <p:nvPr/>
        </p:nvSpPr>
        <p:spPr>
          <a:xfrm>
            <a:off x="1115568" y="3749040"/>
            <a:ext cx="502920" cy="502920"/>
          </a:xfrm>
          <a:prstGeom prst="ellipse">
            <a:avLst/>
          </a:prstGeom>
          <a:solidFill>
            <a:srgbClr val="FFFFFF"/>
          </a:solidFill>
          <a:ln w="19050">
            <a:solidFill>
              <a:srgbClr val="B5D60C"/>
            </a:solidFill>
            <a:prstDash val="solid"/>
          </a:ln>
        </p:spPr>
      </p:sp>
      <p:pic>
        <p:nvPicPr>
          <p:cNvPr id="15" name="Image 1" descr="assets/icons/star_gold.png">    </p:cNvPr>
          <p:cNvPicPr>
            <a:picLocks noChangeAspect="1"/>
          </p:cNvPicPr>
          <p:nvPr/>
        </p:nvPicPr>
        <p:blipFill>
          <a:blip r:embed="rId2"/>
          <a:stretch>
            <a:fillRect/>
          </a:stretch>
        </p:blipFill>
        <p:spPr>
          <a:xfrm>
            <a:off x="1234440" y="3867912"/>
            <a:ext cx="265176" cy="265176"/>
          </a:xfrm>
          <a:prstGeom prst="rect">
            <a:avLst/>
          </a:prstGeom>
        </p:spPr>
      </p:pic>
      <p:sp>
        <p:nvSpPr>
          <p:cNvPr id="16" name="Shape 12"/>
          <p:cNvSpPr/>
          <p:nvPr/>
        </p:nvSpPr>
        <p:spPr>
          <a:xfrm>
            <a:off x="1773936" y="3749040"/>
            <a:ext cx="502920" cy="502920"/>
          </a:xfrm>
          <a:prstGeom prst="ellipse">
            <a:avLst/>
          </a:prstGeom>
          <a:solidFill>
            <a:srgbClr val="FFFFFF"/>
          </a:solidFill>
          <a:ln w="19050">
            <a:solidFill>
              <a:srgbClr val="48B855"/>
            </a:solidFill>
            <a:prstDash val="solid"/>
          </a:ln>
        </p:spPr>
      </p:sp>
      <p:pic>
        <p:nvPicPr>
          <p:cNvPr id="17" name="Image 2" descr="assets/icons/leaf_gold.png">    </p:cNvPr>
          <p:cNvPicPr>
            <a:picLocks noChangeAspect="1"/>
          </p:cNvPicPr>
          <p:nvPr/>
        </p:nvPicPr>
        <p:blipFill>
          <a:blip r:embed="rId3"/>
          <a:stretch>
            <a:fillRect/>
          </a:stretch>
        </p:blipFill>
        <p:spPr>
          <a:xfrm>
            <a:off x="1892808" y="3867912"/>
            <a:ext cx="265176" cy="265176"/>
          </a:xfrm>
          <a:prstGeom prst="rect">
            <a:avLst/>
          </a:prstGeom>
        </p:spPr>
      </p:pic>
      <p:sp>
        <p:nvSpPr>
          <p:cNvPr id="18" name="Shape 13"/>
          <p:cNvSpPr/>
          <p:nvPr/>
        </p:nvSpPr>
        <p:spPr>
          <a:xfrm>
            <a:off x="457200" y="4434840"/>
            <a:ext cx="1144829" cy="384048"/>
          </a:xfrm>
          <a:prstGeom prst="roundRect">
            <a:avLst>
              <a:gd name="adj" fmla="val 50000"/>
            </a:avLst>
          </a:prstGeom>
          <a:solidFill>
            <a:srgbClr val="0D7043"/>
          </a:solidFill>
          <a:ln/>
        </p:spPr>
      </p:sp>
      <p:sp>
        <p:nvSpPr>
          <p:cNvPr id="19" name="Text 14"/>
          <p:cNvSpPr/>
          <p:nvPr/>
        </p:nvSpPr>
        <p:spPr>
          <a:xfrm>
            <a:off x="457200" y="4434840"/>
            <a:ext cx="1144829" cy="384048"/>
          </a:xfrm>
          <a:prstGeom prst="rect">
            <a:avLst/>
          </a:prstGeom>
          <a:noFill/>
          <a:ln/>
        </p:spPr>
        <p:txBody>
          <a:bodyPr wrap="square" lIns="0" tIns="0" rIns="0" bIns="0" rtlCol="0" anchor="ctr"/>
          <a:lstStyle/>
          <a:p>
            <a:pPr algn="ctr" indent="0" marL="0">
              <a:buNone/>
            </a:pPr>
            <a:r>
              <a:rPr lang="en-US" sz="950" dirty="0">
                <a:solidFill>
                  <a:srgbClr val="FFFFFF"/>
                </a:solidFill>
                <a:latin typeface="Inter" pitchFamily="34" charset="0"/>
                <a:ea typeface="Inter" pitchFamily="34" charset="-122"/>
                <a:cs typeface="Inter" pitchFamily="34" charset="-120"/>
              </a:rPr>
              <a:t>Engineering</a:t>
            </a:r>
            <a:endParaRPr lang="en-US" sz="950" dirty="0"/>
          </a:p>
        </p:txBody>
      </p:sp>
      <p:sp>
        <p:nvSpPr>
          <p:cNvPr id="20" name="Shape 15"/>
          <p:cNvSpPr/>
          <p:nvPr/>
        </p:nvSpPr>
        <p:spPr>
          <a:xfrm>
            <a:off x="457200" y="4937760"/>
            <a:ext cx="1069848" cy="384048"/>
          </a:xfrm>
          <a:prstGeom prst="roundRect">
            <a:avLst>
              <a:gd name="adj" fmla="val 50000"/>
            </a:avLst>
          </a:prstGeom>
          <a:solidFill>
            <a:srgbClr val="48B855"/>
          </a:solidFill>
          <a:ln/>
        </p:spPr>
      </p:sp>
      <p:sp>
        <p:nvSpPr>
          <p:cNvPr id="21" name="Text 16"/>
          <p:cNvSpPr/>
          <p:nvPr/>
        </p:nvSpPr>
        <p:spPr>
          <a:xfrm>
            <a:off x="457200" y="4937760"/>
            <a:ext cx="1069848" cy="384048"/>
          </a:xfrm>
          <a:prstGeom prst="rect">
            <a:avLst/>
          </a:prstGeom>
          <a:noFill/>
          <a:ln/>
        </p:spPr>
        <p:txBody>
          <a:bodyPr wrap="square" lIns="0" tIns="0" rIns="0" bIns="0" rtlCol="0" anchor="ctr"/>
          <a:lstStyle/>
          <a:p>
            <a:pPr algn="ctr" indent="0" marL="0">
              <a:buNone/>
            </a:pPr>
            <a:r>
              <a:rPr lang="en-US" sz="950" dirty="0">
                <a:solidFill>
                  <a:srgbClr val="0F5B37"/>
                </a:solidFill>
                <a:latin typeface="Inter" pitchFamily="34" charset="0"/>
                <a:ea typeface="Inter" pitchFamily="34" charset="-122"/>
                <a:cs typeface="Inter" pitchFamily="34" charset="-120"/>
              </a:rPr>
              <a:t>Innovation</a:t>
            </a:r>
            <a:endParaRPr lang="en-US" sz="950" dirty="0"/>
          </a:p>
        </p:txBody>
      </p:sp>
      <p:sp>
        <p:nvSpPr>
          <p:cNvPr id="22" name="Shape 17"/>
          <p:cNvSpPr/>
          <p:nvPr/>
        </p:nvSpPr>
        <p:spPr>
          <a:xfrm>
            <a:off x="457200" y="5440680"/>
            <a:ext cx="1369771" cy="384048"/>
          </a:xfrm>
          <a:prstGeom prst="roundRect">
            <a:avLst>
              <a:gd name="adj" fmla="val 50000"/>
            </a:avLst>
          </a:prstGeom>
          <a:solidFill>
            <a:srgbClr val="E8F4EE"/>
          </a:solidFill>
          <a:ln/>
        </p:spPr>
      </p:sp>
      <p:sp>
        <p:nvSpPr>
          <p:cNvPr id="23" name="Text 18"/>
          <p:cNvSpPr/>
          <p:nvPr/>
        </p:nvSpPr>
        <p:spPr>
          <a:xfrm>
            <a:off x="457200" y="5440680"/>
            <a:ext cx="1369771" cy="384048"/>
          </a:xfrm>
          <a:prstGeom prst="rect">
            <a:avLst/>
          </a:prstGeom>
          <a:noFill/>
          <a:ln/>
        </p:spPr>
        <p:txBody>
          <a:bodyPr wrap="square" lIns="0" tIns="0" rIns="0" bIns="0" rtlCol="0" anchor="ctr"/>
          <a:lstStyle/>
          <a:p>
            <a:pPr algn="ctr" indent="0" marL="0">
              <a:buNone/>
            </a:pPr>
            <a:r>
              <a:rPr lang="en-US" sz="950" dirty="0">
                <a:solidFill>
                  <a:srgbClr val="18231E"/>
                </a:solidFill>
                <a:latin typeface="Inter" pitchFamily="34" charset="0"/>
                <a:ea typeface="Inter" pitchFamily="34" charset="-122"/>
                <a:cs typeface="Inter" pitchFamily="34" charset="-120"/>
              </a:rPr>
              <a:t>Sustainability</a:t>
            </a:r>
            <a:endParaRPr lang="en-US" sz="950" dirty="0"/>
          </a:p>
        </p:txBody>
      </p:sp>
      <p:sp>
        <p:nvSpPr>
          <p:cNvPr id="24" name="Text 19"/>
          <p:cNvSpPr/>
          <p:nvPr/>
        </p:nvSpPr>
        <p:spPr>
          <a:xfrm>
            <a:off x="3657600" y="1005840"/>
            <a:ext cx="3200400" cy="274320"/>
          </a:xfrm>
          <a:prstGeom prst="rect">
            <a:avLst/>
          </a:prstGeom>
          <a:noFill/>
          <a:ln/>
        </p:spPr>
        <p:txBody>
          <a:bodyPr wrap="square" lIns="0" tIns="0" rIns="0" bIns="0" rtlCol="0" anchor="ctr"/>
          <a:lstStyle/>
          <a:p>
            <a:pPr indent="0" marL="0">
              <a:buNone/>
            </a:pPr>
            <a:r>
              <a:rPr lang="en-US" sz="1000" b="1" spc="100" kern="0" dirty="0">
                <a:solidFill>
                  <a:srgbClr val="66756D"/>
                </a:solidFill>
                <a:latin typeface="Inter" pitchFamily="34" charset="0"/>
                <a:ea typeface="Inter" pitchFamily="34" charset="-122"/>
                <a:cs typeface="Inter" pitchFamily="34" charset="-120"/>
              </a:rPr>
              <a:t>UI ELEMENTS</a:t>
            </a:r>
            <a:endParaRPr lang="en-US" sz="1000" dirty="0"/>
          </a:p>
        </p:txBody>
      </p:sp>
      <p:sp>
        <p:nvSpPr>
          <p:cNvPr id="25" name="Shape 20"/>
          <p:cNvSpPr/>
          <p:nvPr/>
        </p:nvSpPr>
        <p:spPr>
          <a:xfrm>
            <a:off x="3657600" y="1417320"/>
            <a:ext cx="256032" cy="256032"/>
          </a:xfrm>
          <a:prstGeom prst="roundRect">
            <a:avLst>
              <a:gd name="adj" fmla="val 17857"/>
            </a:avLst>
          </a:prstGeom>
          <a:solidFill>
            <a:srgbClr val="0D7043"/>
          </a:solidFill>
          <a:ln/>
        </p:spPr>
      </p:sp>
      <p:pic>
        <p:nvPicPr>
          <p:cNvPr id="26" name="Image 3" descr="assets/icons/check_white.png">    </p:cNvPr>
          <p:cNvPicPr>
            <a:picLocks noChangeAspect="1"/>
          </p:cNvPicPr>
          <p:nvPr/>
        </p:nvPicPr>
        <p:blipFill>
          <a:blip r:embed="rId4"/>
          <a:stretch>
            <a:fillRect/>
          </a:stretch>
        </p:blipFill>
        <p:spPr>
          <a:xfrm>
            <a:off x="3712464" y="1472184"/>
            <a:ext cx="146304" cy="146304"/>
          </a:xfrm>
          <a:prstGeom prst="rect">
            <a:avLst/>
          </a:prstGeom>
        </p:spPr>
      </p:pic>
      <p:sp>
        <p:nvSpPr>
          <p:cNvPr id="27" name="Text 21"/>
          <p:cNvSpPr/>
          <p:nvPr/>
        </p:nvSpPr>
        <p:spPr>
          <a:xfrm>
            <a:off x="3977640" y="1399032"/>
            <a:ext cx="1828800" cy="292608"/>
          </a:xfrm>
          <a:prstGeom prst="rect">
            <a:avLst/>
          </a:prstGeom>
          <a:noFill/>
          <a:ln/>
        </p:spPr>
        <p:txBody>
          <a:bodyPr wrap="square" lIns="0" tIns="0" rIns="0" bIns="0" rtlCol="0" anchor="ctr"/>
          <a:lstStyle/>
          <a:p>
            <a:pPr indent="0" marL="0">
              <a:buNone/>
            </a:pPr>
            <a:r>
              <a:rPr lang="en-US" sz="1100" dirty="0">
                <a:solidFill>
                  <a:srgbClr val="18231E"/>
                </a:solidFill>
                <a:latin typeface="Inter" pitchFamily="34" charset="0"/>
                <a:ea typeface="Inter" pitchFamily="34" charset="-122"/>
                <a:cs typeface="Inter" pitchFamily="34" charset="-120"/>
              </a:rPr>
              <a:t>Checkbox</a:t>
            </a:r>
            <a:endParaRPr lang="en-US" sz="1100" dirty="0"/>
          </a:p>
        </p:txBody>
      </p:sp>
      <p:sp>
        <p:nvSpPr>
          <p:cNvPr id="28" name="Shape 22"/>
          <p:cNvSpPr/>
          <p:nvPr/>
        </p:nvSpPr>
        <p:spPr>
          <a:xfrm>
            <a:off x="3657600" y="1874520"/>
            <a:ext cx="237744" cy="237744"/>
          </a:xfrm>
          <a:prstGeom prst="ellipse">
            <a:avLst/>
          </a:prstGeom>
          <a:solidFill>
            <a:srgbClr val="FFFFFF"/>
          </a:solidFill>
          <a:ln w="19050">
            <a:solidFill>
              <a:srgbClr val="0D7043"/>
            </a:solidFill>
            <a:prstDash val="solid"/>
          </a:ln>
        </p:spPr>
      </p:sp>
      <p:sp>
        <p:nvSpPr>
          <p:cNvPr id="29" name="Text 23"/>
          <p:cNvSpPr/>
          <p:nvPr/>
        </p:nvSpPr>
        <p:spPr>
          <a:xfrm>
            <a:off x="3977640" y="1856232"/>
            <a:ext cx="2011680" cy="292608"/>
          </a:xfrm>
          <a:prstGeom prst="rect">
            <a:avLst/>
          </a:prstGeom>
          <a:noFill/>
          <a:ln/>
        </p:spPr>
        <p:txBody>
          <a:bodyPr wrap="square" lIns="0" tIns="0" rIns="0" bIns="0" rtlCol="0" anchor="ctr"/>
          <a:lstStyle/>
          <a:p>
            <a:pPr indent="0" marL="0">
              <a:buNone/>
            </a:pPr>
            <a:r>
              <a:rPr lang="en-US" sz="1100" dirty="0">
                <a:solidFill>
                  <a:srgbClr val="18231E"/>
                </a:solidFill>
                <a:latin typeface="Inter" pitchFamily="34" charset="0"/>
                <a:ea typeface="Inter" pitchFamily="34" charset="-122"/>
                <a:cs typeface="Inter" pitchFamily="34" charset="-120"/>
              </a:rPr>
              <a:t>Radio Button</a:t>
            </a:r>
            <a:endParaRPr lang="en-US" sz="1100" dirty="0"/>
          </a:p>
        </p:txBody>
      </p:sp>
      <p:sp>
        <p:nvSpPr>
          <p:cNvPr id="30" name="Shape 24"/>
          <p:cNvSpPr/>
          <p:nvPr/>
        </p:nvSpPr>
        <p:spPr>
          <a:xfrm>
            <a:off x="3657600" y="2331720"/>
            <a:ext cx="457200" cy="219456"/>
          </a:xfrm>
          <a:prstGeom prst="roundRect">
            <a:avLst>
              <a:gd name="adj" fmla="val 50000"/>
            </a:avLst>
          </a:prstGeom>
          <a:solidFill>
            <a:srgbClr val="0D7043"/>
          </a:solidFill>
          <a:ln/>
        </p:spPr>
      </p:sp>
      <p:sp>
        <p:nvSpPr>
          <p:cNvPr id="31" name="Shape 25"/>
          <p:cNvSpPr/>
          <p:nvPr/>
        </p:nvSpPr>
        <p:spPr>
          <a:xfrm>
            <a:off x="3858768" y="2350008"/>
            <a:ext cx="182880" cy="182880"/>
          </a:xfrm>
          <a:prstGeom prst="ellipse">
            <a:avLst/>
          </a:prstGeom>
          <a:solidFill>
            <a:srgbClr val="FFFFFF"/>
          </a:solidFill>
          <a:ln/>
        </p:spPr>
      </p:sp>
      <p:sp>
        <p:nvSpPr>
          <p:cNvPr id="32" name="Text 26"/>
          <p:cNvSpPr/>
          <p:nvPr/>
        </p:nvSpPr>
        <p:spPr>
          <a:xfrm>
            <a:off x="4251960" y="2295144"/>
            <a:ext cx="1828800" cy="292608"/>
          </a:xfrm>
          <a:prstGeom prst="rect">
            <a:avLst/>
          </a:prstGeom>
          <a:noFill/>
          <a:ln/>
        </p:spPr>
        <p:txBody>
          <a:bodyPr wrap="square" lIns="0" tIns="0" rIns="0" bIns="0" rtlCol="0" anchor="ctr"/>
          <a:lstStyle/>
          <a:p>
            <a:pPr indent="0" marL="0">
              <a:buNone/>
            </a:pPr>
            <a:r>
              <a:rPr lang="en-US" sz="1100" dirty="0">
                <a:solidFill>
                  <a:srgbClr val="18231E"/>
                </a:solidFill>
                <a:latin typeface="Inter" pitchFamily="34" charset="0"/>
                <a:ea typeface="Inter" pitchFamily="34" charset="-122"/>
                <a:cs typeface="Inter" pitchFamily="34" charset="-120"/>
              </a:rPr>
              <a:t>Toggle</a:t>
            </a:r>
            <a:endParaRPr lang="en-US" sz="1100" dirty="0"/>
          </a:p>
        </p:txBody>
      </p:sp>
      <p:sp>
        <p:nvSpPr>
          <p:cNvPr id="33" name="Shape 27"/>
          <p:cNvSpPr/>
          <p:nvPr/>
        </p:nvSpPr>
        <p:spPr>
          <a:xfrm>
            <a:off x="3657600" y="2788920"/>
            <a:ext cx="2926080" cy="384048"/>
          </a:xfrm>
          <a:prstGeom prst="roundRect">
            <a:avLst>
              <a:gd name="adj" fmla="val 11905"/>
            </a:avLst>
          </a:prstGeom>
          <a:solidFill>
            <a:srgbClr val="FFFFFF"/>
          </a:solidFill>
          <a:ln w="15875">
            <a:solidFill>
              <a:srgbClr val="E8F4EE"/>
            </a:solidFill>
            <a:prstDash val="solid"/>
          </a:ln>
        </p:spPr>
      </p:sp>
      <p:sp>
        <p:nvSpPr>
          <p:cNvPr id="34" name="Text 28"/>
          <p:cNvSpPr/>
          <p:nvPr/>
        </p:nvSpPr>
        <p:spPr>
          <a:xfrm>
            <a:off x="3794760" y="2788920"/>
            <a:ext cx="2743200" cy="384048"/>
          </a:xfrm>
          <a:prstGeom prst="rect">
            <a:avLst/>
          </a:prstGeom>
          <a:noFill/>
          <a:ln/>
        </p:spPr>
        <p:txBody>
          <a:bodyPr wrap="square" lIns="0" tIns="0" rIns="0" bIns="0" rtlCol="0" anchor="ctr"/>
          <a:lstStyle/>
          <a:p>
            <a:pPr indent="0" marL="0">
              <a:buNone/>
            </a:pPr>
            <a:r>
              <a:rPr lang="en-US" sz="1000" dirty="0">
                <a:solidFill>
                  <a:srgbClr val="66756D"/>
                </a:solidFill>
                <a:latin typeface="Inter" pitchFamily="34" charset="0"/>
                <a:ea typeface="Inter" pitchFamily="34" charset="-122"/>
                <a:cs typeface="Inter" pitchFamily="34" charset="-120"/>
              </a:rPr>
              <a:t>Text Input</a:t>
            </a:r>
            <a:endParaRPr lang="en-US" sz="1000" dirty="0"/>
          </a:p>
        </p:txBody>
      </p:sp>
      <p:sp>
        <p:nvSpPr>
          <p:cNvPr id="35" name="Shape 29"/>
          <p:cNvSpPr/>
          <p:nvPr/>
        </p:nvSpPr>
        <p:spPr>
          <a:xfrm>
            <a:off x="3657600" y="3291840"/>
            <a:ext cx="2926080" cy="384048"/>
          </a:xfrm>
          <a:prstGeom prst="roundRect">
            <a:avLst>
              <a:gd name="adj" fmla="val 11905"/>
            </a:avLst>
          </a:prstGeom>
          <a:solidFill>
            <a:srgbClr val="FFFFFF"/>
          </a:solidFill>
          <a:ln w="15875">
            <a:solidFill>
              <a:srgbClr val="E8F4EE"/>
            </a:solidFill>
            <a:prstDash val="solid"/>
          </a:ln>
        </p:spPr>
      </p:sp>
      <p:sp>
        <p:nvSpPr>
          <p:cNvPr id="36" name="Text 30"/>
          <p:cNvSpPr/>
          <p:nvPr/>
        </p:nvSpPr>
        <p:spPr>
          <a:xfrm>
            <a:off x="3794760" y="3291840"/>
            <a:ext cx="2743200" cy="384048"/>
          </a:xfrm>
          <a:prstGeom prst="rect">
            <a:avLst/>
          </a:prstGeom>
          <a:noFill/>
          <a:ln/>
        </p:spPr>
        <p:txBody>
          <a:bodyPr wrap="square" lIns="0" tIns="0" rIns="0" bIns="0" rtlCol="0" anchor="ctr"/>
          <a:lstStyle/>
          <a:p>
            <a:pPr indent="0" marL="0">
              <a:buNone/>
            </a:pPr>
            <a:r>
              <a:rPr lang="en-US" sz="1000" dirty="0">
                <a:solidFill>
                  <a:srgbClr val="66756D"/>
                </a:solidFill>
                <a:latin typeface="Inter" pitchFamily="34" charset="0"/>
                <a:ea typeface="Inter" pitchFamily="34" charset="-122"/>
                <a:cs typeface="Inter" pitchFamily="34" charset="-120"/>
              </a:rPr>
              <a:t>Dropdown  ▾</a:t>
            </a:r>
            <a:endParaRPr lang="en-US" sz="1000" dirty="0"/>
          </a:p>
        </p:txBody>
      </p:sp>
      <p:sp>
        <p:nvSpPr>
          <p:cNvPr id="37" name="Shape 31"/>
          <p:cNvSpPr/>
          <p:nvPr/>
        </p:nvSpPr>
        <p:spPr>
          <a:xfrm>
            <a:off x="3657600" y="3794760"/>
            <a:ext cx="2926080" cy="164592"/>
          </a:xfrm>
          <a:prstGeom prst="roundRect">
            <a:avLst>
              <a:gd name="adj" fmla="val 50000"/>
            </a:avLst>
          </a:prstGeom>
          <a:solidFill>
            <a:srgbClr val="E8F4EE"/>
          </a:solidFill>
          <a:ln/>
        </p:spPr>
      </p:sp>
      <p:sp>
        <p:nvSpPr>
          <p:cNvPr id="38" name="Shape 32"/>
          <p:cNvSpPr/>
          <p:nvPr/>
        </p:nvSpPr>
        <p:spPr>
          <a:xfrm>
            <a:off x="3657600" y="3794760"/>
            <a:ext cx="1737360" cy="164592"/>
          </a:xfrm>
          <a:prstGeom prst="roundRect">
            <a:avLst>
              <a:gd name="adj" fmla="val 50000"/>
            </a:avLst>
          </a:prstGeom>
          <a:solidFill>
            <a:srgbClr val="0D7043"/>
          </a:solidFill>
          <a:ln/>
        </p:spPr>
      </p:sp>
      <p:sp>
        <p:nvSpPr>
          <p:cNvPr id="39" name="Text 33"/>
          <p:cNvSpPr/>
          <p:nvPr/>
        </p:nvSpPr>
        <p:spPr>
          <a:xfrm>
            <a:off x="3657600" y="4041648"/>
            <a:ext cx="2926080" cy="274320"/>
          </a:xfrm>
          <a:prstGeom prst="rect">
            <a:avLst/>
          </a:prstGeom>
          <a:noFill/>
          <a:ln/>
        </p:spPr>
        <p:txBody>
          <a:bodyPr wrap="square" lIns="0" tIns="0" rIns="0" bIns="0" rtlCol="0" anchor="ctr"/>
          <a:lstStyle/>
          <a:p>
            <a:pPr indent="0" marL="0">
              <a:buNone/>
            </a:pPr>
            <a:r>
              <a:rPr lang="en-US" sz="900" i="1" dirty="0">
                <a:solidFill>
                  <a:srgbClr val="66756D"/>
                </a:solidFill>
                <a:latin typeface="Inter" pitchFamily="34" charset="0"/>
                <a:ea typeface="Inter" pitchFamily="34" charset="-122"/>
                <a:cs typeface="Inter" pitchFamily="34" charset="-120"/>
              </a:rPr>
              <a:t>Progress — 60%</a:t>
            </a:r>
            <a:endParaRPr lang="en-US" sz="900" dirty="0"/>
          </a:p>
        </p:txBody>
      </p:sp>
      <p:sp>
        <p:nvSpPr>
          <p:cNvPr id="40" name="Text 34"/>
          <p:cNvSpPr/>
          <p:nvPr/>
        </p:nvSpPr>
        <p:spPr>
          <a:xfrm>
            <a:off x="7223760" y="1005840"/>
            <a:ext cx="3200400" cy="274320"/>
          </a:xfrm>
          <a:prstGeom prst="rect">
            <a:avLst/>
          </a:prstGeom>
          <a:noFill/>
          <a:ln/>
        </p:spPr>
        <p:txBody>
          <a:bodyPr wrap="square" lIns="0" tIns="0" rIns="0" bIns="0" rtlCol="0" anchor="ctr"/>
          <a:lstStyle/>
          <a:p>
            <a:pPr indent="0" marL="0">
              <a:buNone/>
            </a:pPr>
            <a:r>
              <a:rPr lang="en-US" sz="1000" b="1" spc="100" kern="0" dirty="0">
                <a:solidFill>
                  <a:srgbClr val="66756D"/>
                </a:solidFill>
                <a:latin typeface="Inter" pitchFamily="34" charset="0"/>
                <a:ea typeface="Inter" pitchFamily="34" charset="-122"/>
                <a:cs typeface="Inter" pitchFamily="34" charset="-120"/>
              </a:rPr>
              <a:t>NUMBER BADGES</a:t>
            </a:r>
            <a:endParaRPr lang="en-US" sz="1000" dirty="0"/>
          </a:p>
        </p:txBody>
      </p:sp>
      <p:sp>
        <p:nvSpPr>
          <p:cNvPr id="41" name="Shape 35"/>
          <p:cNvSpPr/>
          <p:nvPr/>
        </p:nvSpPr>
        <p:spPr>
          <a:xfrm>
            <a:off x="7223760" y="1371600"/>
            <a:ext cx="502920" cy="502920"/>
          </a:xfrm>
          <a:prstGeom prst="ellipse">
            <a:avLst/>
          </a:prstGeom>
          <a:solidFill>
            <a:srgbClr val="0D7043"/>
          </a:solidFill>
          <a:ln/>
        </p:spPr>
      </p:sp>
      <p:sp>
        <p:nvSpPr>
          <p:cNvPr id="42" name="Text 36"/>
          <p:cNvSpPr/>
          <p:nvPr/>
        </p:nvSpPr>
        <p:spPr>
          <a:xfrm>
            <a:off x="7223760" y="13716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01</a:t>
            </a:r>
            <a:endParaRPr lang="en-US" sz="1200" dirty="0"/>
          </a:p>
        </p:txBody>
      </p:sp>
      <p:sp>
        <p:nvSpPr>
          <p:cNvPr id="43" name="Shape 37"/>
          <p:cNvSpPr/>
          <p:nvPr/>
        </p:nvSpPr>
        <p:spPr>
          <a:xfrm>
            <a:off x="7882128" y="1371600"/>
            <a:ext cx="502920" cy="502920"/>
          </a:xfrm>
          <a:prstGeom prst="ellipse">
            <a:avLst/>
          </a:prstGeom>
          <a:solidFill>
            <a:srgbClr val="48B855"/>
          </a:solidFill>
          <a:ln/>
        </p:spPr>
      </p:sp>
      <p:sp>
        <p:nvSpPr>
          <p:cNvPr id="44" name="Text 38"/>
          <p:cNvSpPr/>
          <p:nvPr/>
        </p:nvSpPr>
        <p:spPr>
          <a:xfrm>
            <a:off x="7882128" y="1371600"/>
            <a:ext cx="502920" cy="502920"/>
          </a:xfrm>
          <a:prstGeom prst="rect">
            <a:avLst/>
          </a:prstGeom>
          <a:noFill/>
          <a:ln/>
        </p:spPr>
        <p:txBody>
          <a:bodyPr wrap="square" lIns="0" tIns="0" rIns="0" bIns="0" rtlCol="0" anchor="ctr"/>
          <a:lstStyle/>
          <a:p>
            <a:pPr algn="ctr" indent="0" marL="0">
              <a:buNone/>
            </a:pPr>
            <a:r>
              <a:rPr lang="en-US" sz="1200" b="1" dirty="0">
                <a:solidFill>
                  <a:srgbClr val="0F5B37"/>
                </a:solidFill>
                <a:latin typeface="Inter" pitchFamily="34" charset="0"/>
                <a:ea typeface="Inter" pitchFamily="34" charset="-122"/>
                <a:cs typeface="Inter" pitchFamily="34" charset="-120"/>
              </a:rPr>
              <a:t>02</a:t>
            </a:r>
            <a:endParaRPr lang="en-US" sz="1200" dirty="0"/>
          </a:p>
        </p:txBody>
      </p:sp>
      <p:sp>
        <p:nvSpPr>
          <p:cNvPr id="45" name="Shape 39"/>
          <p:cNvSpPr/>
          <p:nvPr/>
        </p:nvSpPr>
        <p:spPr>
          <a:xfrm>
            <a:off x="8540496" y="1371600"/>
            <a:ext cx="502920" cy="502920"/>
          </a:xfrm>
          <a:prstGeom prst="ellipse">
            <a:avLst/>
          </a:prstGeom>
          <a:solidFill>
            <a:srgbClr val="B5D60C"/>
          </a:solidFill>
          <a:ln/>
        </p:spPr>
      </p:sp>
      <p:sp>
        <p:nvSpPr>
          <p:cNvPr id="46" name="Text 40"/>
          <p:cNvSpPr/>
          <p:nvPr/>
        </p:nvSpPr>
        <p:spPr>
          <a:xfrm>
            <a:off x="8540496" y="13716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03</a:t>
            </a:r>
            <a:endParaRPr lang="en-US" sz="1200" dirty="0"/>
          </a:p>
        </p:txBody>
      </p:sp>
      <p:sp>
        <p:nvSpPr>
          <p:cNvPr id="47" name="Text 41"/>
          <p:cNvSpPr/>
          <p:nvPr/>
        </p:nvSpPr>
        <p:spPr>
          <a:xfrm>
            <a:off x="7223760" y="2148840"/>
            <a:ext cx="1828800" cy="274320"/>
          </a:xfrm>
          <a:prstGeom prst="rect">
            <a:avLst/>
          </a:prstGeom>
          <a:noFill/>
          <a:ln/>
        </p:spPr>
        <p:txBody>
          <a:bodyPr wrap="square" lIns="0" tIns="0" rIns="0" bIns="0" rtlCol="0" anchor="ctr"/>
          <a:lstStyle/>
          <a:p>
            <a:pPr indent="0" marL="0">
              <a:buNone/>
            </a:pPr>
            <a:r>
              <a:rPr lang="en-US" sz="1000" b="1" spc="100" kern="0" dirty="0">
                <a:solidFill>
                  <a:srgbClr val="0D7043"/>
                </a:solidFill>
                <a:latin typeface="Inter" pitchFamily="34" charset="0"/>
                <a:ea typeface="Inter" pitchFamily="34" charset="-122"/>
                <a:cs typeface="Inter" pitchFamily="34" charset="-120"/>
              </a:rPr>
              <a:t>DO'S</a:t>
            </a:r>
            <a:endParaRPr lang="en-US" sz="1000" dirty="0"/>
          </a:p>
        </p:txBody>
      </p:sp>
      <p:sp>
        <p:nvSpPr>
          <p:cNvPr id="48" name="Text 42"/>
          <p:cNvSpPr/>
          <p:nvPr/>
        </p:nvSpPr>
        <p:spPr>
          <a:xfrm>
            <a:off x="7223760" y="2450592"/>
            <a:ext cx="4114800" cy="292608"/>
          </a:xfrm>
          <a:prstGeom prst="rect">
            <a:avLst/>
          </a:prstGeom>
          <a:noFill/>
          <a:ln/>
        </p:spPr>
        <p:txBody>
          <a:bodyPr wrap="square" lIns="0" tIns="0" rIns="0" bIns="0" rtlCol="0" anchor="ctr"/>
          <a:lstStyle/>
          <a:p>
            <a:pPr indent="0" marL="0">
              <a:buNone/>
            </a:pPr>
            <a:r>
              <a:rPr lang="en-US" sz="950" dirty="0">
                <a:solidFill>
                  <a:srgbClr val="18231E"/>
                </a:solidFill>
                <a:latin typeface="Inter" pitchFamily="34" charset="0"/>
                <a:ea typeface="Inter" pitchFamily="34" charset="-122"/>
                <a:cs typeface="Inter" pitchFamily="34" charset="-120"/>
              </a:rPr>
              <a:t>✓  Use green for authority &amp; trust</a:t>
            </a:r>
            <a:endParaRPr lang="en-US" sz="950" dirty="0"/>
          </a:p>
        </p:txBody>
      </p:sp>
      <p:sp>
        <p:nvSpPr>
          <p:cNvPr id="49" name="Text 43"/>
          <p:cNvSpPr/>
          <p:nvPr/>
        </p:nvSpPr>
        <p:spPr>
          <a:xfrm>
            <a:off x="7223760" y="2752344"/>
            <a:ext cx="4114800" cy="292608"/>
          </a:xfrm>
          <a:prstGeom prst="rect">
            <a:avLst/>
          </a:prstGeom>
          <a:noFill/>
          <a:ln/>
        </p:spPr>
        <p:txBody>
          <a:bodyPr wrap="square" lIns="0" tIns="0" rIns="0" bIns="0" rtlCol="0" anchor="ctr"/>
          <a:lstStyle/>
          <a:p>
            <a:pPr indent="0" marL="0">
              <a:buNone/>
            </a:pPr>
            <a:r>
              <a:rPr lang="en-US" sz="950" dirty="0">
                <a:solidFill>
                  <a:srgbClr val="18231E"/>
                </a:solidFill>
                <a:latin typeface="Inter" pitchFamily="34" charset="0"/>
                <a:ea typeface="Inter" pitchFamily="34" charset="-122"/>
                <a:cs typeface="Inter" pitchFamily="34" charset="-120"/>
              </a:rPr>
              <a:t>✓  Keep layouts clean &amp; spacious</a:t>
            </a:r>
            <a:endParaRPr lang="en-US" sz="950" dirty="0"/>
          </a:p>
        </p:txBody>
      </p:sp>
      <p:sp>
        <p:nvSpPr>
          <p:cNvPr id="50" name="Text 44"/>
          <p:cNvSpPr/>
          <p:nvPr/>
        </p:nvSpPr>
        <p:spPr>
          <a:xfrm>
            <a:off x="7223760" y="3054096"/>
            <a:ext cx="4114800" cy="292608"/>
          </a:xfrm>
          <a:prstGeom prst="rect">
            <a:avLst/>
          </a:prstGeom>
          <a:noFill/>
          <a:ln/>
        </p:spPr>
        <p:txBody>
          <a:bodyPr wrap="square" lIns="0" tIns="0" rIns="0" bIns="0" rtlCol="0" anchor="ctr"/>
          <a:lstStyle/>
          <a:p>
            <a:pPr indent="0" marL="0">
              <a:buNone/>
            </a:pPr>
            <a:r>
              <a:rPr lang="en-US" sz="950" dirty="0">
                <a:solidFill>
                  <a:srgbClr val="18231E"/>
                </a:solidFill>
                <a:latin typeface="Inter" pitchFamily="34" charset="0"/>
                <a:ea typeface="Inter" pitchFamily="34" charset="-122"/>
                <a:cs typeface="Inter" pitchFamily="34" charset="-120"/>
              </a:rPr>
              <a:t>✓  Highlight with lime sparingly</a:t>
            </a:r>
            <a:endParaRPr lang="en-US" sz="950" dirty="0"/>
          </a:p>
        </p:txBody>
      </p:sp>
      <p:sp>
        <p:nvSpPr>
          <p:cNvPr id="51" name="Text 45"/>
          <p:cNvSpPr/>
          <p:nvPr/>
        </p:nvSpPr>
        <p:spPr>
          <a:xfrm>
            <a:off x="7223760" y="3355848"/>
            <a:ext cx="4114800" cy="292608"/>
          </a:xfrm>
          <a:prstGeom prst="rect">
            <a:avLst/>
          </a:prstGeom>
          <a:noFill/>
          <a:ln/>
        </p:spPr>
        <p:txBody>
          <a:bodyPr wrap="square" lIns="0" tIns="0" rIns="0" bIns="0" rtlCol="0" anchor="ctr"/>
          <a:lstStyle/>
          <a:p>
            <a:pPr indent="0" marL="0">
              <a:buNone/>
            </a:pPr>
            <a:r>
              <a:rPr lang="en-US" sz="950" dirty="0">
                <a:solidFill>
                  <a:srgbClr val="18231E"/>
                </a:solidFill>
                <a:latin typeface="Inter" pitchFamily="34" charset="0"/>
                <a:ea typeface="Inter" pitchFamily="34" charset="-122"/>
                <a:cs typeface="Inter" pitchFamily="34" charset="-120"/>
              </a:rPr>
              <a:t>✓  Maintain strong contrast</a:t>
            </a:r>
            <a:endParaRPr lang="en-US" sz="950" dirty="0"/>
          </a:p>
        </p:txBody>
      </p:sp>
      <p:sp>
        <p:nvSpPr>
          <p:cNvPr id="52" name="Text 46"/>
          <p:cNvSpPr/>
          <p:nvPr/>
        </p:nvSpPr>
        <p:spPr>
          <a:xfrm>
            <a:off x="7223760" y="3794760"/>
            <a:ext cx="1828800" cy="274320"/>
          </a:xfrm>
          <a:prstGeom prst="rect">
            <a:avLst/>
          </a:prstGeom>
          <a:noFill/>
          <a:ln/>
        </p:spPr>
        <p:txBody>
          <a:bodyPr wrap="square" lIns="0" tIns="0" rIns="0" bIns="0" rtlCol="0" anchor="ctr"/>
          <a:lstStyle/>
          <a:p>
            <a:pPr indent="0" marL="0">
              <a:buNone/>
            </a:pPr>
            <a:r>
              <a:rPr lang="en-US" sz="1000" b="1" spc="100" kern="0" dirty="0">
                <a:solidFill>
                  <a:srgbClr val="B23A3A"/>
                </a:solidFill>
                <a:latin typeface="Inter" pitchFamily="34" charset="0"/>
                <a:ea typeface="Inter" pitchFamily="34" charset="-122"/>
                <a:cs typeface="Inter" pitchFamily="34" charset="-120"/>
              </a:rPr>
              <a:t>DON'TS</a:t>
            </a:r>
            <a:endParaRPr lang="en-US" sz="1000" dirty="0"/>
          </a:p>
        </p:txBody>
      </p:sp>
      <p:sp>
        <p:nvSpPr>
          <p:cNvPr id="53" name="Text 47"/>
          <p:cNvSpPr/>
          <p:nvPr/>
        </p:nvSpPr>
        <p:spPr>
          <a:xfrm>
            <a:off x="7223760" y="4096512"/>
            <a:ext cx="4114800" cy="292608"/>
          </a:xfrm>
          <a:prstGeom prst="rect">
            <a:avLst/>
          </a:prstGeom>
          <a:noFill/>
          <a:ln/>
        </p:spPr>
        <p:txBody>
          <a:bodyPr wrap="square" lIns="0" tIns="0" rIns="0" bIns="0" rtlCol="0" anchor="ctr"/>
          <a:lstStyle/>
          <a:p>
            <a:pPr indent="0" marL="0">
              <a:buNone/>
            </a:pPr>
            <a:r>
              <a:rPr lang="en-US" sz="950" dirty="0">
                <a:solidFill>
                  <a:srgbClr val="18231E"/>
                </a:solidFill>
                <a:latin typeface="Inter" pitchFamily="34" charset="0"/>
                <a:ea typeface="Inter" pitchFamily="34" charset="-122"/>
                <a:cs typeface="Inter" pitchFamily="34" charset="-120"/>
              </a:rPr>
              <a:t>✕  Don't overuse lime</a:t>
            </a:r>
            <a:endParaRPr lang="en-US" sz="950" dirty="0"/>
          </a:p>
        </p:txBody>
      </p:sp>
      <p:sp>
        <p:nvSpPr>
          <p:cNvPr id="54" name="Text 48"/>
          <p:cNvSpPr/>
          <p:nvPr/>
        </p:nvSpPr>
        <p:spPr>
          <a:xfrm>
            <a:off x="7223760" y="4398264"/>
            <a:ext cx="4114800" cy="292608"/>
          </a:xfrm>
          <a:prstGeom prst="rect">
            <a:avLst/>
          </a:prstGeom>
          <a:noFill/>
          <a:ln/>
        </p:spPr>
        <p:txBody>
          <a:bodyPr wrap="square" lIns="0" tIns="0" rIns="0" bIns="0" rtlCol="0" anchor="ctr"/>
          <a:lstStyle/>
          <a:p>
            <a:pPr indent="0" marL="0">
              <a:buNone/>
            </a:pPr>
            <a:r>
              <a:rPr lang="en-US" sz="950" dirty="0">
                <a:solidFill>
                  <a:srgbClr val="18231E"/>
                </a:solidFill>
                <a:latin typeface="Inter" pitchFamily="34" charset="0"/>
                <a:ea typeface="Inter" pitchFamily="34" charset="-122"/>
                <a:cs typeface="Inter" pitchFamily="34" charset="-120"/>
              </a:rPr>
              <a:t>✕  Don't crowd the layout</a:t>
            </a:r>
            <a:endParaRPr lang="en-US" sz="950" dirty="0"/>
          </a:p>
        </p:txBody>
      </p:sp>
      <p:sp>
        <p:nvSpPr>
          <p:cNvPr id="55" name="Text 49"/>
          <p:cNvSpPr/>
          <p:nvPr/>
        </p:nvSpPr>
        <p:spPr>
          <a:xfrm>
            <a:off x="7223760" y="4700016"/>
            <a:ext cx="4114800" cy="292608"/>
          </a:xfrm>
          <a:prstGeom prst="rect">
            <a:avLst/>
          </a:prstGeom>
          <a:noFill/>
          <a:ln/>
        </p:spPr>
        <p:txBody>
          <a:bodyPr wrap="square" lIns="0" tIns="0" rIns="0" bIns="0" rtlCol="0" anchor="ctr"/>
          <a:lstStyle/>
          <a:p>
            <a:pPr indent="0" marL="0">
              <a:buNone/>
            </a:pPr>
            <a:r>
              <a:rPr lang="en-US" sz="950" dirty="0">
                <a:solidFill>
                  <a:srgbClr val="18231E"/>
                </a:solidFill>
                <a:latin typeface="Inter" pitchFamily="34" charset="0"/>
                <a:ea typeface="Inter" pitchFamily="34" charset="-122"/>
                <a:cs typeface="Inter" pitchFamily="34" charset="-120"/>
              </a:rPr>
              <a:t>✕  Don't use low-contrast text</a:t>
            </a:r>
            <a:endParaRPr lang="en-US" sz="950" dirty="0"/>
          </a:p>
        </p:txBody>
      </p:sp>
      <p:sp>
        <p:nvSpPr>
          <p:cNvPr id="56" name="Text 50"/>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CF9"/>
        </a:solidFill>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indent="0" marL="0">
              <a:buNone/>
            </a:pPr>
            <a:r>
              <a:rPr lang="en-US" sz="1100" b="1" spc="100" kern="0" dirty="0">
                <a:solidFill>
                  <a:srgbClr val="66756D"/>
                </a:solidFill>
                <a:latin typeface="Inter" pitchFamily="34" charset="0"/>
                <a:ea typeface="Inter" pitchFamily="34" charset="-122"/>
                <a:cs typeface="Inter" pitchFamily="34" charset="-120"/>
              </a:rPr>
              <a:t>Visual Devices</a:t>
            </a:r>
            <a:endParaRPr lang="en-US" sz="1100" dirty="0"/>
          </a:p>
        </p:txBody>
      </p:sp>
      <p:sp>
        <p:nvSpPr>
          <p:cNvPr id="3" name="Text 1"/>
          <p:cNvSpPr/>
          <p:nvPr/>
        </p:nvSpPr>
        <p:spPr>
          <a:xfrm>
            <a:off x="6248095" y="292608"/>
            <a:ext cx="5486400" cy="274320"/>
          </a:xfrm>
          <a:prstGeom prst="rect">
            <a:avLst/>
          </a:prstGeom>
          <a:noFill/>
          <a:ln/>
        </p:spPr>
        <p:txBody>
          <a:bodyPr wrap="square" lIns="0" tIns="0" rIns="0" bIns="0" rtlCol="0" anchor="ctr"/>
          <a:lstStyle/>
          <a:p>
            <a:pPr algn="r" indent="0" marL="0">
              <a:buNone/>
            </a:pPr>
            <a:r>
              <a:rPr lang="en-US" sz="1100" spc="100" kern="0" dirty="0">
                <a:solidFill>
                  <a:srgbClr val="66756D"/>
                </a:solidFill>
                <a:latin typeface="Inter" pitchFamily="34" charset="0"/>
                <a:ea typeface="Inter" pitchFamily="34" charset="-122"/>
                <a:cs typeface="Inter" pitchFamily="34" charset="-120"/>
              </a:rPr>
              <a:t>Application Examples</a:t>
            </a:r>
            <a:endParaRPr lang="en-US" sz="1100" dirty="0"/>
          </a:p>
        </p:txBody>
      </p:sp>
      <p:sp>
        <p:nvSpPr>
          <p:cNvPr id="4" name="Text 2"/>
          <p:cNvSpPr/>
          <p:nvPr/>
        </p:nvSpPr>
        <p:spPr>
          <a:xfrm>
            <a:off x="457200" y="1005840"/>
            <a:ext cx="2834640" cy="1463040"/>
          </a:xfrm>
          <a:prstGeom prst="rect">
            <a:avLst/>
          </a:prstGeom>
          <a:noFill/>
          <a:ln/>
        </p:spPr>
        <p:txBody>
          <a:bodyPr wrap="square" lIns="0" tIns="0" rIns="0" bIns="0" rtlCol="0" anchor="ctr"/>
          <a:lstStyle/>
          <a:p>
            <a:pPr indent="0" marL="0">
              <a:lnSpc>
                <a:spcPct val="130000"/>
              </a:lnSpc>
              <a:buNone/>
            </a:pPr>
            <a:r>
              <a:rPr lang="en-US" sz="1200" dirty="0">
                <a:solidFill>
                  <a:srgbClr val="18231E"/>
                </a:solidFill>
                <a:latin typeface="Inter" pitchFamily="34" charset="0"/>
                <a:ea typeface="Inter" pitchFamily="34" charset="-122"/>
                <a:cs typeface="Inter" pitchFamily="34" charset="-120"/>
              </a:rPr>
              <a:t>How the identity comes together across real touchpoints — from business cards to social profiles.</a:t>
            </a:r>
            <a:endParaRPr lang="en-US" sz="1200" dirty="0"/>
          </a:p>
        </p:txBody>
      </p:sp>
      <p:sp>
        <p:nvSpPr>
          <p:cNvPr id="5" name="Shape 3"/>
          <p:cNvSpPr/>
          <p:nvPr/>
        </p:nvSpPr>
        <p:spPr>
          <a:xfrm>
            <a:off x="3749040" y="1280160"/>
            <a:ext cx="3291840" cy="1965960"/>
          </a:xfrm>
          <a:prstGeom prst="roundRect">
            <a:avLst>
              <a:gd name="adj" fmla="val 3721"/>
            </a:avLst>
          </a:prstGeom>
          <a:solidFill>
            <a:srgbClr val="FFFFFF"/>
          </a:solidFill>
          <a:ln w="12700">
            <a:solidFill>
              <a:srgbClr val="E8F4EE"/>
            </a:solidFill>
            <a:prstDash val="solid"/>
          </a:ln>
          <a:effectLst>
            <a:outerShdw sx="100000" sy="100000" kx="0" ky="0" algn="bl" rotWithShape="0" blurRad="101600" dist="38100" dir="5400000">
              <a:srgbClr val="18231E">
                <a:alpha val="12000"/>
              </a:srgbClr>
            </a:outerShdw>
          </a:effectLst>
        </p:spPr>
      </p:sp>
      <p:pic>
        <p:nvPicPr>
          <p:cNvPr id="6" name="Image 0" descr="assets/mark_green_transparent.png">    </p:cNvPr>
          <p:cNvPicPr>
            <a:picLocks noChangeAspect="1"/>
          </p:cNvPicPr>
          <p:nvPr/>
        </p:nvPicPr>
        <p:blipFill>
          <a:blip r:embed="rId1"/>
          <a:stretch>
            <a:fillRect/>
          </a:stretch>
        </p:blipFill>
        <p:spPr>
          <a:xfrm>
            <a:off x="4001504" y="1463040"/>
            <a:ext cx="153441" cy="438912"/>
          </a:xfrm>
          <a:prstGeom prst="rect">
            <a:avLst/>
          </a:prstGeom>
        </p:spPr>
      </p:pic>
      <p:sp>
        <p:nvSpPr>
          <p:cNvPr id="7" name="Text 4"/>
          <p:cNvSpPr/>
          <p:nvPr/>
        </p:nvSpPr>
        <p:spPr>
          <a:xfrm>
            <a:off x="3950208" y="2057400"/>
            <a:ext cx="2743200" cy="274320"/>
          </a:xfrm>
          <a:prstGeom prst="rect">
            <a:avLst/>
          </a:prstGeom>
          <a:noFill/>
          <a:ln/>
        </p:spPr>
        <p:txBody>
          <a:bodyPr wrap="square" lIns="0" tIns="0" rIns="0" bIns="0" rtlCol="0" anchor="ctr"/>
          <a:lstStyle/>
          <a:p>
            <a:pPr indent="0" marL="0">
              <a:buNone/>
            </a:pPr>
            <a:r>
              <a:rPr lang="en-US" sz="1300" b="1" dirty="0">
                <a:solidFill>
                  <a:srgbClr val="0D7043"/>
                </a:solidFill>
                <a:latin typeface="Poppins" pitchFamily="34" charset="0"/>
                <a:ea typeface="Poppins" pitchFamily="34" charset="-122"/>
                <a:cs typeface="Poppins" pitchFamily="34" charset="-120"/>
              </a:rPr>
              <a:t>John Doe</a:t>
            </a:r>
            <a:endParaRPr lang="en-US" sz="1300" dirty="0"/>
          </a:p>
        </p:txBody>
      </p:sp>
      <p:sp>
        <p:nvSpPr>
          <p:cNvPr id="8" name="Text 5"/>
          <p:cNvSpPr/>
          <p:nvPr/>
        </p:nvSpPr>
        <p:spPr>
          <a:xfrm>
            <a:off x="3950208" y="2313432"/>
            <a:ext cx="2743200" cy="228600"/>
          </a:xfrm>
          <a:prstGeom prst="rect">
            <a:avLst/>
          </a:prstGeom>
          <a:noFill/>
          <a:ln/>
        </p:spPr>
        <p:txBody>
          <a:bodyPr wrap="square" lIns="0" tIns="0" rIns="0" bIns="0" rtlCol="0" anchor="ctr"/>
          <a:lstStyle/>
          <a:p>
            <a:pPr indent="0" marL="0">
              <a:buNone/>
            </a:pPr>
            <a:r>
              <a:rPr lang="en-US" sz="900" dirty="0">
                <a:solidFill>
                  <a:srgbClr val="66756D"/>
                </a:solidFill>
                <a:latin typeface="Inter" pitchFamily="34" charset="0"/>
                <a:ea typeface="Inter" pitchFamily="34" charset="-122"/>
                <a:cs typeface="Inter" pitchFamily="34" charset="-120"/>
              </a:rPr>
              <a:t>Senior Engineer</a:t>
            </a:r>
            <a:endParaRPr lang="en-US" sz="900" dirty="0"/>
          </a:p>
        </p:txBody>
      </p:sp>
      <p:sp>
        <p:nvSpPr>
          <p:cNvPr id="9" name="Text 6"/>
          <p:cNvSpPr/>
          <p:nvPr/>
        </p:nvSpPr>
        <p:spPr>
          <a:xfrm>
            <a:off x="3950208" y="2697480"/>
            <a:ext cx="2743200" cy="457200"/>
          </a:xfrm>
          <a:prstGeom prst="rect">
            <a:avLst/>
          </a:prstGeom>
          <a:noFill/>
          <a:ln/>
        </p:spPr>
        <p:txBody>
          <a:bodyPr wrap="square" lIns="0" tIns="0" rIns="0" bIns="0" rtlCol="0" anchor="ctr"/>
          <a:lstStyle/>
          <a:p>
            <a:pPr indent="0" marL="0">
              <a:lnSpc>
                <a:spcPct val="130000"/>
              </a:lnSpc>
              <a:buNone/>
            </a:pPr>
            <a:r>
              <a:rPr lang="en-US" sz="800" dirty="0">
                <a:solidFill>
                  <a:srgbClr val="18231E"/>
                </a:solidFill>
                <a:latin typeface="Inter" pitchFamily="34" charset="0"/>
                <a:ea typeface="Inter" pitchFamily="34" charset="-122"/>
                <a:cs typeface="Inter" pitchFamily="34" charset="-120"/>
              </a:rPr>
              <a:t>john.doe@orena.com</a:t>
            </a:r>
            <a:endParaRPr lang="en-US" sz="800" dirty="0"/>
          </a:p>
          <a:p>
            <a:pPr indent="0" marL="0">
              <a:lnSpc>
                <a:spcPct val="130000"/>
              </a:lnSpc>
              <a:buNone/>
            </a:pPr>
            <a:r>
              <a:rPr lang="en-US" sz="800" dirty="0">
                <a:solidFill>
                  <a:srgbClr val="18231E"/>
                </a:solidFill>
                <a:latin typeface="Inter" pitchFamily="34" charset="0"/>
                <a:ea typeface="Inter" pitchFamily="34" charset="-122"/>
                <a:cs typeface="Inter" pitchFamily="34" charset="-120"/>
              </a:rPr>
              <a:t>+91 98765 43210</a:t>
            </a:r>
            <a:endParaRPr lang="en-US" sz="800" dirty="0"/>
          </a:p>
        </p:txBody>
      </p:sp>
      <p:sp>
        <p:nvSpPr>
          <p:cNvPr id="10" name="Shape 7"/>
          <p:cNvSpPr/>
          <p:nvPr/>
        </p:nvSpPr>
        <p:spPr>
          <a:xfrm>
            <a:off x="7406640" y="1280160"/>
            <a:ext cx="3291840" cy="1965960"/>
          </a:xfrm>
          <a:prstGeom prst="roundRect">
            <a:avLst>
              <a:gd name="adj" fmla="val 3721"/>
            </a:avLst>
          </a:prstGeom>
          <a:solidFill>
            <a:srgbClr val="0D7043"/>
          </a:solidFill>
          <a:ln/>
          <a:effectLst>
            <a:outerShdw sx="100000" sy="100000" kx="0" ky="0" algn="bl" rotWithShape="0" blurRad="101600" dist="38100" dir="5400000">
              <a:srgbClr val="18231E">
                <a:alpha val="12000"/>
              </a:srgbClr>
            </a:outerShdw>
          </a:effectLst>
        </p:spPr>
      </p:sp>
      <p:pic>
        <p:nvPicPr>
          <p:cNvPr id="11" name="Image 1" descr="assets/logo_white.png">    </p:cNvPr>
          <p:cNvPicPr>
            <a:picLocks noChangeAspect="1"/>
          </p:cNvPicPr>
          <p:nvPr/>
        </p:nvPicPr>
        <p:blipFill>
          <a:blip r:embed="rId2"/>
          <a:stretch>
            <a:fillRect/>
          </a:stretch>
        </p:blipFill>
        <p:spPr>
          <a:xfrm>
            <a:off x="8391128" y="1760220"/>
            <a:ext cx="1322865" cy="1051560"/>
          </a:xfrm>
          <a:prstGeom prst="rect">
            <a:avLst/>
          </a:prstGeom>
        </p:spPr>
      </p:pic>
      <p:sp>
        <p:nvSpPr>
          <p:cNvPr id="12" name="Text 8"/>
          <p:cNvSpPr/>
          <p:nvPr/>
        </p:nvSpPr>
        <p:spPr>
          <a:xfrm>
            <a:off x="3749040" y="3657600"/>
            <a:ext cx="3657600" cy="274320"/>
          </a:xfrm>
          <a:prstGeom prst="rect">
            <a:avLst/>
          </a:prstGeom>
          <a:noFill/>
          <a:ln/>
        </p:spPr>
        <p:txBody>
          <a:bodyPr wrap="square" lIns="0" tIns="0" rIns="0" bIns="0" rtlCol="0" anchor="ctr"/>
          <a:lstStyle/>
          <a:p>
            <a:pPr indent="0" marL="0">
              <a:buNone/>
            </a:pPr>
            <a:r>
              <a:rPr lang="en-US" sz="1000" b="1" spc="100" kern="0" dirty="0">
                <a:solidFill>
                  <a:srgbClr val="66756D"/>
                </a:solidFill>
                <a:latin typeface="Inter" pitchFamily="34" charset="0"/>
                <a:ea typeface="Inter" pitchFamily="34" charset="-122"/>
                <a:cs typeface="Inter" pitchFamily="34" charset="-120"/>
              </a:rPr>
              <a:t>SOCIAL &amp; APP ICON</a:t>
            </a:r>
            <a:endParaRPr lang="en-US" sz="1000" dirty="0"/>
          </a:p>
        </p:txBody>
      </p:sp>
      <p:sp>
        <p:nvSpPr>
          <p:cNvPr id="13" name="Shape 9"/>
          <p:cNvSpPr/>
          <p:nvPr/>
        </p:nvSpPr>
        <p:spPr>
          <a:xfrm>
            <a:off x="3749040" y="3977640"/>
            <a:ext cx="1188720" cy="1188720"/>
          </a:xfrm>
          <a:prstGeom prst="roundRect">
            <a:avLst>
              <a:gd name="adj" fmla="val 19231"/>
            </a:avLst>
          </a:prstGeom>
          <a:solidFill>
            <a:srgbClr val="0D7043"/>
          </a:solidFill>
          <a:ln/>
        </p:spPr>
      </p:sp>
      <p:pic>
        <p:nvPicPr>
          <p:cNvPr id="14" name="Image 2" descr="assets/mark_white.png">    </p:cNvPr>
          <p:cNvPicPr>
            <a:picLocks noChangeAspect="1"/>
          </p:cNvPicPr>
          <p:nvPr/>
        </p:nvPicPr>
        <p:blipFill>
          <a:blip r:embed="rId3"/>
          <a:stretch>
            <a:fillRect/>
          </a:stretch>
        </p:blipFill>
        <p:spPr>
          <a:xfrm>
            <a:off x="4215532" y="4206240"/>
            <a:ext cx="255735" cy="731520"/>
          </a:xfrm>
          <a:prstGeom prst="rect">
            <a:avLst/>
          </a:prstGeom>
        </p:spPr>
      </p:pic>
      <p:sp>
        <p:nvSpPr>
          <p:cNvPr id="15" name="Text 10"/>
          <p:cNvSpPr/>
          <p:nvPr/>
        </p:nvSpPr>
        <p:spPr>
          <a:xfrm>
            <a:off x="5394960" y="3657600"/>
            <a:ext cx="3657600" cy="274320"/>
          </a:xfrm>
          <a:prstGeom prst="rect">
            <a:avLst/>
          </a:prstGeom>
          <a:noFill/>
          <a:ln/>
        </p:spPr>
        <p:txBody>
          <a:bodyPr wrap="square" lIns="0" tIns="0" rIns="0" bIns="0" rtlCol="0" anchor="ctr"/>
          <a:lstStyle/>
          <a:p>
            <a:pPr indent="0" marL="0">
              <a:buNone/>
            </a:pPr>
            <a:r>
              <a:rPr lang="en-US" sz="1000" b="1" spc="100" kern="0" dirty="0">
                <a:solidFill>
                  <a:srgbClr val="66756D"/>
                </a:solidFill>
                <a:latin typeface="Inter" pitchFamily="34" charset="0"/>
                <a:ea typeface="Inter" pitchFamily="34" charset="-122"/>
                <a:cs typeface="Inter" pitchFamily="34" charset="-120"/>
              </a:rPr>
              <a:t>DOCUMENT COVER</a:t>
            </a:r>
            <a:endParaRPr lang="en-US" sz="1000" dirty="0"/>
          </a:p>
        </p:txBody>
      </p:sp>
      <p:sp>
        <p:nvSpPr>
          <p:cNvPr id="16" name="Shape 11"/>
          <p:cNvSpPr/>
          <p:nvPr/>
        </p:nvSpPr>
        <p:spPr>
          <a:xfrm>
            <a:off x="5394960" y="3977640"/>
            <a:ext cx="2743200" cy="2103120"/>
          </a:xfrm>
          <a:prstGeom prst="roundRect">
            <a:avLst>
              <a:gd name="adj" fmla="val 2609"/>
            </a:avLst>
          </a:prstGeom>
          <a:solidFill>
            <a:srgbClr val="E8F4EE"/>
          </a:solidFill>
          <a:ln/>
        </p:spPr>
      </p:sp>
      <p:pic>
        <p:nvPicPr>
          <p:cNvPr id="17" name="Image 3" descr="assets/mark_green_transparent.png">    </p:cNvPr>
          <p:cNvPicPr>
            <a:picLocks noChangeAspect="1"/>
          </p:cNvPicPr>
          <p:nvPr/>
        </p:nvPicPr>
        <p:blipFill>
          <a:blip r:embed="rId4"/>
          <a:stretch>
            <a:fillRect/>
          </a:stretch>
        </p:blipFill>
        <p:spPr>
          <a:xfrm>
            <a:off x="5687680" y="4160520"/>
            <a:ext cx="191801" cy="548640"/>
          </a:xfrm>
          <a:prstGeom prst="rect">
            <a:avLst/>
          </a:prstGeom>
        </p:spPr>
      </p:pic>
      <p:sp>
        <p:nvSpPr>
          <p:cNvPr id="18" name="Text 12"/>
          <p:cNvSpPr/>
          <p:nvPr/>
        </p:nvSpPr>
        <p:spPr>
          <a:xfrm>
            <a:off x="5623560" y="5166360"/>
            <a:ext cx="2286000" cy="777240"/>
          </a:xfrm>
          <a:prstGeom prst="rect">
            <a:avLst/>
          </a:prstGeom>
          <a:noFill/>
          <a:ln/>
        </p:spPr>
        <p:txBody>
          <a:bodyPr wrap="square" lIns="0" tIns="0" rIns="0" bIns="0" rtlCol="0" anchor="ctr"/>
          <a:lstStyle/>
          <a:p>
            <a:pPr indent="0" marL="0">
              <a:lnSpc>
                <a:spcPct val="105000"/>
              </a:lnSpc>
              <a:buNone/>
            </a:pPr>
            <a:r>
              <a:rPr lang="en-US" sz="1300" b="1" dirty="0">
                <a:solidFill>
                  <a:srgbClr val="0D7043"/>
                </a:solidFill>
                <a:latin typeface="Poppins" pitchFamily="34" charset="0"/>
                <a:ea typeface="Poppins" pitchFamily="34" charset="-122"/>
                <a:cs typeface="Poppins" pitchFamily="34" charset="-120"/>
              </a:rPr>
              <a:t>Preferred</a:t>
            </a:r>
            <a:endParaRPr lang="en-US" sz="1300" dirty="0"/>
          </a:p>
          <a:p>
            <a:pPr indent="0" marL="0">
              <a:lnSpc>
                <a:spcPct val="105000"/>
              </a:lnSpc>
              <a:buNone/>
            </a:pPr>
            <a:r>
              <a:rPr lang="en-US" sz="1300" b="1" dirty="0">
                <a:solidFill>
                  <a:srgbClr val="0D7043"/>
                </a:solidFill>
                <a:latin typeface="Poppins" pitchFamily="34" charset="0"/>
                <a:ea typeface="Poppins" pitchFamily="34" charset="-122"/>
                <a:cs typeface="Poppins" pitchFamily="34" charset="-120"/>
              </a:rPr>
              <a:t>Engineers</a:t>
            </a:r>
            <a:endParaRPr lang="en-US" sz="1300" dirty="0"/>
          </a:p>
          <a:p>
            <a:pPr indent="0" marL="0">
              <a:lnSpc>
                <a:spcPct val="105000"/>
              </a:lnSpc>
              <a:buNone/>
            </a:pPr>
            <a:r>
              <a:rPr lang="en-US" sz="1300" b="1" dirty="0">
                <a:solidFill>
                  <a:srgbClr val="0D7043"/>
                </a:solidFill>
                <a:latin typeface="Poppins" pitchFamily="34" charset="0"/>
                <a:ea typeface="Poppins" pitchFamily="34" charset="-122"/>
                <a:cs typeface="Poppins" pitchFamily="34" charset="-120"/>
              </a:rPr>
              <a:t>Playbook</a:t>
            </a:r>
            <a:endParaRPr lang="en-US" sz="1300" dirty="0"/>
          </a:p>
        </p:txBody>
      </p:sp>
      <p:sp>
        <p:nvSpPr>
          <p:cNvPr id="19" name="Text 13"/>
          <p:cNvSpPr/>
          <p:nvPr/>
        </p:nvSpPr>
        <p:spPr>
          <a:xfrm>
            <a:off x="8549640" y="3657600"/>
            <a:ext cx="3657600" cy="274320"/>
          </a:xfrm>
          <a:prstGeom prst="rect">
            <a:avLst/>
          </a:prstGeom>
          <a:noFill/>
          <a:ln/>
        </p:spPr>
        <p:txBody>
          <a:bodyPr wrap="square" lIns="0" tIns="0" rIns="0" bIns="0" rtlCol="0" anchor="ctr"/>
          <a:lstStyle/>
          <a:p>
            <a:pPr indent="0" marL="0">
              <a:buNone/>
            </a:pPr>
            <a:r>
              <a:rPr lang="en-US" sz="1000" b="1" spc="100" kern="0" dirty="0">
                <a:solidFill>
                  <a:srgbClr val="66756D"/>
                </a:solidFill>
                <a:latin typeface="Inter" pitchFamily="34" charset="0"/>
                <a:ea typeface="Inter" pitchFamily="34" charset="-122"/>
                <a:cs typeface="Inter" pitchFamily="34" charset="-120"/>
              </a:rPr>
              <a:t>SLIDE TEMPLATE</a:t>
            </a:r>
            <a:endParaRPr lang="en-US" sz="1000" dirty="0"/>
          </a:p>
        </p:txBody>
      </p:sp>
      <p:sp>
        <p:nvSpPr>
          <p:cNvPr id="20" name="Shape 14"/>
          <p:cNvSpPr/>
          <p:nvPr/>
        </p:nvSpPr>
        <p:spPr>
          <a:xfrm>
            <a:off x="8549640" y="3977640"/>
            <a:ext cx="3154680" cy="2103120"/>
          </a:xfrm>
          <a:prstGeom prst="roundRect">
            <a:avLst>
              <a:gd name="adj" fmla="val 2609"/>
            </a:avLst>
          </a:prstGeom>
          <a:solidFill>
            <a:srgbClr val="FFFFFF"/>
          </a:solidFill>
          <a:ln w="12700">
            <a:solidFill>
              <a:srgbClr val="E8F4EE"/>
            </a:solidFill>
            <a:prstDash val="solid"/>
          </a:ln>
        </p:spPr>
      </p:sp>
      <p:sp>
        <p:nvSpPr>
          <p:cNvPr id="21" name="Shape 15"/>
          <p:cNvSpPr/>
          <p:nvPr/>
        </p:nvSpPr>
        <p:spPr>
          <a:xfrm>
            <a:off x="8549640" y="3977640"/>
            <a:ext cx="3154680" cy="502920"/>
          </a:xfrm>
          <a:prstGeom prst="rect">
            <a:avLst/>
          </a:prstGeom>
          <a:solidFill>
            <a:srgbClr val="0D7043"/>
          </a:solidFill>
          <a:ln/>
        </p:spPr>
      </p:sp>
      <p:sp>
        <p:nvSpPr>
          <p:cNvPr id="22" name="Text 16"/>
          <p:cNvSpPr/>
          <p:nvPr/>
        </p:nvSpPr>
        <p:spPr>
          <a:xfrm>
            <a:off x="8686800" y="3977640"/>
            <a:ext cx="2926080" cy="5029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Crafting Preferred Engineers</a:t>
            </a:r>
            <a:endParaRPr lang="en-US" sz="1000" dirty="0"/>
          </a:p>
        </p:txBody>
      </p:sp>
      <p:sp>
        <p:nvSpPr>
          <p:cNvPr id="23" name="Shape 17"/>
          <p:cNvSpPr/>
          <p:nvPr/>
        </p:nvSpPr>
        <p:spPr>
          <a:xfrm>
            <a:off x="8686800" y="4709160"/>
            <a:ext cx="2880360" cy="274320"/>
          </a:xfrm>
          <a:prstGeom prst="roundRect">
            <a:avLst>
              <a:gd name="adj" fmla="val 20000"/>
            </a:avLst>
          </a:prstGeom>
          <a:solidFill>
            <a:srgbClr val="48B855"/>
          </a:solidFill>
          <a:ln/>
        </p:spPr>
      </p:sp>
      <p:sp>
        <p:nvSpPr>
          <p:cNvPr id="24" name="Shape 18"/>
          <p:cNvSpPr/>
          <p:nvPr/>
        </p:nvSpPr>
        <p:spPr>
          <a:xfrm>
            <a:off x="8686800" y="5120640"/>
            <a:ext cx="2880360" cy="274320"/>
          </a:xfrm>
          <a:prstGeom prst="roundRect">
            <a:avLst>
              <a:gd name="adj" fmla="val 20000"/>
            </a:avLst>
          </a:prstGeom>
          <a:solidFill>
            <a:srgbClr val="E8F4EE"/>
          </a:solidFill>
          <a:ln/>
        </p:spPr>
      </p:sp>
      <p:sp>
        <p:nvSpPr>
          <p:cNvPr id="25" name="Shape 19"/>
          <p:cNvSpPr/>
          <p:nvPr/>
        </p:nvSpPr>
        <p:spPr>
          <a:xfrm>
            <a:off x="8686800" y="5532120"/>
            <a:ext cx="2880360" cy="274320"/>
          </a:xfrm>
          <a:prstGeom prst="roundRect">
            <a:avLst>
              <a:gd name="adj" fmla="val 20000"/>
            </a:avLst>
          </a:prstGeom>
          <a:solidFill>
            <a:srgbClr val="E8F4EE"/>
          </a:solidFill>
          <a:ln/>
        </p:spPr>
      </p:sp>
      <p:sp>
        <p:nvSpPr>
          <p:cNvPr id="26" name="Text 20"/>
          <p:cNvSpPr/>
          <p:nvPr/>
        </p:nvSpPr>
        <p:spPr>
          <a:xfrm>
            <a:off x="457200" y="6355080"/>
            <a:ext cx="7315200" cy="274320"/>
          </a:xfrm>
          <a:prstGeom prst="rect">
            <a:avLst/>
          </a:prstGeom>
          <a:noFill/>
          <a:ln/>
        </p:spPr>
        <p:txBody>
          <a:bodyPr wrap="square" lIns="0" tIns="0" rIns="0" bIns="0" rtlCol="0" anchor="ctr"/>
          <a:lstStyle/>
          <a:p>
            <a:pPr indent="0" marL="0">
              <a:buNone/>
            </a:pPr>
            <a:r>
              <a:rPr lang="en-US" sz="850" spc="120" kern="0" dirty="0">
                <a:solidFill>
                  <a:srgbClr val="66756D"/>
                </a:solidFill>
                <a:latin typeface="Inter" pitchFamily="34" charset="0"/>
                <a:ea typeface="Inter" pitchFamily="34" charset="-122"/>
                <a:cs typeface="Inter" pitchFamily="34" charset="-120"/>
              </a:rPr>
              <a:t>ORENA SOLUTIONS — BRAND PLAYBOOK</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7043"/>
        </a:solidFill>
      </p:bgPr>
    </p:bg>
    <p:spTree>
      <p:nvGrpSpPr>
        <p:cNvPr id="1" name=""/>
        <p:cNvGrpSpPr/>
        <p:nvPr/>
      </p:nvGrpSpPr>
      <p:grpSpPr>
        <a:xfrm>
          <a:off x="0" y="0"/>
          <a:ext cx="0" cy="0"/>
          <a:chOff x="0" y="0"/>
          <a:chExt cx="0" cy="0"/>
        </a:xfrm>
      </p:grpSpPr>
      <p:sp>
        <p:nvSpPr>
          <p:cNvPr id="2" name="Shape 0"/>
          <p:cNvSpPr/>
          <p:nvPr/>
        </p:nvSpPr>
        <p:spPr>
          <a:xfrm>
            <a:off x="5455768" y="1965960"/>
            <a:ext cx="1280160" cy="1280160"/>
          </a:xfrm>
          <a:prstGeom prst="roundRect">
            <a:avLst>
              <a:gd name="adj" fmla="val 20000"/>
            </a:avLst>
          </a:prstGeom>
          <a:solidFill>
            <a:srgbClr val="0F5B37"/>
          </a:solidFill>
          <a:ln/>
        </p:spPr>
      </p:sp>
      <p:pic>
        <p:nvPicPr>
          <p:cNvPr id="3" name="Image 0" descr="assets/mark_white.png">    </p:cNvPr>
          <p:cNvPicPr>
            <a:picLocks noChangeAspect="1"/>
          </p:cNvPicPr>
          <p:nvPr/>
        </p:nvPicPr>
        <p:blipFill>
          <a:blip r:embed="rId1"/>
          <a:stretch>
            <a:fillRect/>
          </a:stretch>
        </p:blipFill>
        <p:spPr>
          <a:xfrm>
            <a:off x="5947202" y="2194560"/>
            <a:ext cx="297292" cy="850392"/>
          </a:xfrm>
          <a:prstGeom prst="rect">
            <a:avLst/>
          </a:prstGeom>
        </p:spPr>
      </p:pic>
      <p:sp>
        <p:nvSpPr>
          <p:cNvPr id="4" name="Text 1"/>
          <p:cNvSpPr/>
          <p:nvPr/>
        </p:nvSpPr>
        <p:spPr>
          <a:xfrm>
            <a:off x="0" y="3520440"/>
            <a:ext cx="12191695"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Poppins" pitchFamily="34" charset="0"/>
                <a:ea typeface="Poppins" pitchFamily="34" charset="-122"/>
                <a:cs typeface="Poppins" pitchFamily="34" charset="-120"/>
              </a:rPr>
              <a:t>Thank you.</a:t>
            </a:r>
            <a:endParaRPr lang="en-US" sz="3000" dirty="0"/>
          </a:p>
        </p:txBody>
      </p:sp>
      <p:sp>
        <p:nvSpPr>
          <p:cNvPr id="5" name="Text 2"/>
          <p:cNvSpPr/>
          <p:nvPr/>
        </p:nvSpPr>
        <p:spPr>
          <a:xfrm>
            <a:off x="0" y="6080760"/>
            <a:ext cx="12191695" cy="320040"/>
          </a:xfrm>
          <a:prstGeom prst="rect">
            <a:avLst/>
          </a:prstGeom>
          <a:noFill/>
          <a:ln/>
        </p:spPr>
        <p:txBody>
          <a:bodyPr wrap="square" lIns="0" tIns="0" rIns="0" bIns="0" rtlCol="0" anchor="ctr"/>
          <a:lstStyle/>
          <a:p>
            <a:pPr algn="ctr" indent="0" marL="0">
              <a:buNone/>
            </a:pPr>
            <a:r>
              <a:rPr lang="en-US" sz="1050" dirty="0">
                <a:solidFill>
                  <a:srgbClr val="00AF63"/>
                </a:solidFill>
                <a:latin typeface="Inter" pitchFamily="34" charset="0"/>
                <a:ea typeface="Inter" pitchFamily="34" charset="-122"/>
                <a:cs typeface="Inter" pitchFamily="34" charset="-120"/>
              </a:rPr>
              <a:t>Queries? Contact us at hello@orenasolutions.com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Inter"/>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font script="Armn" typeface="Inter"/>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8231E">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2026-08-08T08:46:10Z</dcterms:created>
  <dcterms:modified xsi:type="dcterms:W3CDTF">2026-08-08T08:46:10Z</dcterms:modified>
</cp:coreProperties>
</file>